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24"/>
  </p:notesMasterIdLst>
  <p:handoutMasterIdLst>
    <p:handoutMasterId r:id="rId25"/>
  </p:handoutMasterIdLst>
  <p:sldIdLst>
    <p:sldId id="496" r:id="rId8"/>
    <p:sldId id="258" r:id="rId9"/>
    <p:sldId id="272" r:id="rId10"/>
    <p:sldId id="259" r:id="rId11"/>
    <p:sldId id="260" r:id="rId12"/>
    <p:sldId id="261" r:id="rId13"/>
    <p:sldId id="275" r:id="rId14"/>
    <p:sldId id="274" r:id="rId15"/>
    <p:sldId id="276" r:id="rId16"/>
    <p:sldId id="277" r:id="rId17"/>
    <p:sldId id="264" r:id="rId18"/>
    <p:sldId id="278" r:id="rId19"/>
    <p:sldId id="279" r:id="rId20"/>
    <p:sldId id="266" r:id="rId21"/>
    <p:sldId id="280" r:id="rId22"/>
    <p:sldId id="281" r:id="rId2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6E2FF1"/>
    <a:srgbClr val="E0D1FC"/>
    <a:srgbClr val="000000"/>
    <a:srgbClr val="FFFFFF"/>
    <a:srgbClr val="080225"/>
    <a:srgbClr val="FF6900"/>
    <a:srgbClr val="00C1DE"/>
    <a:srgbClr val="7F7F7F"/>
    <a:srgbClr val="333E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87" autoAdjust="0"/>
    <p:restoredTop sz="74453" autoAdjust="0"/>
  </p:normalViewPr>
  <p:slideViewPr>
    <p:cSldViewPr snapToGrid="0">
      <p:cViewPr varScale="1">
        <p:scale>
          <a:sx n="47" d="100"/>
          <a:sy n="47" d="100"/>
        </p:scale>
        <p:origin x="1620" y="2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68" d="100"/>
          <a:sy n="168" d="100"/>
        </p:scale>
        <p:origin x="543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956DC9D2-79CE-4C12-B911-C6A170E7C031}"/>
    <pc:docChg chg="modSld">
      <pc:chgData name="Tom Carter" userId="db1a6269-4a98-40f4-850a-a379349c8455" providerId="ADAL" clId="{956DC9D2-79CE-4C12-B911-C6A170E7C031}" dt="2025-10-14T13:50:35.906" v="5" actId="20577"/>
      <pc:docMkLst>
        <pc:docMk/>
      </pc:docMkLst>
      <pc:sldChg chg="modNotesTx">
        <pc:chgData name="Tom Carter" userId="db1a6269-4a98-40f4-850a-a379349c8455" providerId="ADAL" clId="{956DC9D2-79CE-4C12-B911-C6A170E7C031}" dt="2025-10-14T13:49:57.153" v="0" actId="20577"/>
        <pc:sldMkLst>
          <pc:docMk/>
          <pc:sldMk cId="3479823858" sldId="275"/>
        </pc:sldMkLst>
      </pc:sldChg>
      <pc:sldChg chg="modNotesTx">
        <pc:chgData name="Tom Carter" userId="db1a6269-4a98-40f4-850a-a379349c8455" providerId="ADAL" clId="{956DC9D2-79CE-4C12-B911-C6A170E7C031}" dt="2025-10-14T13:50:35.906" v="5" actId="20577"/>
        <pc:sldMkLst>
          <pc:docMk/>
          <pc:sldMk cId="1270657709" sldId="27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10/14/2025</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inputs and environment conditions.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33000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Real-time operating systems</a:t>
            </a:r>
            <a:r>
              <a:rPr lang="en-GB" baseline="0" dirty="0"/>
              <a:t> make sure that the Threads meet the timing requirements, i.e. finish execution before the dead line. The Thread can be hard real time – where the Threads need to finish before the deadline always. Example is an engine fuel to air ratio control is a hard real time Thread. The Thread can be a soft real time where the Thread may miss the deadline once in a while. Example is an automotive speed display on the dashboard. Examples can be found in robots, aircraft control etc. The real time system design requirements are determinism, speed to meet the deadlines, accuracy, fail safe operation, respond to various inputs and environment conditions.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275497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can assign</a:t>
            </a:r>
            <a:r>
              <a:rPr lang="en-US" baseline="0" dirty="0"/>
              <a:t> one interrupt for each Thread and whenever there is an interrupt, execute the Thread with the interrupt service routine (ISR). The interrupt can be generated at periodic intervals or due to an external or internal condition.</a:t>
            </a:r>
          </a:p>
          <a:p>
            <a:endParaRPr lang="en-US" baseline="0" dirty="0"/>
          </a:p>
          <a:p>
            <a:r>
              <a:rPr lang="en-US" baseline="0" dirty="0"/>
              <a:t>If the system has too many interrupts, then predictably, problems can occur due to nested interrupt etc. may appear.</a:t>
            </a:r>
          </a:p>
          <a:p>
            <a:r>
              <a:rPr lang="en-US" baseline="0" dirty="0"/>
              <a:t>RTOS eliminates the above problem and provides a better program flow, better event response, provides good </a:t>
            </a:r>
            <a:r>
              <a:rPr lang="en-US" baseline="0" dirty="0" err="1"/>
              <a:t>multiThreading</a:t>
            </a:r>
            <a:r>
              <a:rPr lang="en-US" baseline="0" dirty="0"/>
              <a:t>, predictable Thread scheduling, meet the dead lines of all the Threads and many more advantages.</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301218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 An example real</a:t>
            </a:r>
            <a:r>
              <a:rPr lang="en-GB" baseline="0" dirty="0"/>
              <a:t>-time system is a speed camera alarm system which uses GPS information of the current location of the vehicle which is moving at a high speed and a map with camera locations around the current location of the vehicle.</a:t>
            </a:r>
          </a:p>
          <a:p>
            <a:r>
              <a:rPr lang="en-GB" baseline="0" dirty="0"/>
              <a:t> </a:t>
            </a:r>
          </a:p>
          <a:p>
            <a:r>
              <a:rPr lang="en-GB" baseline="0" dirty="0"/>
              <a:t>The Threads for achieving this are: </a:t>
            </a:r>
          </a:p>
          <a:p>
            <a:r>
              <a:rPr lang="en-GB" baseline="0" dirty="0"/>
              <a:t>Decode the GPS information to find the current location of the vehicle</a:t>
            </a:r>
          </a:p>
          <a:p>
            <a:r>
              <a:rPr lang="en-GB" baseline="0" dirty="0"/>
              <a:t>Check the locations of the camera around the current vehicle location</a:t>
            </a:r>
          </a:p>
          <a:p>
            <a:r>
              <a:rPr lang="en-GB" baseline="0" dirty="0"/>
              <a:t>Record: Log driver’s position in the flash</a:t>
            </a:r>
          </a:p>
          <a:p>
            <a:r>
              <a:rPr lang="en-GB" baseline="0" dirty="0"/>
              <a:t>Read user’s input settings or switches</a:t>
            </a:r>
          </a:p>
          <a:p>
            <a:r>
              <a:rPr lang="en-GB" baseline="0" dirty="0"/>
              <a:t>Sound an alarm if the vehicle is approaching a speed camera</a:t>
            </a:r>
          </a:p>
          <a:p>
            <a:endParaRPr lang="en-GB" baseline="0" dirty="0"/>
          </a:p>
          <a:p>
            <a:r>
              <a:rPr lang="en-GB" baseline="0" dirty="0"/>
              <a:t>All the above Threads can be in a super-loop in the same order or with interrupt service routine.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4174837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 super-loop</a:t>
            </a:r>
            <a:r>
              <a:rPr lang="en-US" baseline="0" dirty="0"/>
              <a:t> may execute each Thread in the same order and it can not respond to changing conditions in the input, recording time etc.</a:t>
            </a:r>
            <a:endParaRPr lang="en-US" dirty="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19FF0A5-3245-4834-A291-D0F4458FA3A1}" type="slidenum">
              <a:rPr lang="en-US" sz="1300"/>
              <a:pPr/>
              <a:t>6</a:t>
            </a:fld>
            <a:endParaRPr lang="en-US" sz="1300"/>
          </a:p>
        </p:txBody>
      </p:sp>
    </p:spTree>
    <p:extLst>
      <p:ext uri="{BB962C8B-B14F-4D97-AF65-F5344CB8AC3E}">
        <p14:creationId xmlns:p14="http://schemas.microsoft.com/office/powerpoint/2010/main" val="2124551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CADDE-B021-1D09-14C1-5A442EC3B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E1EDE-EBEB-409A-6D7E-B07DC104E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C74EA-EF23-74E4-ABA9-7C873B806184}"/>
              </a:ext>
            </a:extLst>
          </p:cNvPr>
          <p:cNvSpPr>
            <a:spLocks noGrp="1"/>
          </p:cNvSpPr>
          <p:nvPr>
            <p:ph type="body" idx="1"/>
          </p:nvPr>
        </p:nvSpPr>
        <p:spPr/>
        <p:txBody>
          <a:bodyPr/>
          <a:lstStyle/>
          <a:p>
            <a:r>
              <a:rPr lang="en-GB" dirty="0"/>
              <a:t>CMSIS-RTOS2 is a real time operating</a:t>
            </a:r>
            <a:r>
              <a:rPr lang="en-GB" baseline="0" dirty="0"/>
              <a:t> system from Keil. </a:t>
            </a:r>
            <a:r>
              <a:rPr lang="en-GB" dirty="0"/>
              <a:t>The Keil RTX5 is a royalty-free, deterministic real-time operating system designed for Arm and Cortex-M devices. It allows you to create programs that simultaneously perform multiple functions and helps to create applications which are better structured and more easily maintained.</a:t>
            </a:r>
          </a:p>
        </p:txBody>
      </p:sp>
      <p:sp>
        <p:nvSpPr>
          <p:cNvPr id="4" name="Slide Number Placeholder 3">
            <a:extLst>
              <a:ext uri="{FF2B5EF4-FFF2-40B4-BE49-F238E27FC236}">
                <a16:creationId xmlns:a16="http://schemas.microsoft.com/office/drawing/2014/main" id="{C1D671C0-AE98-EEB8-33B9-BD18A6F01D63}"/>
              </a:ext>
            </a:extLst>
          </p:cNvPr>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3575718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1F0DC-A287-B7C6-909F-FBD75E69D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1248A-970E-54C5-BB1E-A92905ADD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CE1C6-FC4D-A456-1CCA-B7A538D259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36DAEC9-7ED5-43EC-E41F-162D069BD1A3}"/>
              </a:ext>
            </a:extLst>
          </p:cNvPr>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141231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0896-098D-A25A-4405-5FCDE0DB1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CE2BA-4A5B-FF08-AF14-AE4355E15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EAE54-2E94-483E-400E-84D684A442B7}"/>
              </a:ext>
            </a:extLst>
          </p:cNvPr>
          <p:cNvSpPr>
            <a:spLocks noGrp="1"/>
          </p:cNvSpPr>
          <p:nvPr>
            <p:ph type="body" idx="1"/>
          </p:nvPr>
        </p:nvSpPr>
        <p:spPr/>
        <p:txBody>
          <a:bodyPr/>
          <a:lstStyle/>
          <a:p>
            <a:r>
              <a:rPr lang="en-GB" dirty="0"/>
              <a:t>The </a:t>
            </a:r>
            <a:r>
              <a:rPr lang="en-GB" dirty="0" err="1"/>
              <a:t>Keil</a:t>
            </a:r>
            <a:r>
              <a:rPr lang="en-GB" baseline="0" dirty="0"/>
              <a:t> real-time library is on top of the RTX kernel and contains libraries for flash file system, TCP/IP, CAN interface, USB interface etc.</a:t>
            </a:r>
          </a:p>
          <a:p>
            <a:r>
              <a:rPr lang="en-GB" baseline="0" dirty="0"/>
              <a:t>The RTX kernel helps in scheduling Threads. I</a:t>
            </a:r>
            <a:r>
              <a:rPr lang="en-GB" baseline="0"/>
              <a:t>t </a:t>
            </a:r>
            <a:r>
              <a:rPr lang="en-GB" baseline="0" dirty="0"/>
              <a:t>supports mutex, memory pool</a:t>
            </a:r>
            <a:r>
              <a:rPr lang="en-GB" baseline="0"/>
              <a:t>, mailbox</a:t>
            </a:r>
            <a:r>
              <a:rPr lang="en-GB" baseline="0" dirty="0"/>
              <a:t>, timing functions and event/semaphores.</a:t>
            </a:r>
            <a:endParaRPr lang="en-GB" dirty="0"/>
          </a:p>
        </p:txBody>
      </p:sp>
      <p:sp>
        <p:nvSpPr>
          <p:cNvPr id="4" name="Slide Number Placeholder 3">
            <a:extLst>
              <a:ext uri="{FF2B5EF4-FFF2-40B4-BE49-F238E27FC236}">
                <a16:creationId xmlns:a16="http://schemas.microsoft.com/office/drawing/2014/main" id="{E83AD4ED-5022-50C6-D0F1-18FDE48A9A41}"/>
              </a:ext>
            </a:extLst>
          </p:cNvPr>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739118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6B86-01D5-2FD1-709D-12AF0EBF5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54997-8215-C3A4-74DD-F86E108AC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7EFFF-3780-5D54-5AC3-1373D665751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8051E19-22F9-90D4-1C5B-DC8916813935}"/>
              </a:ext>
            </a:extLst>
          </p:cNvPr>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3133732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RTX can be included in the project created</a:t>
            </a:r>
            <a:r>
              <a:rPr lang="en-GB" baseline="0" dirty="0"/>
              <a:t> using Keil MDK-Arm development environment.</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75395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AF2B1-A5AE-95D4-9100-7D3AD1E58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C2F91-D29D-DD20-F025-923E47646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86247-E443-7BB7-72A2-FF9013B1010E}"/>
              </a:ext>
            </a:extLst>
          </p:cNvPr>
          <p:cNvSpPr>
            <a:spLocks noGrp="1"/>
          </p:cNvSpPr>
          <p:nvPr>
            <p:ph type="body" idx="1"/>
          </p:nvPr>
        </p:nvSpPr>
        <p:spPr/>
        <p:txBody>
          <a:bodyPr/>
          <a:lstStyle/>
          <a:p>
            <a:r>
              <a:rPr lang="en-GB" dirty="0"/>
              <a:t>RTX can be included in the project created</a:t>
            </a:r>
            <a:r>
              <a:rPr lang="en-GB" baseline="0" dirty="0"/>
              <a:t> using Keil MDK-Arm development environment.</a:t>
            </a:r>
            <a:endParaRPr lang="en-GB" dirty="0"/>
          </a:p>
        </p:txBody>
      </p:sp>
      <p:sp>
        <p:nvSpPr>
          <p:cNvPr id="4" name="Slide Number Placeholder 3">
            <a:extLst>
              <a:ext uri="{FF2B5EF4-FFF2-40B4-BE49-F238E27FC236}">
                <a16:creationId xmlns:a16="http://schemas.microsoft.com/office/drawing/2014/main" id="{9C38D34E-8741-E319-FE89-531F2002EE56}"/>
              </a:ext>
            </a:extLst>
          </p:cNvPr>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2968268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664F-CBAC-CCE2-70BE-75E8A1F11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1D237-1D2C-5067-A89E-282978C69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D4D06-2179-62DF-E7C7-C957E9B58CF0}"/>
              </a:ext>
            </a:extLst>
          </p:cNvPr>
          <p:cNvSpPr>
            <a:spLocks noGrp="1"/>
          </p:cNvSpPr>
          <p:nvPr>
            <p:ph type="body" idx="1"/>
          </p:nvPr>
        </p:nvSpPr>
        <p:spPr/>
        <p:txBody>
          <a:bodyPr/>
          <a:lstStyle/>
          <a:p>
            <a:r>
              <a:rPr lang="en-US" dirty="0"/>
              <a:t>Arm Cortex Microcontroller Software Interface Standard (CMSIS) provides</a:t>
            </a:r>
            <a:r>
              <a:rPr lang="en-US" baseline="0" dirty="0"/>
              <a:t> board independent hardware abstraction layer. The supported boards are Cortex M processor boards.</a:t>
            </a:r>
          </a:p>
          <a:p>
            <a:endParaRPr lang="en-US" baseline="0" dirty="0"/>
          </a:p>
          <a:p>
            <a:pPr>
              <a:spcBef>
                <a:spcPts val="1200"/>
              </a:spcBef>
            </a:pPr>
            <a:r>
              <a:rPr lang="en-GB" dirty="0"/>
              <a:t>The CMSIS-RTOS API– provides</a:t>
            </a:r>
            <a:r>
              <a:rPr lang="en-GB" baseline="0" dirty="0"/>
              <a:t> generic</a:t>
            </a:r>
            <a:r>
              <a:rPr lang="en-GB" dirty="0"/>
              <a:t> RTOS interfaces.</a:t>
            </a:r>
          </a:p>
        </p:txBody>
      </p:sp>
      <p:sp>
        <p:nvSpPr>
          <p:cNvPr id="4" name="Slide Number Placeholder 3">
            <a:extLst>
              <a:ext uri="{FF2B5EF4-FFF2-40B4-BE49-F238E27FC236}">
                <a16:creationId xmlns:a16="http://schemas.microsoft.com/office/drawing/2014/main" id="{CB4B7283-867C-2F02-FBE3-8C1788AF3164}"/>
              </a:ext>
            </a:extLst>
          </p:cNvPr>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822226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RTX_Conf_CM.C</a:t>
            </a:r>
            <a:r>
              <a:rPr lang="en-US" baseline="0" dirty="0"/>
              <a:t> is a configuration wizard with an easy to use graphical user interface as shown in the slide.</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1501496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E23EB-B10F-3D11-9E23-0006B2EE9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CB96F-966A-9277-BBC0-D9CCA91C8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2F4C6-0B26-9352-E183-36DEB106400D}"/>
              </a:ext>
            </a:extLst>
          </p:cNvPr>
          <p:cNvSpPr>
            <a:spLocks noGrp="1"/>
          </p:cNvSpPr>
          <p:nvPr>
            <p:ph type="body" idx="1"/>
          </p:nvPr>
        </p:nvSpPr>
        <p:spPr/>
        <p:txBody>
          <a:bodyPr/>
          <a:lstStyle/>
          <a:p>
            <a:r>
              <a:rPr lang="en-GB" dirty="0"/>
              <a:t>A pictorial representation</a:t>
            </a:r>
            <a:r>
              <a:rPr lang="en-GB" baseline="0" dirty="0"/>
              <a:t> of </a:t>
            </a:r>
            <a:r>
              <a:rPr lang="en-GB" dirty="0"/>
              <a:t>CMSIS and CMSIS-RTOS on the Cortex M CPU is shown in the slide.</a:t>
            </a:r>
          </a:p>
        </p:txBody>
      </p:sp>
      <p:sp>
        <p:nvSpPr>
          <p:cNvPr id="4" name="Slide Number Placeholder 3">
            <a:extLst>
              <a:ext uri="{FF2B5EF4-FFF2-40B4-BE49-F238E27FC236}">
                <a16:creationId xmlns:a16="http://schemas.microsoft.com/office/drawing/2014/main" id="{1444EABB-168B-A443-DD56-2929242ACBD7}"/>
              </a:ext>
            </a:extLst>
          </p:cNvPr>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1591642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A8A3C-084F-B903-206E-00239B88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63D52-44A3-1A67-D211-D7DE4DFDA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34780-613E-7533-1287-DEBFF6337834}"/>
              </a:ext>
            </a:extLst>
          </p:cNvPr>
          <p:cNvSpPr>
            <a:spLocks noGrp="1"/>
          </p:cNvSpPr>
          <p:nvPr>
            <p:ph type="body" idx="1"/>
          </p:nvPr>
        </p:nvSpPr>
        <p:spPr/>
        <p:txBody>
          <a:bodyPr/>
          <a:lstStyle/>
          <a:p>
            <a:r>
              <a:rPr lang="en-GB" dirty="0"/>
              <a:t>CMSIS-RTOS API is</a:t>
            </a:r>
            <a:r>
              <a:rPr lang="en-GB" baseline="0" dirty="0"/>
              <a:t> </a:t>
            </a:r>
            <a:r>
              <a:rPr lang="en-GB" dirty="0"/>
              <a:t>an abstracted layer on top of RTX kernel or other 3</a:t>
            </a:r>
            <a:r>
              <a:rPr lang="en-GB" baseline="30000" dirty="0"/>
              <a:t>rd</a:t>
            </a:r>
            <a:r>
              <a:rPr lang="en-GB" dirty="0"/>
              <a:t> party RTOS kernels</a:t>
            </a:r>
          </a:p>
          <a:p>
            <a:endParaRPr lang="en-GB" dirty="0"/>
          </a:p>
          <a:p>
            <a:r>
              <a:rPr lang="en-GB" dirty="0"/>
              <a:t>Application programs can be easily ported to other 3</a:t>
            </a:r>
            <a:r>
              <a:rPr lang="en-GB" baseline="30000" dirty="0"/>
              <a:t>rd</a:t>
            </a:r>
            <a:r>
              <a:rPr lang="en-GB" dirty="0"/>
              <a:t> party RTOS kernels (such as </a:t>
            </a:r>
            <a:r>
              <a:rPr lang="en-GB" dirty="0" err="1"/>
              <a:t>FreeRTOS</a:t>
            </a:r>
            <a:r>
              <a:rPr lang="en-GB" dirty="0"/>
              <a:t>)</a:t>
            </a:r>
          </a:p>
          <a:p>
            <a:pPr lvl="1"/>
            <a:endParaRPr lang="en-GB" dirty="0"/>
          </a:p>
          <a:p>
            <a:r>
              <a:rPr lang="en-GB" dirty="0"/>
              <a:t>In this set of teaching materials, we will focus on the CMSIS-RTOS2 kernel rather than the CMSIS-RTOS API.</a:t>
            </a:r>
          </a:p>
        </p:txBody>
      </p:sp>
      <p:sp>
        <p:nvSpPr>
          <p:cNvPr id="4" name="Slide Number Placeholder 3">
            <a:extLst>
              <a:ext uri="{FF2B5EF4-FFF2-40B4-BE49-F238E27FC236}">
                <a16:creationId xmlns:a16="http://schemas.microsoft.com/office/drawing/2014/main" id="{4BDCCD45-7652-6886-206D-5B756CC0CF55}"/>
              </a:ext>
            </a:extLst>
          </p:cNvPr>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1447357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6809" y="-1655"/>
            <a:ext cx="12170153" cy="6861312"/>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51357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email">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923" y="12288"/>
            <a:ext cx="12170154" cy="6845712"/>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24505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4" y="-3313"/>
            <a:ext cx="12170155" cy="6861313"/>
          </a:xfrm>
          <a:prstGeom prst="rect">
            <a:avLst/>
          </a:prstGeom>
        </p:spPr>
      </p:pic>
      <p:sp>
        <p:nvSpPr>
          <p:cNvPr id="14" name="Title 1">
            <a:extLst>
              <a:ext uri="{FF2B5EF4-FFF2-40B4-BE49-F238E27FC236}">
                <a16:creationId xmlns:a16="http://schemas.microsoft.com/office/drawing/2014/main" id="{7C57EF1A-3A61-4873-383F-EDF7A3F7FFCC}"/>
              </a:ext>
            </a:extLst>
          </p:cNvPr>
          <p:cNvSpPr>
            <a:spLocks noGrp="1"/>
          </p:cNvSpPr>
          <p:nvPr>
            <p:ph type="title" hasCustomPrompt="1"/>
          </p:nvPr>
        </p:nvSpPr>
        <p:spPr>
          <a:xfrm>
            <a:off x="360679" y="1510375"/>
            <a:ext cx="5736792" cy="2277995"/>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244E208C-3FF5-71DF-FBFF-D5FF53B6E248}"/>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7AF311BF-2314-8D48-AC7A-5EFD58EB8525}"/>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4BD1CAE6-A216-407B-8561-8BB0E66F341F}"/>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4ACA5659-48B8-F103-3055-6D3A49533041}"/>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17D981E-0E61-3250-09C0-EF60B1A98479}"/>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F7FF9F78-EDD0-050F-9EC7-1D40F52B60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746714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0" y="7805"/>
            <a:ext cx="12178140"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1" y="7805"/>
            <a:ext cx="12178138"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2" y="7805"/>
            <a:ext cx="12178136"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14C193D-B073-202D-8958-C47C3A7DC93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9920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16FDD8-4D50-E10B-F484-E713AF90B13D}"/>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41C8EB-2716-D0A4-BC4E-29471232EAA4}"/>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3_Title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7D7DEE-6163-20F7-5AF7-7376645D7FFB}"/>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19" name="Graphic 18">
            <a:extLst>
              <a:ext uri="{FF2B5EF4-FFF2-40B4-BE49-F238E27FC236}">
                <a16:creationId xmlns:a16="http://schemas.microsoft.com/office/drawing/2014/main" id="{07565794-3AEB-5D2A-9147-A468135EEE6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8458"/>
          <a:stretch/>
        </p:blipFill>
        <p:spPr>
          <a:xfrm>
            <a:off x="4688732" y="0"/>
            <a:ext cx="7503268" cy="6858000"/>
          </a:xfrm>
          <a:prstGeom prst="rect">
            <a:avLst/>
          </a:prstGeom>
        </p:spPr>
      </p:pic>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5_Section Divider slid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3CDB6A-048E-6184-6207-868E8A1765EF}"/>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D0C20A8-C54D-65D4-11B8-C82D369D21F9}"/>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FF1AAD90-F573-8BD0-19A6-B91C4707E4CF}"/>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24B84CB4-71F3-F601-F020-E6CB4C95BC8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12EEBC7B-1FB6-AF27-7BBF-FC8C9CE7145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22">
            <a:extLst>
              <a:ext uri="{FF2B5EF4-FFF2-40B4-BE49-F238E27FC236}">
                <a16:creationId xmlns:a16="http://schemas.microsoft.com/office/drawing/2014/main" id="{3548D7FA-2928-C771-A153-26C14BB0C76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095575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Section Divider slid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A72565-69F8-7D4C-9FFB-ADEF3B3C09B7}"/>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A63A8DA-23CA-97BC-A272-19AAFA70918C}"/>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4" name="Picture Placeholder 3">
            <a:extLst>
              <a:ext uri="{FF2B5EF4-FFF2-40B4-BE49-F238E27FC236}">
                <a16:creationId xmlns:a16="http://schemas.microsoft.com/office/drawing/2014/main" id="{AA1789B9-D8A7-9466-F754-97D58DA98805}"/>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Subtitle 2">
            <a:extLst>
              <a:ext uri="{FF2B5EF4-FFF2-40B4-BE49-F238E27FC236}">
                <a16:creationId xmlns:a16="http://schemas.microsoft.com/office/drawing/2014/main" id="{1C93D28D-00B8-EACB-1395-1BEC72A9B999}"/>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5" name="TextBox 26">
            <a:extLst>
              <a:ext uri="{FF2B5EF4-FFF2-40B4-BE49-F238E27FC236}">
                <a16:creationId xmlns:a16="http://schemas.microsoft.com/office/drawing/2014/main" id="{B6238B2A-A8A5-E2AB-8F04-5B5A523F4B1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2" name="TextBox 20">
            <a:extLst>
              <a:ext uri="{FF2B5EF4-FFF2-40B4-BE49-F238E27FC236}">
                <a16:creationId xmlns:a16="http://schemas.microsoft.com/office/drawing/2014/main" id="{CB169062-0B35-9250-C992-E6343D715F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FDBB7178-5316-3439-538A-2EDE75DD670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228799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A98978-DD5F-0102-606C-E4581697EB88}"/>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F7F906D-B036-EBA7-A79C-9CB0971E955D}"/>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21" name="Graphic 20">
            <a:extLst>
              <a:ext uri="{FF2B5EF4-FFF2-40B4-BE49-F238E27FC236}">
                <a16:creationId xmlns:a16="http://schemas.microsoft.com/office/drawing/2014/main" id="{64AAB820-12AF-F669-57B8-65DFC760F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3640"/>
          <a:stretch/>
        </p:blipFill>
        <p:spPr>
          <a:xfrm>
            <a:off x="4101352" y="0"/>
            <a:ext cx="8090647" cy="6858000"/>
          </a:xfrm>
          <a:prstGeom prst="rect">
            <a:avLst/>
          </a:prstGeom>
        </p:spPr>
      </p:pic>
      <p:sp>
        <p:nvSpPr>
          <p:cNvPr id="4" name="Title 1">
            <a:extLst>
              <a:ext uri="{FF2B5EF4-FFF2-40B4-BE49-F238E27FC236}">
                <a16:creationId xmlns:a16="http://schemas.microsoft.com/office/drawing/2014/main" id="{2CBC9AFA-318E-1B39-A4C3-A3273424EC42}"/>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6" name="TextBox 26">
            <a:extLst>
              <a:ext uri="{FF2B5EF4-FFF2-40B4-BE49-F238E27FC236}">
                <a16:creationId xmlns:a16="http://schemas.microsoft.com/office/drawing/2014/main" id="{64BE84E3-2381-E806-1FF9-B9741E9A269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5C1A6627-1655-8C48-BBB8-278252AD927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305FBFF3-D67E-10FF-6FA7-394CE56D6AB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493454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3_Section Divider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ABEE5-93EF-491D-228D-7893F85BACB9}"/>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51E162B4-1E76-6A41-8A01-7EA4B4BFF77E}"/>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9" name="Subtitle 2">
            <a:extLst>
              <a:ext uri="{FF2B5EF4-FFF2-40B4-BE49-F238E27FC236}">
                <a16:creationId xmlns:a16="http://schemas.microsoft.com/office/drawing/2014/main" id="{DE1258B5-E04F-388B-1997-FB9CF8C4FF2D}"/>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691025BF-745D-5DE4-EE33-730926E64B5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5" name="TextBox 20">
            <a:extLst>
              <a:ext uri="{FF2B5EF4-FFF2-40B4-BE49-F238E27FC236}">
                <a16:creationId xmlns:a16="http://schemas.microsoft.com/office/drawing/2014/main" id="{B77C154C-CE11-FA7D-3A24-6E966B685ED1}"/>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E853A676-C9C0-3C5E-2DCC-AC0DC06837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8962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4_Title Slide">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485EBA8-5BF4-39D5-5B17-4925B0B63CFB}"/>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B8ED11AB-6788-862E-E56B-79CD4205D7BD}"/>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Title 1">
            <a:extLst>
              <a:ext uri="{FF2B5EF4-FFF2-40B4-BE49-F238E27FC236}">
                <a16:creationId xmlns:a16="http://schemas.microsoft.com/office/drawing/2014/main" id="{8C031A48-4339-3EEF-9438-7E994A23FFC6}"/>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51B1412F-135B-2518-55B4-63D1536F54B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CC01F541-833F-F498-AB2D-D9E094D70FFE}"/>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60512D20-F523-66CF-3420-7E4A0E9E449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98416B02-4319-B2F0-AB80-87262233F1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706296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7_Title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D8FF1-245A-4013-5A44-1059CE6BE1E3}"/>
              </a:ext>
            </a:extLst>
          </p:cNvPr>
          <p:cNvSpPr/>
          <p:nvPr userDrawn="1"/>
        </p:nvSpPr>
        <p:spPr>
          <a:xfrm>
            <a:off x="0" y="3641"/>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2">
            <a:extLst>
              <a:ext uri="{FF2B5EF4-FFF2-40B4-BE49-F238E27FC236}">
                <a16:creationId xmlns:a16="http://schemas.microsoft.com/office/drawing/2014/main" id="{87A20BF6-68D1-FE7E-5733-0C09036B17A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pic>
        <p:nvPicPr>
          <p:cNvPr id="13" name="Graphic 12">
            <a:extLst>
              <a:ext uri="{FF2B5EF4-FFF2-40B4-BE49-F238E27FC236}">
                <a16:creationId xmlns:a16="http://schemas.microsoft.com/office/drawing/2014/main" id="{879AC630-79C0-5BBC-6D49-8063F75D5CE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8458"/>
          <a:stretch/>
        </p:blipFill>
        <p:spPr>
          <a:xfrm>
            <a:off x="4688732" y="0"/>
            <a:ext cx="7503268" cy="6858000"/>
          </a:xfrm>
          <a:prstGeom prst="rect">
            <a:avLst/>
          </a:prstGeom>
        </p:spPr>
      </p:pic>
      <p:sp>
        <p:nvSpPr>
          <p:cNvPr id="2" name="Title 1">
            <a:extLst>
              <a:ext uri="{FF2B5EF4-FFF2-40B4-BE49-F238E27FC236}">
                <a16:creationId xmlns:a16="http://schemas.microsoft.com/office/drawing/2014/main" id="{2776F8AE-E471-3521-ED82-EDDE4F14C612}"/>
              </a:ext>
            </a:extLst>
          </p:cNvPr>
          <p:cNvSpPr>
            <a:spLocks noGrp="1"/>
          </p:cNvSpPr>
          <p:nvPr>
            <p:ph type="title" hasCustomPrompt="1"/>
          </p:nvPr>
        </p:nvSpPr>
        <p:spPr>
          <a:xfrm>
            <a:off x="334963" y="3429000"/>
            <a:ext cx="6192840"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91D9C987-32D8-B116-A2B4-FF51E539473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0F0CDCBF-016A-CCE1-4E15-3C8153720FE0}"/>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BCDC5E03-DC68-FE7D-0CA3-E1DDF5B7E8F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spTree>
    <p:extLst>
      <p:ext uri="{BB962C8B-B14F-4D97-AF65-F5344CB8AC3E}">
        <p14:creationId xmlns:p14="http://schemas.microsoft.com/office/powerpoint/2010/main" val="2037025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6" name="Picture Placeholder 5"/>
          <p:cNvSpPr>
            <a:spLocks noGrp="1"/>
          </p:cNvSpPr>
          <p:nvPr>
            <p:ph type="pic" sz="quarter" idx="17"/>
          </p:nvPr>
        </p:nvSpPr>
        <p:spPr>
          <a:xfrm>
            <a:off x="3287778" y="1629287"/>
            <a:ext cx="2748972"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4" name="Picture Placeholder 5"/>
          <p:cNvSpPr>
            <a:spLocks noGrp="1"/>
          </p:cNvSpPr>
          <p:nvPr>
            <p:ph type="pic" sz="quarter" idx="18"/>
          </p:nvPr>
        </p:nvSpPr>
        <p:spPr>
          <a:xfrm>
            <a:off x="3287778" y="3867401"/>
            <a:ext cx="2748972"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05" name="Picture Placeholder 5"/>
          <p:cNvSpPr>
            <a:spLocks noGrp="1"/>
          </p:cNvSpPr>
          <p:nvPr>
            <p:ph type="pic" sz="quarter" idx="19"/>
          </p:nvPr>
        </p:nvSpPr>
        <p:spPr>
          <a:xfrm>
            <a:off x="9066212" y="1629287"/>
            <a:ext cx="2790825"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6" name="Picture Placeholder 5"/>
          <p:cNvSpPr>
            <a:spLocks noGrp="1"/>
          </p:cNvSpPr>
          <p:nvPr>
            <p:ph type="pic" sz="quarter" idx="20"/>
          </p:nvPr>
        </p:nvSpPr>
        <p:spPr>
          <a:xfrm>
            <a:off x="9066212" y="3867400"/>
            <a:ext cx="2790825"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4" name="Text Placeholder 7"/>
          <p:cNvSpPr>
            <a:spLocks noGrp="1"/>
          </p:cNvSpPr>
          <p:nvPr>
            <p:ph type="body" sz="quarter" idx="21" hasCustomPrompt="1"/>
          </p:nvPr>
        </p:nvSpPr>
        <p:spPr>
          <a:xfrm>
            <a:off x="341681" y="1629287"/>
            <a:ext cx="2762365" cy="429844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p:cNvSpPr>
            <a:spLocks noGrp="1"/>
          </p:cNvSpPr>
          <p:nvPr>
            <p:ph type="body" sz="quarter" idx="22" hasCustomPrompt="1"/>
          </p:nvPr>
        </p:nvSpPr>
        <p:spPr>
          <a:xfrm>
            <a:off x="6176995" y="1629287"/>
            <a:ext cx="2748972" cy="429844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3414441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8492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cxnSp>
        <p:nvCxnSpPr>
          <p:cNvPr id="6" name="Straight Connector 5">
            <a:extLst>
              <a:ext uri="{FF2B5EF4-FFF2-40B4-BE49-F238E27FC236}">
                <a16:creationId xmlns:a16="http://schemas.microsoft.com/office/drawing/2014/main" id="{9A17AD42-0E6D-D003-E77D-5403939E86A6}"/>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4322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 Placeholder 7">
            <a:extLst>
              <a:ext uri="{FF2B5EF4-FFF2-40B4-BE49-F238E27FC236}">
                <a16:creationId xmlns:a16="http://schemas.microsoft.com/office/drawing/2014/main" id="{ED8DED05-E2E3-E60C-8FB6-98C11629DBEA}"/>
              </a:ext>
            </a:extLst>
          </p:cNvPr>
          <p:cNvSpPr>
            <a:spLocks noGrp="1"/>
          </p:cNvSpPr>
          <p:nvPr>
            <p:ph type="body" sz="quarter" idx="36" hasCustomPrompt="1"/>
          </p:nvPr>
        </p:nvSpPr>
        <p:spPr>
          <a:xfrm>
            <a:off x="341949"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9" name="Text Placeholder 7">
            <a:extLst>
              <a:ext uri="{FF2B5EF4-FFF2-40B4-BE49-F238E27FC236}">
                <a16:creationId xmlns:a16="http://schemas.microsoft.com/office/drawing/2014/main" id="{D10FC326-371E-A33A-2DCE-493B59304E5E}"/>
              </a:ext>
            </a:extLst>
          </p:cNvPr>
          <p:cNvSpPr>
            <a:spLocks noGrp="1"/>
          </p:cNvSpPr>
          <p:nvPr>
            <p:ph type="body" sz="quarter" idx="37" hasCustomPrompt="1"/>
          </p:nvPr>
        </p:nvSpPr>
        <p:spPr>
          <a:xfrm>
            <a:off x="3221073"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0" name="Text Placeholder 7">
            <a:extLst>
              <a:ext uri="{FF2B5EF4-FFF2-40B4-BE49-F238E27FC236}">
                <a16:creationId xmlns:a16="http://schemas.microsoft.com/office/drawing/2014/main" id="{85FD9BC9-01C8-F6F8-C5BB-D0E27C9BA039}"/>
              </a:ext>
            </a:extLst>
          </p:cNvPr>
          <p:cNvSpPr>
            <a:spLocks noGrp="1"/>
          </p:cNvSpPr>
          <p:nvPr>
            <p:ph type="body" sz="quarter" idx="38" hasCustomPrompt="1"/>
          </p:nvPr>
        </p:nvSpPr>
        <p:spPr>
          <a:xfrm>
            <a:off x="6100197"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1" name="Text Placeholder 7">
            <a:extLst>
              <a:ext uri="{FF2B5EF4-FFF2-40B4-BE49-F238E27FC236}">
                <a16:creationId xmlns:a16="http://schemas.microsoft.com/office/drawing/2014/main" id="{5CD4DA40-2BF2-3FD2-AB86-EC70388C017C}"/>
              </a:ext>
            </a:extLst>
          </p:cNvPr>
          <p:cNvSpPr>
            <a:spLocks noGrp="1"/>
          </p:cNvSpPr>
          <p:nvPr>
            <p:ph type="body" sz="quarter" idx="39" hasCustomPrompt="1"/>
          </p:nvPr>
        </p:nvSpPr>
        <p:spPr>
          <a:xfrm>
            <a:off x="8979321"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2" name="Straight Connector 11">
            <a:extLst>
              <a:ext uri="{FF2B5EF4-FFF2-40B4-BE49-F238E27FC236}">
                <a16:creationId xmlns:a16="http://schemas.microsoft.com/office/drawing/2014/main" id="{65B6DE84-96FF-4202-9A8E-6789A38874CB}"/>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1801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2 column text with image">
    <p:spTree>
      <p:nvGrpSpPr>
        <p:cNvPr id="1" name=""/>
        <p:cNvGrpSpPr/>
        <p:nvPr/>
      </p:nvGrpSpPr>
      <p:grpSpPr>
        <a:xfrm>
          <a:off x="0" y="0"/>
          <a:ext cx="0" cy="0"/>
          <a:chOff x="0" y="0"/>
          <a:chExt cx="0" cy="0"/>
        </a:xfrm>
      </p:grpSpPr>
      <p:sp>
        <p:nvSpPr>
          <p:cNvPr id="27" name="Picture Placeholder 5">
            <a:extLst>
              <a:ext uri="{FF2B5EF4-FFF2-40B4-BE49-F238E27FC236}">
                <a16:creationId xmlns:a16="http://schemas.microsoft.com/office/drawing/2014/main" id="{D230909C-0594-5159-E526-6BC0A8BD7F14}"/>
              </a:ext>
            </a:extLst>
          </p:cNvPr>
          <p:cNvSpPr>
            <a:spLocks noGrp="1"/>
          </p:cNvSpPr>
          <p:nvPr>
            <p:ph type="pic" sz="quarter" idx="46"/>
          </p:nvPr>
        </p:nvSpPr>
        <p:spPr>
          <a:xfrm>
            <a:off x="341949"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Picture Placeholder 5">
            <a:extLst>
              <a:ext uri="{FF2B5EF4-FFF2-40B4-BE49-F238E27FC236}">
                <a16:creationId xmlns:a16="http://schemas.microsoft.com/office/drawing/2014/main" id="{2389CC14-0336-4A78-4720-ABF1310D0587}"/>
              </a:ext>
            </a:extLst>
          </p:cNvPr>
          <p:cNvSpPr>
            <a:spLocks noGrp="1"/>
          </p:cNvSpPr>
          <p:nvPr>
            <p:ph type="pic" sz="quarter" idx="18"/>
          </p:nvPr>
        </p:nvSpPr>
        <p:spPr>
          <a:xfrm>
            <a:off x="341949"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5" name="Picture Placeholder 5">
            <a:extLst>
              <a:ext uri="{FF2B5EF4-FFF2-40B4-BE49-F238E27FC236}">
                <a16:creationId xmlns:a16="http://schemas.microsoft.com/office/drawing/2014/main" id="{56209224-BD77-8CC6-AE90-12EB54C04326}"/>
              </a:ext>
            </a:extLst>
          </p:cNvPr>
          <p:cNvSpPr>
            <a:spLocks noGrp="1"/>
          </p:cNvSpPr>
          <p:nvPr>
            <p:ph type="pic" sz="quarter" idx="43"/>
          </p:nvPr>
        </p:nvSpPr>
        <p:spPr>
          <a:xfrm>
            <a:off x="3218106"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Picture Placeholder 5">
            <a:extLst>
              <a:ext uri="{FF2B5EF4-FFF2-40B4-BE49-F238E27FC236}">
                <a16:creationId xmlns:a16="http://schemas.microsoft.com/office/drawing/2014/main" id="{C2B3786A-414F-BC70-9D87-CB52D9845A75}"/>
              </a:ext>
            </a:extLst>
          </p:cNvPr>
          <p:cNvSpPr>
            <a:spLocks noGrp="1"/>
          </p:cNvSpPr>
          <p:nvPr>
            <p:ph type="pic" sz="quarter" idx="44"/>
          </p:nvPr>
        </p:nvSpPr>
        <p:spPr>
          <a:xfrm>
            <a:off x="6099193"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5" name="Picture Placeholder 5">
            <a:extLst>
              <a:ext uri="{FF2B5EF4-FFF2-40B4-BE49-F238E27FC236}">
                <a16:creationId xmlns:a16="http://schemas.microsoft.com/office/drawing/2014/main" id="{602DF088-CF7C-3ED9-73F6-E0E98AFA98DB}"/>
              </a:ext>
            </a:extLst>
          </p:cNvPr>
          <p:cNvSpPr>
            <a:spLocks noGrp="1"/>
          </p:cNvSpPr>
          <p:nvPr>
            <p:ph type="pic" sz="quarter" idx="45"/>
          </p:nvPr>
        </p:nvSpPr>
        <p:spPr>
          <a:xfrm>
            <a:off x="8974762"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8" name="Picture Placeholder 5">
            <a:extLst>
              <a:ext uri="{FF2B5EF4-FFF2-40B4-BE49-F238E27FC236}">
                <a16:creationId xmlns:a16="http://schemas.microsoft.com/office/drawing/2014/main" id="{47C4EFD4-6A08-4E80-0D36-EB26005061A2}"/>
              </a:ext>
            </a:extLst>
          </p:cNvPr>
          <p:cNvSpPr>
            <a:spLocks noGrp="1"/>
          </p:cNvSpPr>
          <p:nvPr>
            <p:ph type="pic" sz="quarter" idx="47"/>
          </p:nvPr>
        </p:nvSpPr>
        <p:spPr>
          <a:xfrm>
            <a:off x="3219457"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9" name="Picture Placeholder 5">
            <a:extLst>
              <a:ext uri="{FF2B5EF4-FFF2-40B4-BE49-F238E27FC236}">
                <a16:creationId xmlns:a16="http://schemas.microsoft.com/office/drawing/2014/main" id="{62269C05-F4FE-874A-C6FE-B9B309ED5ABE}"/>
              </a:ext>
            </a:extLst>
          </p:cNvPr>
          <p:cNvSpPr>
            <a:spLocks noGrp="1"/>
          </p:cNvSpPr>
          <p:nvPr>
            <p:ph type="pic" sz="quarter" idx="48"/>
          </p:nvPr>
        </p:nvSpPr>
        <p:spPr>
          <a:xfrm>
            <a:off x="6099193"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30" name="Picture Placeholder 5">
            <a:extLst>
              <a:ext uri="{FF2B5EF4-FFF2-40B4-BE49-F238E27FC236}">
                <a16:creationId xmlns:a16="http://schemas.microsoft.com/office/drawing/2014/main" id="{63E61DD7-F712-223E-D81D-8475FC510E8F}"/>
              </a:ext>
            </a:extLst>
          </p:cNvPr>
          <p:cNvSpPr>
            <a:spLocks noGrp="1"/>
          </p:cNvSpPr>
          <p:nvPr>
            <p:ph type="pic" sz="quarter" idx="49"/>
          </p:nvPr>
        </p:nvSpPr>
        <p:spPr>
          <a:xfrm>
            <a:off x="8979958"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cxnSp>
        <p:nvCxnSpPr>
          <p:cNvPr id="5" name="Straight Connector 4">
            <a:extLst>
              <a:ext uri="{FF2B5EF4-FFF2-40B4-BE49-F238E27FC236}">
                <a16:creationId xmlns:a16="http://schemas.microsoft.com/office/drawing/2014/main" id="{3B46F8D6-A68A-BD10-9150-104DAA950FBA}"/>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77401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r>
              <a:rPr lang="en-US" dirty="0"/>
              <a:t>Column Headline</a:t>
            </a:r>
          </a:p>
          <a:p>
            <a:endParaRPr lang="en-US" dirty="0"/>
          </a:p>
        </p:txBody>
      </p:sp>
    </p:spTree>
    <p:extLst>
      <p:ext uri="{BB962C8B-B14F-4D97-AF65-F5344CB8AC3E}">
        <p14:creationId xmlns:p14="http://schemas.microsoft.com/office/powerpoint/2010/main" val="1177142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
        <p:nvSpPr>
          <p:cNvPr id="7" name="Rectangle 6">
            <a:extLst>
              <a:ext uri="{FF2B5EF4-FFF2-40B4-BE49-F238E27FC236}">
                <a16:creationId xmlns:a16="http://schemas.microsoft.com/office/drawing/2014/main" id="{A70C8C98-8540-F243-A7E5-72B42C482D10}"/>
              </a:ext>
            </a:extLst>
          </p:cNvPr>
          <p:cNvSpPr>
            <a:spLocks noChangeArrowheads="1"/>
          </p:cNvSpPr>
          <p:nvPr userDrawn="1"/>
        </p:nvSpPr>
        <p:spPr bwMode="auto">
          <a:xfrm>
            <a:off x="7326471" y="0"/>
            <a:ext cx="4655186" cy="751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br>
              <a:rPr lang="en-US" sz="3000" b="0" i="0" dirty="0">
                <a:solidFill>
                  <a:schemeClr val="bg1">
                    <a:alpha val="25000"/>
                  </a:schemeClr>
                </a:solidFill>
                <a:effectLst/>
                <a:latin typeface="Arial" panose="020B0604020202020204" pitchFamily="34" charset="0"/>
              </a:rPr>
            </a:br>
            <a:r>
              <a:rPr lang="en-US" sz="3000" b="0" i="0" dirty="0" err="1">
                <a:solidFill>
                  <a:schemeClr val="bg1">
                    <a:alpha val="25000"/>
                  </a:schemeClr>
                </a:solidFill>
                <a:effectLst/>
                <a:latin typeface="Arial" panose="020B0604020202020204" pitchFamily="34" charset="0"/>
              </a:rPr>
              <a:t>Köszönöm</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endParaRPr lang="te-IN" sz="3000" b="0" i="0" dirty="0">
              <a:solidFill>
                <a:schemeClr val="bg1">
                  <a:alpha val="25000"/>
                </a:schemeClr>
              </a:solidFill>
              <a:effectLst/>
              <a:latin typeface="Arial" panose="020B0604020202020204" pitchFamily="34" charset="0"/>
            </a:endParaRPr>
          </a:p>
        </p:txBody>
      </p:sp>
    </p:spTree>
    <p:extLst>
      <p:ext uri="{BB962C8B-B14F-4D97-AF65-F5344CB8AC3E}">
        <p14:creationId xmlns:p14="http://schemas.microsoft.com/office/powerpoint/2010/main" val="3116273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5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50" dirty="0">
                <a:solidFill>
                  <a:schemeClr val="bg1"/>
                </a:solidFill>
                <a:latin typeface="Arial" panose="020B0604020202020204" pitchFamily="34" charset="0"/>
                <a:cs typeface="Arial" panose="020B0604020202020204" pitchFamily="34" charset="0"/>
              </a:rPr>
            </a:br>
            <a:r>
              <a:rPr lang="en-US" altLang="x-none" sz="1050" dirty="0" err="1">
                <a:solidFill>
                  <a:schemeClr val="bg1"/>
                </a:solidFill>
                <a:latin typeface="Arial" panose="020B0604020202020204" pitchFamily="34" charset="0"/>
                <a:cs typeface="Arial" panose="020B0604020202020204" pitchFamily="34" charset="0"/>
              </a:rPr>
              <a:t>www.arm.com</a:t>
            </a:r>
            <a:r>
              <a:rPr lang="en-US" altLang="x-none" sz="1050" dirty="0">
                <a:solidFill>
                  <a:schemeClr val="bg1"/>
                </a:solidFill>
                <a:latin typeface="Arial" panose="020B0604020202020204" pitchFamily="34" charset="0"/>
                <a:cs typeface="Arial" panose="020B0604020202020204" pitchFamily="34" charset="0"/>
              </a:rPr>
              <a:t>/company/policies/trademarks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3BE21B-48FE-4819-671D-2419665E8DF2}"/>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05750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bg1"/>
                </a:solidFill>
                <a:latin typeface="Arial" panose="020B0604020202020204" pitchFamily="34" charset="0"/>
                <a:cs typeface="Arial" panose="020B0604020202020204" pitchFamily="34" charset="0"/>
              </a:rPr>
            </a:br>
            <a:r>
              <a:rPr lang="en-US" altLang="x-none" sz="800" dirty="0">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bg1"/>
                </a:solidFill>
                <a:latin typeface="Arial" panose="020B0604020202020204" pitchFamily="34" charset="0"/>
                <a:cs typeface="Arial" panose="020B0604020202020204" pitchFamily="34" charset="0"/>
              </a:rPr>
            </a:br>
            <a:r>
              <a:rPr lang="en-US" altLang="x-none" sz="800" dirty="0" err="1">
                <a:solidFill>
                  <a:schemeClr val="bg1"/>
                </a:solidFill>
                <a:latin typeface="Arial" panose="020B0604020202020204" pitchFamily="34" charset="0"/>
                <a:cs typeface="Arial" panose="020B0604020202020204" pitchFamily="34" charset="0"/>
              </a:rPr>
              <a:t>www.arm.com</a:t>
            </a:r>
            <a:r>
              <a:rPr lang="en-US" altLang="x-none" sz="800" dirty="0">
                <a:solidFill>
                  <a:schemeClr val="bg1"/>
                </a:solidFill>
                <a:latin typeface="Arial" panose="020B0604020202020204" pitchFamily="34" charset="0"/>
                <a:cs typeface="Arial" panose="020B0604020202020204" pitchFamily="34" charset="0"/>
              </a:rPr>
              <a:t>/company/policies/trademarks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00" dirty="0">
                <a:solidFill>
                  <a:schemeClr val="bg1"/>
                </a:solidFill>
                <a:latin typeface="Arial" panose="020B0604020202020204" pitchFamily="34" charset="0"/>
                <a:cs typeface="Arial" panose="020B0604020202020204" pitchFamily="34" charset="0"/>
              </a:rPr>
            </a:br>
            <a:r>
              <a:rPr lang="en-US" altLang="x-none" sz="1000" dirty="0" err="1">
                <a:solidFill>
                  <a:schemeClr val="bg1"/>
                </a:solidFill>
                <a:latin typeface="Arial" panose="020B0604020202020204" pitchFamily="34" charset="0"/>
                <a:cs typeface="Arial" panose="020B0604020202020204" pitchFamily="34" charset="0"/>
              </a:rPr>
              <a:t>www.arm.com</a:t>
            </a:r>
            <a:r>
              <a:rPr lang="en-US" altLang="x-none" sz="1000" dirty="0">
                <a:solidFill>
                  <a:schemeClr val="bg1"/>
                </a:solidFill>
                <a:latin typeface="Arial" panose="020B0604020202020204" pitchFamily="34" charset="0"/>
                <a:cs typeface="Arial" panose="020B0604020202020204" pitchFamily="34" charset="0"/>
              </a:rPr>
              <a:t>/company/policies/trademarks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7" name="Rectangle 6">
            <a:extLst>
              <a:ext uri="{FF2B5EF4-FFF2-40B4-BE49-F238E27FC236}">
                <a16:creationId xmlns:a16="http://schemas.microsoft.com/office/drawing/2014/main" id="{E044550B-7010-FD6C-92CE-3911285D5E74}"/>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Danke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Gracias</a:t>
            </a:r>
            <a:br>
              <a:rPr lang="en-US" altLang="en-US" sz="3000" dirty="0">
                <a:solidFill>
                  <a:schemeClr val="tx1">
                    <a:alpha val="25000"/>
                  </a:schemeClr>
                </a:solidFill>
                <a:latin typeface="Arial" panose="020B0604020202020204" pitchFamily="34" charset="0"/>
                <a:cs typeface="Arial" panose="020B0604020202020204" pitchFamily="34" charset="0"/>
              </a:rPr>
            </a:br>
            <a:r>
              <a:rPr lang="en-US" altLang="en-US" sz="3000" dirty="0" err="1">
                <a:solidFill>
                  <a:schemeClr val="tx1">
                    <a:alpha val="25000"/>
                  </a:schemeClr>
                </a:solidFill>
                <a:latin typeface="Arial" panose="020B0604020202020204" pitchFamily="34" charset="0"/>
                <a:cs typeface="Arial" panose="020B0604020202020204" pitchFamily="34" charset="0"/>
              </a:rPr>
              <a:t>Grazie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谢谢</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ありがとう</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감사합니다</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धन्यवाद</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tx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tx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tx1">
                    <a:alpha val="25000"/>
                  </a:schemeClr>
                </a:solidFill>
                <a:latin typeface="Arial" panose="020B0604020202020204" pitchFamily="34" charset="0"/>
              </a:rPr>
              <a:t>ধন্যবাদ</a:t>
            </a:r>
            <a:br>
              <a:rPr lang="en-US" altLang="en-US" sz="3000" dirty="0">
                <a:solidFill>
                  <a:schemeClr val="tx1">
                    <a:alpha val="25000"/>
                  </a:schemeClr>
                </a:solidFill>
                <a:latin typeface="Arial" panose="020B0604020202020204" pitchFamily="34" charset="0"/>
                <a:cs typeface="Arial" panose="020B0604020202020204" pitchFamily="34" charset="0"/>
              </a:rPr>
            </a:br>
            <a:r>
              <a:rPr lang="he-IL" altLang="en-US" sz="3000" dirty="0">
                <a:solidFill>
                  <a:schemeClr val="tx1">
                    <a:alpha val="25000"/>
                  </a:schemeClr>
                </a:solidFill>
                <a:latin typeface="Arial" panose="020B0604020202020204" pitchFamily="34" charset="0"/>
                <a:cs typeface="Arial" panose="020B0604020202020204" pitchFamily="34" charset="0"/>
              </a:rPr>
              <a:t>תודה</a:t>
            </a:r>
            <a:endParaRPr lang="en-GB"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tx1">
                    <a:alpha val="25000"/>
                  </a:schemeClr>
                </a:solidFill>
                <a:effectLst/>
                <a:latin typeface="Arial" panose="020B0604020202020204" pitchFamily="34" charset="0"/>
              </a:rPr>
              <a:t>ధన్యవాదములు</a:t>
            </a:r>
            <a:endParaRPr lang="en-US" sz="3000" b="0" i="0" dirty="0">
              <a:solidFill>
                <a:schemeClr val="tx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tx1">
                    <a:alpha val="25000"/>
                  </a:schemeClr>
                </a:solidFill>
                <a:effectLst/>
                <a:latin typeface="Arial" panose="020B0604020202020204" pitchFamily="34" charset="0"/>
              </a:rPr>
              <a:t>Köszönöm</a:t>
            </a:r>
            <a:endParaRPr lang="te-IN" sz="3000" b="0" i="0" dirty="0">
              <a:solidFill>
                <a:schemeClr val="tx1">
                  <a:alpha val="25000"/>
                </a:schemeClr>
              </a:solidFill>
              <a:effectLst/>
              <a:latin typeface="Arial" panose="020B0604020202020204" pitchFamily="34" charset="0"/>
            </a:endParaRPr>
          </a:p>
        </p:txBody>
      </p:sp>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1772796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tx1"/>
                </a:solidFill>
                <a:latin typeface="Arial" panose="020B0604020202020204" pitchFamily="34" charset="0"/>
                <a:cs typeface="Arial" panose="020B0604020202020204" pitchFamily="34" charset="0"/>
              </a:rPr>
            </a:br>
            <a:r>
              <a:rPr lang="en-US" altLang="x-none" sz="800" dirty="0">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accent2"/>
                </a:solidFill>
                <a:latin typeface="Arial" panose="020B0604020202020204" pitchFamily="34" charset="0"/>
                <a:cs typeface="Arial" panose="020B0604020202020204" pitchFamily="34" charset="0"/>
              </a:rPr>
            </a:br>
            <a:r>
              <a:rPr lang="en-US" altLang="x-none" sz="800" dirty="0" err="1">
                <a:solidFill>
                  <a:schemeClr val="accent2"/>
                </a:solidFill>
                <a:latin typeface="Arial" panose="020B0604020202020204" pitchFamily="34" charset="0"/>
                <a:cs typeface="Arial" panose="020B0604020202020204" pitchFamily="34" charset="0"/>
              </a:rPr>
              <a:t>www.arm.com</a:t>
            </a:r>
            <a:r>
              <a:rPr lang="en-US" altLang="x-none" sz="800" dirty="0">
                <a:solidFill>
                  <a:schemeClr val="accent2"/>
                </a:solidFill>
                <a:latin typeface="Arial" panose="020B0604020202020204" pitchFamily="34" charset="0"/>
                <a:cs typeface="Arial" panose="020B0604020202020204" pitchFamily="34" charset="0"/>
              </a:rPr>
              <a:t>/company/policies/trademarks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42006928"/>
      </p:ext>
    </p:extLst>
  </p:cSld>
  <p:clrMapOvr>
    <a:masterClrMapping/>
  </p:clrMapOvr>
  <p:transition>
    <p:pull dir="ru"/>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6809" y="-1655"/>
            <a:ext cx="12170153" cy="6861312"/>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15501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email">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927004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923" y="12288"/>
            <a:ext cx="12170154" cy="6845712"/>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277687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70651652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4" y="-3313"/>
            <a:ext cx="12170155" cy="6861313"/>
          </a:xfrm>
          <a:prstGeom prst="rect">
            <a:avLst/>
          </a:prstGeom>
        </p:spPr>
      </p:pic>
      <p:sp>
        <p:nvSpPr>
          <p:cNvPr id="14" name="Title 1">
            <a:extLst>
              <a:ext uri="{FF2B5EF4-FFF2-40B4-BE49-F238E27FC236}">
                <a16:creationId xmlns:a16="http://schemas.microsoft.com/office/drawing/2014/main" id="{7C57EF1A-3A61-4873-383F-EDF7A3F7FFCC}"/>
              </a:ext>
            </a:extLst>
          </p:cNvPr>
          <p:cNvSpPr>
            <a:spLocks noGrp="1"/>
          </p:cNvSpPr>
          <p:nvPr>
            <p:ph type="title" hasCustomPrompt="1"/>
          </p:nvPr>
        </p:nvSpPr>
        <p:spPr>
          <a:xfrm>
            <a:off x="360679" y="1510375"/>
            <a:ext cx="5736792" cy="2277995"/>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244E208C-3FF5-71DF-FBFF-D5FF53B6E248}"/>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7AF311BF-2314-8D48-AC7A-5EFD58EB8525}"/>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4BD1CAE6-A216-407B-8561-8BB0E66F341F}"/>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4ACA5659-48B8-F103-3055-6D3A49533041}"/>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17D981E-0E61-3250-09C0-EF60B1A98479}"/>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F7FF9F78-EDD0-050F-9EC7-1D40F52B60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42879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172658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0" y="7805"/>
            <a:ext cx="12178140"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585957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1" y="7805"/>
            <a:ext cx="12178138"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337937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2" y="7805"/>
            <a:ext cx="12178136"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14C193D-B073-202D-8958-C47C3A7DC93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5670362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16FDD8-4D50-E10B-F484-E713AF90B13D}"/>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6728404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41C8EB-2716-D0A4-BC4E-29471232EAA4}"/>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7367324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3_Title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7D7DEE-6163-20F7-5AF7-7376645D7FFB}"/>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19" name="Graphic 18">
            <a:extLst>
              <a:ext uri="{FF2B5EF4-FFF2-40B4-BE49-F238E27FC236}">
                <a16:creationId xmlns:a16="http://schemas.microsoft.com/office/drawing/2014/main" id="{07565794-3AEB-5D2A-9147-A468135EEE6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8458"/>
          <a:stretch/>
        </p:blipFill>
        <p:spPr>
          <a:xfrm>
            <a:off x="4688732" y="0"/>
            <a:ext cx="7503268" cy="6858000"/>
          </a:xfrm>
          <a:prstGeom prst="rect">
            <a:avLst/>
          </a:prstGeom>
        </p:spPr>
      </p:pic>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19866470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25_Section Divider slid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3CDB6A-048E-6184-6207-868E8A1765EF}"/>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D0C20A8-C54D-65D4-11B8-C82D369D21F9}"/>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FF1AAD90-F573-8BD0-19A6-B91C4707E4CF}"/>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24B84CB4-71F3-F601-F020-E6CB4C95BC8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12EEBC7B-1FB6-AF27-7BBF-FC8C9CE7145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22">
            <a:extLst>
              <a:ext uri="{FF2B5EF4-FFF2-40B4-BE49-F238E27FC236}">
                <a16:creationId xmlns:a16="http://schemas.microsoft.com/office/drawing/2014/main" id="{3548D7FA-2928-C771-A153-26C14BB0C76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110053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Section Divider slid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A72565-69F8-7D4C-9FFB-ADEF3B3C09B7}"/>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A63A8DA-23CA-97BC-A272-19AAFA70918C}"/>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4" name="Picture Placeholder 3">
            <a:extLst>
              <a:ext uri="{FF2B5EF4-FFF2-40B4-BE49-F238E27FC236}">
                <a16:creationId xmlns:a16="http://schemas.microsoft.com/office/drawing/2014/main" id="{AA1789B9-D8A7-9466-F754-97D58DA98805}"/>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Subtitle 2">
            <a:extLst>
              <a:ext uri="{FF2B5EF4-FFF2-40B4-BE49-F238E27FC236}">
                <a16:creationId xmlns:a16="http://schemas.microsoft.com/office/drawing/2014/main" id="{1C93D28D-00B8-EACB-1395-1BEC72A9B999}"/>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5" name="TextBox 26">
            <a:extLst>
              <a:ext uri="{FF2B5EF4-FFF2-40B4-BE49-F238E27FC236}">
                <a16:creationId xmlns:a16="http://schemas.microsoft.com/office/drawing/2014/main" id="{B6238B2A-A8A5-E2AB-8F04-5B5A523F4B1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2" name="TextBox 20">
            <a:extLst>
              <a:ext uri="{FF2B5EF4-FFF2-40B4-BE49-F238E27FC236}">
                <a16:creationId xmlns:a16="http://schemas.microsoft.com/office/drawing/2014/main" id="{CB169062-0B35-9250-C992-E6343D715F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FDBB7178-5316-3439-538A-2EDE75DD670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56886747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A98978-DD5F-0102-606C-E4581697EB88}"/>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F7F906D-B036-EBA7-A79C-9CB0971E955D}"/>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21" name="Graphic 20">
            <a:extLst>
              <a:ext uri="{FF2B5EF4-FFF2-40B4-BE49-F238E27FC236}">
                <a16:creationId xmlns:a16="http://schemas.microsoft.com/office/drawing/2014/main" id="{64AAB820-12AF-F669-57B8-65DFC760F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3640"/>
          <a:stretch/>
        </p:blipFill>
        <p:spPr>
          <a:xfrm>
            <a:off x="4101352" y="0"/>
            <a:ext cx="8090647" cy="6858000"/>
          </a:xfrm>
          <a:prstGeom prst="rect">
            <a:avLst/>
          </a:prstGeom>
        </p:spPr>
      </p:pic>
      <p:sp>
        <p:nvSpPr>
          <p:cNvPr id="4" name="Title 1">
            <a:extLst>
              <a:ext uri="{FF2B5EF4-FFF2-40B4-BE49-F238E27FC236}">
                <a16:creationId xmlns:a16="http://schemas.microsoft.com/office/drawing/2014/main" id="{2CBC9AFA-318E-1B39-A4C3-A3273424EC42}"/>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6" name="TextBox 26">
            <a:extLst>
              <a:ext uri="{FF2B5EF4-FFF2-40B4-BE49-F238E27FC236}">
                <a16:creationId xmlns:a16="http://schemas.microsoft.com/office/drawing/2014/main" id="{64BE84E3-2381-E806-1FF9-B9741E9A269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5C1A6627-1655-8C48-BBB8-278252AD927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305FBFF3-D67E-10FF-6FA7-394CE56D6AB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2059785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23_Section Divider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ABEE5-93EF-491D-228D-7893F85BACB9}"/>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51E162B4-1E76-6A41-8A01-7EA4B4BFF77E}"/>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9" name="Subtitle 2">
            <a:extLst>
              <a:ext uri="{FF2B5EF4-FFF2-40B4-BE49-F238E27FC236}">
                <a16:creationId xmlns:a16="http://schemas.microsoft.com/office/drawing/2014/main" id="{DE1258B5-E04F-388B-1997-FB9CF8C4FF2D}"/>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691025BF-745D-5DE4-EE33-730926E64B5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5" name="TextBox 20">
            <a:extLst>
              <a:ext uri="{FF2B5EF4-FFF2-40B4-BE49-F238E27FC236}">
                <a16:creationId xmlns:a16="http://schemas.microsoft.com/office/drawing/2014/main" id="{B77C154C-CE11-FA7D-3A24-6E966B685ED1}"/>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E853A676-C9C0-3C5E-2DCC-AC0DC06837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3135271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4_Title Slide">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485EBA8-5BF4-39D5-5B17-4925B0B63CFB}"/>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B8ED11AB-6788-862E-E56B-79CD4205D7BD}"/>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Title 1">
            <a:extLst>
              <a:ext uri="{FF2B5EF4-FFF2-40B4-BE49-F238E27FC236}">
                <a16:creationId xmlns:a16="http://schemas.microsoft.com/office/drawing/2014/main" id="{8C031A48-4339-3EEF-9438-7E994A23FFC6}"/>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51B1412F-135B-2518-55B4-63D1536F54B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CC01F541-833F-F498-AB2D-D9E094D70FFE}"/>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60512D20-F523-66CF-3420-7E4A0E9E449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98416B02-4319-B2F0-AB80-87262233F1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798358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7_Title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D8FF1-245A-4013-5A44-1059CE6BE1E3}"/>
              </a:ext>
            </a:extLst>
          </p:cNvPr>
          <p:cNvSpPr/>
          <p:nvPr userDrawn="1"/>
        </p:nvSpPr>
        <p:spPr>
          <a:xfrm>
            <a:off x="0" y="3641"/>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2">
            <a:extLst>
              <a:ext uri="{FF2B5EF4-FFF2-40B4-BE49-F238E27FC236}">
                <a16:creationId xmlns:a16="http://schemas.microsoft.com/office/drawing/2014/main" id="{87A20BF6-68D1-FE7E-5733-0C09036B17A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pic>
        <p:nvPicPr>
          <p:cNvPr id="13" name="Graphic 12">
            <a:extLst>
              <a:ext uri="{FF2B5EF4-FFF2-40B4-BE49-F238E27FC236}">
                <a16:creationId xmlns:a16="http://schemas.microsoft.com/office/drawing/2014/main" id="{879AC630-79C0-5BBC-6D49-8063F75D5CE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8458"/>
          <a:stretch/>
        </p:blipFill>
        <p:spPr>
          <a:xfrm>
            <a:off x="4688732" y="0"/>
            <a:ext cx="7503268" cy="6858000"/>
          </a:xfrm>
          <a:prstGeom prst="rect">
            <a:avLst/>
          </a:prstGeom>
        </p:spPr>
      </p:pic>
      <p:sp>
        <p:nvSpPr>
          <p:cNvPr id="2" name="Title 1">
            <a:extLst>
              <a:ext uri="{FF2B5EF4-FFF2-40B4-BE49-F238E27FC236}">
                <a16:creationId xmlns:a16="http://schemas.microsoft.com/office/drawing/2014/main" id="{2776F8AE-E471-3521-ED82-EDDE4F14C612}"/>
              </a:ext>
            </a:extLst>
          </p:cNvPr>
          <p:cNvSpPr>
            <a:spLocks noGrp="1"/>
          </p:cNvSpPr>
          <p:nvPr>
            <p:ph type="title" hasCustomPrompt="1"/>
          </p:nvPr>
        </p:nvSpPr>
        <p:spPr>
          <a:xfrm>
            <a:off x="334963" y="3429000"/>
            <a:ext cx="6192840"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91D9C987-32D8-B116-A2B4-FF51E539473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0F0CDCBF-016A-CCE1-4E15-3C8153720FE0}"/>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BCDC5E03-DC68-FE7D-0CA3-E1DDF5B7E8F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spTree>
    <p:extLst>
      <p:ext uri="{BB962C8B-B14F-4D97-AF65-F5344CB8AC3E}">
        <p14:creationId xmlns:p14="http://schemas.microsoft.com/office/powerpoint/2010/main" val="23585326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6" name="Picture Placeholder 5"/>
          <p:cNvSpPr>
            <a:spLocks noGrp="1"/>
          </p:cNvSpPr>
          <p:nvPr>
            <p:ph type="pic" sz="quarter" idx="17"/>
          </p:nvPr>
        </p:nvSpPr>
        <p:spPr>
          <a:xfrm>
            <a:off x="3287778" y="1629287"/>
            <a:ext cx="2748972"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4" name="Picture Placeholder 5"/>
          <p:cNvSpPr>
            <a:spLocks noGrp="1"/>
          </p:cNvSpPr>
          <p:nvPr>
            <p:ph type="pic" sz="quarter" idx="18"/>
          </p:nvPr>
        </p:nvSpPr>
        <p:spPr>
          <a:xfrm>
            <a:off x="3287778" y="3867401"/>
            <a:ext cx="2748972"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05" name="Picture Placeholder 5"/>
          <p:cNvSpPr>
            <a:spLocks noGrp="1"/>
          </p:cNvSpPr>
          <p:nvPr>
            <p:ph type="pic" sz="quarter" idx="19"/>
          </p:nvPr>
        </p:nvSpPr>
        <p:spPr>
          <a:xfrm>
            <a:off x="9066212" y="1629287"/>
            <a:ext cx="2790825"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6" name="Picture Placeholder 5"/>
          <p:cNvSpPr>
            <a:spLocks noGrp="1"/>
          </p:cNvSpPr>
          <p:nvPr>
            <p:ph type="pic" sz="quarter" idx="20"/>
          </p:nvPr>
        </p:nvSpPr>
        <p:spPr>
          <a:xfrm>
            <a:off x="9066212" y="3867400"/>
            <a:ext cx="2790825"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4" name="Text Placeholder 7"/>
          <p:cNvSpPr>
            <a:spLocks noGrp="1"/>
          </p:cNvSpPr>
          <p:nvPr>
            <p:ph type="body" sz="quarter" idx="21" hasCustomPrompt="1"/>
          </p:nvPr>
        </p:nvSpPr>
        <p:spPr>
          <a:xfrm>
            <a:off x="341681" y="1629287"/>
            <a:ext cx="2762365" cy="429844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p:cNvSpPr>
            <a:spLocks noGrp="1"/>
          </p:cNvSpPr>
          <p:nvPr>
            <p:ph type="body" sz="quarter" idx="22" hasCustomPrompt="1"/>
          </p:nvPr>
        </p:nvSpPr>
        <p:spPr>
          <a:xfrm>
            <a:off x="6176995" y="1629287"/>
            <a:ext cx="2748972" cy="429844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22787860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951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cxnSp>
        <p:nvCxnSpPr>
          <p:cNvPr id="6" name="Straight Connector 5">
            <a:extLst>
              <a:ext uri="{FF2B5EF4-FFF2-40B4-BE49-F238E27FC236}">
                <a16:creationId xmlns:a16="http://schemas.microsoft.com/office/drawing/2014/main" id="{9A17AD42-0E6D-D003-E77D-5403939E86A6}"/>
              </a:ext>
            </a:extLst>
          </p:cNvPr>
          <p:cNvCxnSpPr>
            <a:cxnSpLocks/>
          </p:cNvCxnSpPr>
          <p:nvPr userDrawn="1"/>
        </p:nvCxnSpPr>
        <p:spPr>
          <a:xfrm>
            <a:off x="355341" y="1458024"/>
            <a:ext cx="1150169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0448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Text Placeholder 7">
            <a:extLst>
              <a:ext uri="{FF2B5EF4-FFF2-40B4-BE49-F238E27FC236}">
                <a16:creationId xmlns:a16="http://schemas.microsoft.com/office/drawing/2014/main" id="{ED8DED05-E2E3-E60C-8FB6-98C11629DBEA}"/>
              </a:ext>
            </a:extLst>
          </p:cNvPr>
          <p:cNvSpPr>
            <a:spLocks noGrp="1"/>
          </p:cNvSpPr>
          <p:nvPr>
            <p:ph type="body" sz="quarter" idx="36" hasCustomPrompt="1"/>
          </p:nvPr>
        </p:nvSpPr>
        <p:spPr>
          <a:xfrm>
            <a:off x="341949"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9" name="Text Placeholder 7">
            <a:extLst>
              <a:ext uri="{FF2B5EF4-FFF2-40B4-BE49-F238E27FC236}">
                <a16:creationId xmlns:a16="http://schemas.microsoft.com/office/drawing/2014/main" id="{D10FC326-371E-A33A-2DCE-493B59304E5E}"/>
              </a:ext>
            </a:extLst>
          </p:cNvPr>
          <p:cNvSpPr>
            <a:spLocks noGrp="1"/>
          </p:cNvSpPr>
          <p:nvPr>
            <p:ph type="body" sz="quarter" idx="37" hasCustomPrompt="1"/>
          </p:nvPr>
        </p:nvSpPr>
        <p:spPr>
          <a:xfrm>
            <a:off x="3221073"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0" name="Text Placeholder 7">
            <a:extLst>
              <a:ext uri="{FF2B5EF4-FFF2-40B4-BE49-F238E27FC236}">
                <a16:creationId xmlns:a16="http://schemas.microsoft.com/office/drawing/2014/main" id="{85FD9BC9-01C8-F6F8-C5BB-D0E27C9BA039}"/>
              </a:ext>
            </a:extLst>
          </p:cNvPr>
          <p:cNvSpPr>
            <a:spLocks noGrp="1"/>
          </p:cNvSpPr>
          <p:nvPr>
            <p:ph type="body" sz="quarter" idx="38" hasCustomPrompt="1"/>
          </p:nvPr>
        </p:nvSpPr>
        <p:spPr>
          <a:xfrm>
            <a:off x="6100197"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1" name="Text Placeholder 7">
            <a:extLst>
              <a:ext uri="{FF2B5EF4-FFF2-40B4-BE49-F238E27FC236}">
                <a16:creationId xmlns:a16="http://schemas.microsoft.com/office/drawing/2014/main" id="{5CD4DA40-2BF2-3FD2-AB86-EC70388C017C}"/>
              </a:ext>
            </a:extLst>
          </p:cNvPr>
          <p:cNvSpPr>
            <a:spLocks noGrp="1"/>
          </p:cNvSpPr>
          <p:nvPr>
            <p:ph type="body" sz="quarter" idx="39" hasCustomPrompt="1"/>
          </p:nvPr>
        </p:nvSpPr>
        <p:spPr>
          <a:xfrm>
            <a:off x="8979321"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2" name="Straight Connector 11">
            <a:extLst>
              <a:ext uri="{FF2B5EF4-FFF2-40B4-BE49-F238E27FC236}">
                <a16:creationId xmlns:a16="http://schemas.microsoft.com/office/drawing/2014/main" id="{65B6DE84-96FF-4202-9A8E-6789A38874CB}"/>
              </a:ext>
            </a:extLst>
          </p:cNvPr>
          <p:cNvCxnSpPr>
            <a:cxnSpLocks/>
          </p:cNvCxnSpPr>
          <p:nvPr userDrawn="1"/>
        </p:nvCxnSpPr>
        <p:spPr>
          <a:xfrm>
            <a:off x="355341" y="1458024"/>
            <a:ext cx="1150169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0674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_2 column text with image">
    <p:spTree>
      <p:nvGrpSpPr>
        <p:cNvPr id="1" name=""/>
        <p:cNvGrpSpPr/>
        <p:nvPr/>
      </p:nvGrpSpPr>
      <p:grpSpPr>
        <a:xfrm>
          <a:off x="0" y="0"/>
          <a:ext cx="0" cy="0"/>
          <a:chOff x="0" y="0"/>
          <a:chExt cx="0" cy="0"/>
        </a:xfrm>
      </p:grpSpPr>
      <p:sp>
        <p:nvSpPr>
          <p:cNvPr id="27" name="Picture Placeholder 5">
            <a:extLst>
              <a:ext uri="{FF2B5EF4-FFF2-40B4-BE49-F238E27FC236}">
                <a16:creationId xmlns:a16="http://schemas.microsoft.com/office/drawing/2014/main" id="{D230909C-0594-5159-E526-6BC0A8BD7F14}"/>
              </a:ext>
            </a:extLst>
          </p:cNvPr>
          <p:cNvSpPr>
            <a:spLocks noGrp="1"/>
          </p:cNvSpPr>
          <p:nvPr>
            <p:ph type="pic" sz="quarter" idx="46"/>
          </p:nvPr>
        </p:nvSpPr>
        <p:spPr>
          <a:xfrm>
            <a:off x="341949"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Picture Placeholder 5">
            <a:extLst>
              <a:ext uri="{FF2B5EF4-FFF2-40B4-BE49-F238E27FC236}">
                <a16:creationId xmlns:a16="http://schemas.microsoft.com/office/drawing/2014/main" id="{2389CC14-0336-4A78-4720-ABF1310D0587}"/>
              </a:ext>
            </a:extLst>
          </p:cNvPr>
          <p:cNvSpPr>
            <a:spLocks noGrp="1"/>
          </p:cNvSpPr>
          <p:nvPr>
            <p:ph type="pic" sz="quarter" idx="18"/>
          </p:nvPr>
        </p:nvSpPr>
        <p:spPr>
          <a:xfrm>
            <a:off x="341949"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5" name="Picture Placeholder 5">
            <a:extLst>
              <a:ext uri="{FF2B5EF4-FFF2-40B4-BE49-F238E27FC236}">
                <a16:creationId xmlns:a16="http://schemas.microsoft.com/office/drawing/2014/main" id="{56209224-BD77-8CC6-AE90-12EB54C04326}"/>
              </a:ext>
            </a:extLst>
          </p:cNvPr>
          <p:cNvSpPr>
            <a:spLocks noGrp="1"/>
          </p:cNvSpPr>
          <p:nvPr>
            <p:ph type="pic" sz="quarter" idx="43"/>
          </p:nvPr>
        </p:nvSpPr>
        <p:spPr>
          <a:xfrm>
            <a:off x="3218106"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Picture Placeholder 5">
            <a:extLst>
              <a:ext uri="{FF2B5EF4-FFF2-40B4-BE49-F238E27FC236}">
                <a16:creationId xmlns:a16="http://schemas.microsoft.com/office/drawing/2014/main" id="{C2B3786A-414F-BC70-9D87-CB52D9845A75}"/>
              </a:ext>
            </a:extLst>
          </p:cNvPr>
          <p:cNvSpPr>
            <a:spLocks noGrp="1"/>
          </p:cNvSpPr>
          <p:nvPr>
            <p:ph type="pic" sz="quarter" idx="44"/>
          </p:nvPr>
        </p:nvSpPr>
        <p:spPr>
          <a:xfrm>
            <a:off x="6099193"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5" name="Picture Placeholder 5">
            <a:extLst>
              <a:ext uri="{FF2B5EF4-FFF2-40B4-BE49-F238E27FC236}">
                <a16:creationId xmlns:a16="http://schemas.microsoft.com/office/drawing/2014/main" id="{602DF088-CF7C-3ED9-73F6-E0E98AFA98DB}"/>
              </a:ext>
            </a:extLst>
          </p:cNvPr>
          <p:cNvSpPr>
            <a:spLocks noGrp="1"/>
          </p:cNvSpPr>
          <p:nvPr>
            <p:ph type="pic" sz="quarter" idx="45"/>
          </p:nvPr>
        </p:nvSpPr>
        <p:spPr>
          <a:xfrm>
            <a:off x="8974762"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8" name="Picture Placeholder 5">
            <a:extLst>
              <a:ext uri="{FF2B5EF4-FFF2-40B4-BE49-F238E27FC236}">
                <a16:creationId xmlns:a16="http://schemas.microsoft.com/office/drawing/2014/main" id="{47C4EFD4-6A08-4E80-0D36-EB26005061A2}"/>
              </a:ext>
            </a:extLst>
          </p:cNvPr>
          <p:cNvSpPr>
            <a:spLocks noGrp="1"/>
          </p:cNvSpPr>
          <p:nvPr>
            <p:ph type="pic" sz="quarter" idx="47"/>
          </p:nvPr>
        </p:nvSpPr>
        <p:spPr>
          <a:xfrm>
            <a:off x="3219457"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9" name="Picture Placeholder 5">
            <a:extLst>
              <a:ext uri="{FF2B5EF4-FFF2-40B4-BE49-F238E27FC236}">
                <a16:creationId xmlns:a16="http://schemas.microsoft.com/office/drawing/2014/main" id="{62269C05-F4FE-874A-C6FE-B9B309ED5ABE}"/>
              </a:ext>
            </a:extLst>
          </p:cNvPr>
          <p:cNvSpPr>
            <a:spLocks noGrp="1"/>
          </p:cNvSpPr>
          <p:nvPr>
            <p:ph type="pic" sz="quarter" idx="48"/>
          </p:nvPr>
        </p:nvSpPr>
        <p:spPr>
          <a:xfrm>
            <a:off x="6099193"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30" name="Picture Placeholder 5">
            <a:extLst>
              <a:ext uri="{FF2B5EF4-FFF2-40B4-BE49-F238E27FC236}">
                <a16:creationId xmlns:a16="http://schemas.microsoft.com/office/drawing/2014/main" id="{63E61DD7-F712-223E-D81D-8475FC510E8F}"/>
              </a:ext>
            </a:extLst>
          </p:cNvPr>
          <p:cNvSpPr>
            <a:spLocks noGrp="1"/>
          </p:cNvSpPr>
          <p:nvPr>
            <p:ph type="pic" sz="quarter" idx="49"/>
          </p:nvPr>
        </p:nvSpPr>
        <p:spPr>
          <a:xfrm>
            <a:off x="8979958"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cxnSp>
        <p:nvCxnSpPr>
          <p:cNvPr id="5" name="Straight Connector 4">
            <a:extLst>
              <a:ext uri="{FF2B5EF4-FFF2-40B4-BE49-F238E27FC236}">
                <a16:creationId xmlns:a16="http://schemas.microsoft.com/office/drawing/2014/main" id="{3B46F8D6-A68A-BD10-9150-104DAA950FBA}"/>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92229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
        <p:nvSpPr>
          <p:cNvPr id="7" name="Rectangle 6">
            <a:extLst>
              <a:ext uri="{FF2B5EF4-FFF2-40B4-BE49-F238E27FC236}">
                <a16:creationId xmlns:a16="http://schemas.microsoft.com/office/drawing/2014/main" id="{A70C8C98-8540-F243-A7E5-72B42C482D10}"/>
              </a:ext>
            </a:extLst>
          </p:cNvPr>
          <p:cNvSpPr>
            <a:spLocks noChangeArrowheads="1"/>
          </p:cNvSpPr>
          <p:nvPr userDrawn="1"/>
        </p:nvSpPr>
        <p:spPr bwMode="auto">
          <a:xfrm>
            <a:off x="7326471" y="0"/>
            <a:ext cx="4655186" cy="751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br>
              <a:rPr lang="en-US" sz="3000" b="0" i="0" dirty="0">
                <a:solidFill>
                  <a:schemeClr val="bg1">
                    <a:alpha val="25000"/>
                  </a:schemeClr>
                </a:solidFill>
                <a:effectLst/>
                <a:latin typeface="Arial" panose="020B0604020202020204" pitchFamily="34" charset="0"/>
              </a:rPr>
            </a:br>
            <a:r>
              <a:rPr lang="en-US" sz="3000" b="0" i="0" dirty="0" err="1">
                <a:solidFill>
                  <a:schemeClr val="bg1">
                    <a:alpha val="25000"/>
                  </a:schemeClr>
                </a:solidFill>
                <a:effectLst/>
                <a:latin typeface="Arial" panose="020B0604020202020204" pitchFamily="34" charset="0"/>
              </a:rPr>
              <a:t>Köszönöm</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endParaRPr lang="te-IN" sz="3000" b="0" i="0" dirty="0">
              <a:solidFill>
                <a:schemeClr val="bg1">
                  <a:alpha val="25000"/>
                </a:schemeClr>
              </a:solidFill>
              <a:effectLst/>
              <a:latin typeface="Arial" panose="020B0604020202020204" pitchFamily="34" charset="0"/>
            </a:endParaRPr>
          </a:p>
        </p:txBody>
      </p:sp>
    </p:spTree>
    <p:extLst>
      <p:ext uri="{BB962C8B-B14F-4D97-AF65-F5344CB8AC3E}">
        <p14:creationId xmlns:p14="http://schemas.microsoft.com/office/powerpoint/2010/main" val="210092306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5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50" dirty="0">
                <a:solidFill>
                  <a:schemeClr val="bg1"/>
                </a:solidFill>
                <a:latin typeface="Arial" panose="020B0604020202020204" pitchFamily="34" charset="0"/>
                <a:cs typeface="Arial" panose="020B0604020202020204" pitchFamily="34" charset="0"/>
              </a:rPr>
            </a:br>
            <a:r>
              <a:rPr lang="en-US" altLang="x-none" sz="1050" dirty="0" err="1">
                <a:solidFill>
                  <a:schemeClr val="bg1"/>
                </a:solidFill>
                <a:latin typeface="Arial" panose="020B0604020202020204" pitchFamily="34" charset="0"/>
                <a:cs typeface="Arial" panose="020B0604020202020204" pitchFamily="34" charset="0"/>
              </a:rPr>
              <a:t>www.arm.com</a:t>
            </a:r>
            <a:r>
              <a:rPr lang="en-US" altLang="x-none" sz="1050" dirty="0">
                <a:solidFill>
                  <a:schemeClr val="bg1"/>
                </a:solidFill>
                <a:latin typeface="Arial" panose="020B0604020202020204" pitchFamily="34" charset="0"/>
                <a:cs typeface="Arial" panose="020B0604020202020204" pitchFamily="34" charset="0"/>
              </a:rPr>
              <a:t>/company/policies/trademarks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57067854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3BE21B-48FE-4819-671D-2419665E8DF2}"/>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024812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bg1"/>
                </a:solidFill>
                <a:latin typeface="Arial" panose="020B0604020202020204" pitchFamily="34" charset="0"/>
                <a:cs typeface="Arial" panose="020B0604020202020204" pitchFamily="34" charset="0"/>
              </a:rPr>
            </a:br>
            <a:r>
              <a:rPr lang="en-US" altLang="x-none" sz="800" dirty="0">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bg1"/>
                </a:solidFill>
                <a:latin typeface="Arial" panose="020B0604020202020204" pitchFamily="34" charset="0"/>
                <a:cs typeface="Arial" panose="020B0604020202020204" pitchFamily="34" charset="0"/>
              </a:rPr>
            </a:br>
            <a:r>
              <a:rPr lang="en-US" altLang="x-none" sz="800" dirty="0" err="1">
                <a:solidFill>
                  <a:schemeClr val="bg1"/>
                </a:solidFill>
                <a:latin typeface="Arial" panose="020B0604020202020204" pitchFamily="34" charset="0"/>
                <a:cs typeface="Arial" panose="020B0604020202020204" pitchFamily="34" charset="0"/>
              </a:rPr>
              <a:t>www.arm.com</a:t>
            </a:r>
            <a:r>
              <a:rPr lang="en-US" altLang="x-none" sz="800" dirty="0">
                <a:solidFill>
                  <a:schemeClr val="bg1"/>
                </a:solidFill>
                <a:latin typeface="Arial" panose="020B0604020202020204" pitchFamily="34" charset="0"/>
                <a:cs typeface="Arial" panose="020B0604020202020204" pitchFamily="34" charset="0"/>
              </a:rPr>
              <a:t>/company/policies/trademarks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6534842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49039377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00" dirty="0">
                <a:solidFill>
                  <a:schemeClr val="bg1"/>
                </a:solidFill>
                <a:latin typeface="Arial" panose="020B0604020202020204" pitchFamily="34" charset="0"/>
                <a:cs typeface="Arial" panose="020B0604020202020204" pitchFamily="34" charset="0"/>
              </a:rPr>
            </a:br>
            <a:r>
              <a:rPr lang="en-US" altLang="x-none" sz="1000" dirty="0" err="1">
                <a:solidFill>
                  <a:schemeClr val="bg1"/>
                </a:solidFill>
                <a:latin typeface="Arial" panose="020B0604020202020204" pitchFamily="34" charset="0"/>
                <a:cs typeface="Arial" panose="020B0604020202020204" pitchFamily="34" charset="0"/>
              </a:rPr>
              <a:t>www.arm.com</a:t>
            </a:r>
            <a:r>
              <a:rPr lang="en-US" altLang="x-none" sz="1000" dirty="0">
                <a:solidFill>
                  <a:schemeClr val="bg1"/>
                </a:solidFill>
                <a:latin typeface="Arial" panose="020B0604020202020204" pitchFamily="34" charset="0"/>
                <a:cs typeface="Arial" panose="020B0604020202020204" pitchFamily="34" charset="0"/>
              </a:rPr>
              <a:t>/company/policies/trademarks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31021248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7" name="Rectangle 6">
            <a:extLst>
              <a:ext uri="{FF2B5EF4-FFF2-40B4-BE49-F238E27FC236}">
                <a16:creationId xmlns:a16="http://schemas.microsoft.com/office/drawing/2014/main" id="{E044550B-7010-FD6C-92CE-3911285D5E74}"/>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Danke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Gracias</a:t>
            </a:r>
            <a:br>
              <a:rPr lang="en-US" altLang="en-US" sz="3000" dirty="0">
                <a:solidFill>
                  <a:schemeClr val="tx1">
                    <a:alpha val="25000"/>
                  </a:schemeClr>
                </a:solidFill>
                <a:latin typeface="Arial" panose="020B0604020202020204" pitchFamily="34" charset="0"/>
                <a:cs typeface="Arial" panose="020B0604020202020204" pitchFamily="34" charset="0"/>
              </a:rPr>
            </a:br>
            <a:r>
              <a:rPr lang="en-US" altLang="en-US" sz="3000" dirty="0" err="1">
                <a:solidFill>
                  <a:schemeClr val="tx1">
                    <a:alpha val="25000"/>
                  </a:schemeClr>
                </a:solidFill>
                <a:latin typeface="Arial" panose="020B0604020202020204" pitchFamily="34" charset="0"/>
                <a:cs typeface="Arial" panose="020B0604020202020204" pitchFamily="34" charset="0"/>
              </a:rPr>
              <a:t>Grazie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谢谢</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ありがとう</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감사합니다</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धन्यवाद</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tx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tx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tx1">
                    <a:alpha val="25000"/>
                  </a:schemeClr>
                </a:solidFill>
                <a:latin typeface="Arial" panose="020B0604020202020204" pitchFamily="34" charset="0"/>
              </a:rPr>
              <a:t>ধন্যবাদ</a:t>
            </a:r>
            <a:br>
              <a:rPr lang="en-US" altLang="en-US" sz="3000" dirty="0">
                <a:solidFill>
                  <a:schemeClr val="tx1">
                    <a:alpha val="25000"/>
                  </a:schemeClr>
                </a:solidFill>
                <a:latin typeface="Arial" panose="020B0604020202020204" pitchFamily="34" charset="0"/>
                <a:cs typeface="Arial" panose="020B0604020202020204" pitchFamily="34" charset="0"/>
              </a:rPr>
            </a:br>
            <a:r>
              <a:rPr lang="he-IL" altLang="en-US" sz="3000" dirty="0">
                <a:solidFill>
                  <a:schemeClr val="tx1">
                    <a:alpha val="25000"/>
                  </a:schemeClr>
                </a:solidFill>
                <a:latin typeface="Arial" panose="020B0604020202020204" pitchFamily="34" charset="0"/>
                <a:cs typeface="Arial" panose="020B0604020202020204" pitchFamily="34" charset="0"/>
              </a:rPr>
              <a:t>תודה</a:t>
            </a:r>
            <a:endParaRPr lang="en-GB"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tx1">
                    <a:alpha val="25000"/>
                  </a:schemeClr>
                </a:solidFill>
                <a:effectLst/>
                <a:latin typeface="Arial" panose="020B0604020202020204" pitchFamily="34" charset="0"/>
              </a:rPr>
              <a:t>ధన్యవాదములు</a:t>
            </a:r>
            <a:endParaRPr lang="en-US" sz="3000" b="0" i="0" dirty="0">
              <a:solidFill>
                <a:schemeClr val="tx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tx1">
                    <a:alpha val="25000"/>
                  </a:schemeClr>
                </a:solidFill>
                <a:effectLst/>
                <a:latin typeface="Arial" panose="020B0604020202020204" pitchFamily="34" charset="0"/>
              </a:rPr>
              <a:t>Köszönöm</a:t>
            </a:r>
            <a:endParaRPr lang="te-IN" sz="3000" b="0" i="0" dirty="0">
              <a:solidFill>
                <a:schemeClr val="tx1">
                  <a:alpha val="25000"/>
                </a:schemeClr>
              </a:solidFill>
              <a:effectLst/>
              <a:latin typeface="Arial" panose="020B0604020202020204" pitchFamily="34" charset="0"/>
            </a:endParaRPr>
          </a:p>
        </p:txBody>
      </p:sp>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25235108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tx1"/>
                </a:solidFill>
                <a:latin typeface="Arial" panose="020B0604020202020204" pitchFamily="34" charset="0"/>
                <a:cs typeface="Arial" panose="020B0604020202020204" pitchFamily="34" charset="0"/>
              </a:rPr>
            </a:br>
            <a:r>
              <a:rPr lang="en-US" altLang="x-none" sz="800" dirty="0">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accent2"/>
                </a:solidFill>
                <a:latin typeface="Arial" panose="020B0604020202020204" pitchFamily="34" charset="0"/>
                <a:cs typeface="Arial" panose="020B0604020202020204" pitchFamily="34" charset="0"/>
              </a:rPr>
            </a:br>
            <a:r>
              <a:rPr lang="en-US" altLang="x-none" sz="800" dirty="0" err="1">
                <a:solidFill>
                  <a:schemeClr val="accent2"/>
                </a:solidFill>
                <a:latin typeface="Arial" panose="020B0604020202020204" pitchFamily="34" charset="0"/>
                <a:cs typeface="Arial" panose="020B0604020202020204" pitchFamily="34" charset="0"/>
              </a:rPr>
              <a:t>www.arm.com</a:t>
            </a:r>
            <a:r>
              <a:rPr lang="en-US" altLang="x-none" sz="800" dirty="0">
                <a:solidFill>
                  <a:schemeClr val="accent2"/>
                </a:solidFill>
                <a:latin typeface="Arial" panose="020B0604020202020204" pitchFamily="34" charset="0"/>
                <a:cs typeface="Arial" panose="020B0604020202020204" pitchFamily="34" charset="0"/>
              </a:rPr>
              <a:t>/company/policies/trademarks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29013275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2.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4.pn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51" Type="http://schemas.openxmlformats.org/officeDocument/2006/relationships/image" Target="../media/image5.svg"/><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r:embed="rId50">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2" r:id="rId2"/>
    <p:sldLayoutId id="2147485713" r:id="rId3"/>
    <p:sldLayoutId id="2147485714" r:id="rId4"/>
    <p:sldLayoutId id="2147485600" r:id="rId5"/>
    <p:sldLayoutId id="2147485578" r:id="rId6"/>
    <p:sldLayoutId id="2147485598" r:id="rId7"/>
    <p:sldLayoutId id="2147485657" r:id="rId8"/>
    <p:sldLayoutId id="2147485719" r:id="rId9"/>
    <p:sldLayoutId id="2147485658" r:id="rId10"/>
    <p:sldLayoutId id="2147485715" r:id="rId11"/>
    <p:sldLayoutId id="2147485716" r:id="rId12"/>
    <p:sldLayoutId id="2147485717" r:id="rId13"/>
    <p:sldLayoutId id="2147485516" r:id="rId14"/>
    <p:sldLayoutId id="2147485567" r:id="rId15"/>
    <p:sldLayoutId id="2147485539" r:id="rId16"/>
    <p:sldLayoutId id="2147485540" r:id="rId17"/>
    <p:sldLayoutId id="2147485436" r:id="rId18"/>
    <p:sldLayoutId id="2147485523" r:id="rId19"/>
    <p:sldLayoutId id="2147485574" r:id="rId20"/>
    <p:sldLayoutId id="2147485575" r:id="rId21"/>
    <p:sldLayoutId id="2147485576" r:id="rId22"/>
    <p:sldLayoutId id="2147485440" r:id="rId23"/>
    <p:sldLayoutId id="2147485441" r:id="rId24"/>
    <p:sldLayoutId id="2147485442" r:id="rId25"/>
    <p:sldLayoutId id="2147485443" r:id="rId26"/>
    <p:sldLayoutId id="2147485445" r:id="rId27"/>
    <p:sldLayoutId id="2147485446" r:id="rId28"/>
    <p:sldLayoutId id="2147485447" r:id="rId29"/>
    <p:sldLayoutId id="2147485448" r:id="rId30"/>
    <p:sldLayoutId id="2147485449" r:id="rId31"/>
    <p:sldLayoutId id="2147485450" r:id="rId32"/>
    <p:sldLayoutId id="2147485586" r:id="rId33"/>
    <p:sldLayoutId id="2147485587" r:id="rId34"/>
    <p:sldLayoutId id="2147485588" r:id="rId35"/>
    <p:sldLayoutId id="2147485589" r:id="rId36"/>
    <p:sldLayoutId id="2147485591" r:id="rId37"/>
    <p:sldLayoutId id="2147485592" r:id="rId38"/>
    <p:sldLayoutId id="2147485593" r:id="rId39"/>
    <p:sldLayoutId id="2147485452" r:id="rId40"/>
    <p:sldLayoutId id="2147485590" r:id="rId41"/>
    <p:sldLayoutId id="2147485527" r:id="rId42"/>
    <p:sldLayoutId id="2147485453" r:id="rId43"/>
    <p:sldLayoutId id="2147485561" r:id="rId44"/>
    <p:sldLayoutId id="2147485513" r:id="rId45"/>
    <p:sldLayoutId id="2147485570" r:id="rId46"/>
    <p:sldLayoutId id="2147485529" r:id="rId47"/>
    <p:sldLayoutId id="2147485792"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Public © 2025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r:embed="rId50">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70" r:id="rId2"/>
    <p:sldLayoutId id="2147485771" r:id="rId3"/>
    <p:sldLayoutId id="2147485772" r:id="rId4"/>
    <p:sldLayoutId id="2147485773" r:id="rId5"/>
    <p:sldLayoutId id="2147485774" r:id="rId6"/>
    <p:sldLayoutId id="2147485775" r:id="rId7"/>
    <p:sldLayoutId id="2147485776" r:id="rId8"/>
    <p:sldLayoutId id="2147485777" r:id="rId9"/>
    <p:sldLayoutId id="2147485778" r:id="rId10"/>
    <p:sldLayoutId id="2147485779" r:id="rId11"/>
    <p:sldLayoutId id="2147485780" r:id="rId12"/>
    <p:sldLayoutId id="2147485781" r:id="rId13"/>
    <p:sldLayoutId id="2147485782" r:id="rId14"/>
    <p:sldLayoutId id="2147485783" r:id="rId15"/>
    <p:sldLayoutId id="2147485784" r:id="rId16"/>
    <p:sldLayoutId id="2147485785" r:id="rId17"/>
    <p:sldLayoutId id="2147485786" r:id="rId18"/>
    <p:sldLayoutId id="2147485787" r:id="rId19"/>
    <p:sldLayoutId id="2147485788" r:id="rId20"/>
    <p:sldLayoutId id="2147485789" r:id="rId21"/>
    <p:sldLayoutId id="2147485790" r:id="rId22"/>
    <p:sldLayoutId id="2147485680" r:id="rId23"/>
    <p:sldLayoutId id="2147485681" r:id="rId24"/>
    <p:sldLayoutId id="2147485682" r:id="rId25"/>
    <p:sldLayoutId id="2147485683" r:id="rId26"/>
    <p:sldLayoutId id="2147485685" r:id="rId27"/>
    <p:sldLayoutId id="2147485686" r:id="rId28"/>
    <p:sldLayoutId id="2147485687" r:id="rId29"/>
    <p:sldLayoutId id="2147485688" r:id="rId30"/>
    <p:sldLayoutId id="2147485689" r:id="rId31"/>
    <p:sldLayoutId id="2147485690" r:id="rId32"/>
    <p:sldLayoutId id="2147485708" r:id="rId33"/>
    <p:sldLayoutId id="2147485691" r:id="rId34"/>
    <p:sldLayoutId id="2147485692" r:id="rId35"/>
    <p:sldLayoutId id="2147485693" r:id="rId36"/>
    <p:sldLayoutId id="2147485694" r:id="rId37"/>
    <p:sldLayoutId id="2147485695" r:id="rId38"/>
    <p:sldLayoutId id="2147485696" r:id="rId39"/>
    <p:sldLayoutId id="2147485697" r:id="rId40"/>
    <p:sldLayoutId id="2147485761" r:id="rId41"/>
    <p:sldLayoutId id="2147485762" r:id="rId42"/>
    <p:sldLayoutId id="2147485763" r:id="rId43"/>
    <p:sldLayoutId id="2147485764" r:id="rId44"/>
    <p:sldLayoutId id="2147485765" r:id="rId45"/>
    <p:sldLayoutId id="2147485766" r:id="rId46"/>
    <p:sldLayoutId id="2147485767" r:id="rId47"/>
    <p:sldLayoutId id="2147485768"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D1E9-7DF1-3F05-9CB5-C0525FD77CF5}"/>
              </a:ext>
            </a:extLst>
          </p:cNvPr>
          <p:cNvSpPr>
            <a:spLocks noGrp="1"/>
          </p:cNvSpPr>
          <p:nvPr>
            <p:ph type="title"/>
          </p:nvPr>
        </p:nvSpPr>
        <p:spPr/>
        <p:txBody>
          <a:bodyPr/>
          <a:lstStyle/>
          <a:p>
            <a:r>
              <a:rPr lang="en-US" dirty="0"/>
              <a:t>CMSIS-RTOS2</a:t>
            </a:r>
          </a:p>
        </p:txBody>
      </p:sp>
      <p:sp>
        <p:nvSpPr>
          <p:cNvPr id="3" name="Subtitle 2">
            <a:extLst>
              <a:ext uri="{FF2B5EF4-FFF2-40B4-BE49-F238E27FC236}">
                <a16:creationId xmlns:a16="http://schemas.microsoft.com/office/drawing/2014/main" id="{E641D73C-5600-AA7C-D0BC-0855D8AAEEF6}"/>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468F20BB-F77E-542F-E4C0-C6351C87788A}"/>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2ECC15F6-527A-72D1-0156-F4FEAB1A7BB9}"/>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355377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Content of this Module</a:t>
            </a:r>
          </a:p>
        </p:txBody>
      </p:sp>
      <p:sp>
        <p:nvSpPr>
          <p:cNvPr id="2" name="Content Placeholder 1"/>
          <p:cNvSpPr>
            <a:spLocks noGrp="1"/>
          </p:cNvSpPr>
          <p:nvPr>
            <p:ph idx="1"/>
          </p:nvPr>
        </p:nvSpPr>
        <p:spPr/>
        <p:txBody>
          <a:bodyPr/>
          <a:lstStyle/>
          <a:p>
            <a:pPr marL="184150" lvl="5" indent="-182563"/>
            <a:r>
              <a:rPr lang="en-GB" dirty="0"/>
              <a:t>We cover the following topics in this module</a:t>
            </a:r>
          </a:p>
          <a:p>
            <a:pPr marL="184150" lvl="5" indent="-182563"/>
            <a:endParaRPr lang="en-GB" dirty="0"/>
          </a:p>
          <a:p>
            <a:pPr marL="990600" lvl="5" indent="-285750"/>
            <a:r>
              <a:rPr lang="en-GB" sz="3200" dirty="0"/>
              <a:t>Why RTOS</a:t>
            </a:r>
          </a:p>
          <a:p>
            <a:pPr marL="990600" lvl="5" indent="-285750"/>
            <a:r>
              <a:rPr lang="en-GB" sz="3200" dirty="0"/>
              <a:t>Compare with Super loop</a:t>
            </a:r>
          </a:p>
          <a:p>
            <a:pPr marL="990600" lvl="5" indent="-285750"/>
            <a:r>
              <a:rPr lang="en-GB" sz="3200" dirty="0"/>
              <a:t>CMSIS-RTOS2</a:t>
            </a:r>
          </a:p>
          <a:p>
            <a:pPr marL="990600" lvl="5" indent="-285750"/>
            <a:r>
              <a:rPr lang="en-GB" sz="3200" dirty="0"/>
              <a:t>CMSIS</a:t>
            </a:r>
          </a:p>
        </p:txBody>
      </p:sp>
    </p:spTree>
    <p:extLst>
      <p:ext uri="{BB962C8B-B14F-4D97-AF65-F5344CB8AC3E}">
        <p14:creationId xmlns:p14="http://schemas.microsoft.com/office/powerpoint/2010/main" val="207164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Real-Time Operating Systems </a:t>
            </a:r>
            <a:endParaRPr lang="en-US" dirty="0"/>
          </a:p>
        </p:txBody>
      </p:sp>
      <p:sp>
        <p:nvSpPr>
          <p:cNvPr id="2" name="Content Placeholder 1"/>
          <p:cNvSpPr>
            <a:spLocks noGrp="1"/>
          </p:cNvSpPr>
          <p:nvPr>
            <p:ph idx="1"/>
          </p:nvPr>
        </p:nvSpPr>
        <p:spPr/>
        <p:txBody>
          <a:bodyPr/>
          <a:lstStyle/>
          <a:p>
            <a:r>
              <a:rPr lang="en-GB" dirty="0"/>
              <a:t>Real-time operating systems (RTOS) are designed to meet harsh timing constraints</a:t>
            </a:r>
          </a:p>
          <a:p>
            <a:pPr lvl="1"/>
            <a:r>
              <a:rPr lang="en-GB" dirty="0"/>
              <a:t>Hard real-time – critical Threads which have to be completed on time </a:t>
            </a:r>
          </a:p>
          <a:p>
            <a:pPr lvl="1"/>
            <a:r>
              <a:rPr lang="en-GB" dirty="0"/>
              <a:t>Soft real-time – may continue finishing the Thread even missing the deadline</a:t>
            </a:r>
          </a:p>
          <a:p>
            <a:r>
              <a:rPr lang="en-GB" dirty="0"/>
              <a:t>Industrial applications: robots, aircraft control …</a:t>
            </a:r>
          </a:p>
          <a:p>
            <a:r>
              <a:rPr lang="en-GB" dirty="0"/>
              <a:t>Key design requirements:</a:t>
            </a:r>
          </a:p>
          <a:p>
            <a:pPr lvl="4">
              <a:buFont typeface="Wingdings" panose="05000000000000000000" pitchFamily="2" charset="2"/>
              <a:buChar char="§"/>
            </a:pPr>
            <a:r>
              <a:rPr lang="en-GB" dirty="0"/>
              <a:t>Predictability and determinism</a:t>
            </a:r>
            <a:endParaRPr lang="en-US" dirty="0"/>
          </a:p>
          <a:p>
            <a:pPr lvl="4">
              <a:buFont typeface="Wingdings" panose="05000000000000000000" pitchFamily="2" charset="2"/>
              <a:buChar char="§"/>
            </a:pPr>
            <a:r>
              <a:rPr lang="en-GB" dirty="0"/>
              <a:t>Speed – fast enough while keeping high predictability and determinism</a:t>
            </a:r>
          </a:p>
          <a:p>
            <a:pPr lvl="4">
              <a:buFont typeface="Wingdings" panose="05000000000000000000" pitchFamily="2" charset="2"/>
              <a:buChar char="§"/>
            </a:pPr>
            <a:r>
              <a:rPr lang="en-GB" dirty="0"/>
              <a:t>Responsive to user control</a:t>
            </a:r>
          </a:p>
          <a:p>
            <a:pPr lvl="4">
              <a:buFont typeface="Wingdings" panose="05000000000000000000" pitchFamily="2" charset="2"/>
              <a:buChar char="§"/>
            </a:pPr>
            <a:r>
              <a:rPr lang="en-GB" dirty="0"/>
              <a:t>Fail-safety</a:t>
            </a:r>
          </a:p>
          <a:p>
            <a:pPr lvl="3">
              <a:buFont typeface="Wingdings" panose="05000000000000000000" pitchFamily="2" charset="2"/>
              <a:buChar char="§"/>
            </a:pPr>
            <a:r>
              <a:rPr lang="en-GB" dirty="0"/>
              <a:t>Advanced scheduling and memory allocation</a:t>
            </a:r>
          </a:p>
          <a:p>
            <a:pPr lvl="5">
              <a:buFont typeface="Wingdings" panose="05000000000000000000" pitchFamily="2" charset="2"/>
              <a:buChar char="§"/>
            </a:pPr>
            <a:endParaRPr lang="en-GB" dirty="0"/>
          </a:p>
        </p:txBody>
      </p:sp>
    </p:spTree>
    <p:extLst>
      <p:ext uri="{BB962C8B-B14F-4D97-AF65-F5344CB8AC3E}">
        <p14:creationId xmlns:p14="http://schemas.microsoft.com/office/powerpoint/2010/main" val="2372084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Why RTOS on embedded systems?</a:t>
            </a:r>
            <a:endParaRPr lang="en-US" dirty="0"/>
          </a:p>
        </p:txBody>
      </p:sp>
      <p:sp>
        <p:nvSpPr>
          <p:cNvPr id="2" name="Content Placeholder 1"/>
          <p:cNvSpPr>
            <a:spLocks noGrp="1"/>
          </p:cNvSpPr>
          <p:nvPr>
            <p:ph idx="1"/>
          </p:nvPr>
        </p:nvSpPr>
        <p:spPr/>
        <p:txBody>
          <a:bodyPr/>
          <a:lstStyle/>
          <a:p>
            <a:r>
              <a:rPr lang="en-GB" dirty="0"/>
              <a:t>Although it is possible to implement everything in a huge sequential loop…</a:t>
            </a:r>
          </a:p>
          <a:p>
            <a:pPr lvl="1"/>
            <a:r>
              <a:rPr lang="en-GB" dirty="0"/>
              <a:t>Uses lengthy interrupt service routine (ISR)</a:t>
            </a:r>
          </a:p>
          <a:p>
            <a:pPr lvl="1"/>
            <a:r>
              <a:rPr lang="en-GB" dirty="0"/>
              <a:t>Needs to keep synchronization between ISRs</a:t>
            </a:r>
          </a:p>
          <a:p>
            <a:pPr lvl="1"/>
            <a:r>
              <a:rPr lang="en-GB" dirty="0"/>
              <a:t>Poor predictability (nested ISRs) and extensibility</a:t>
            </a:r>
          </a:p>
          <a:p>
            <a:pPr lvl="1"/>
            <a:r>
              <a:rPr lang="en-GB" dirty="0"/>
              <a:t>Change of the ISR or the Super-Loop ripple through the entire system</a:t>
            </a:r>
          </a:p>
          <a:p>
            <a:r>
              <a:rPr lang="en-GB" dirty="0"/>
              <a:t>RTOS: all computation requests are encapsulated into Threads and scheduled on demand</a:t>
            </a:r>
          </a:p>
          <a:p>
            <a:pPr lvl="1"/>
            <a:r>
              <a:rPr lang="en-GB" dirty="0"/>
              <a:t>Better program flow and event response</a:t>
            </a:r>
          </a:p>
          <a:p>
            <a:pPr lvl="1"/>
            <a:r>
              <a:rPr lang="en-GB" dirty="0" err="1"/>
              <a:t>MultiThreading</a:t>
            </a:r>
            <a:endParaRPr lang="en-GB" dirty="0"/>
          </a:p>
          <a:p>
            <a:pPr lvl="1"/>
            <a:r>
              <a:rPr lang="en-GB" dirty="0"/>
              <a:t>Concise ISRs thus deterministic</a:t>
            </a:r>
          </a:p>
          <a:p>
            <a:pPr lvl="1"/>
            <a:r>
              <a:rPr lang="en-GB" dirty="0"/>
              <a:t>Better communication</a:t>
            </a:r>
          </a:p>
          <a:p>
            <a:pPr lvl="1"/>
            <a:r>
              <a:rPr lang="en-GB" dirty="0"/>
              <a:t>Better resource management</a:t>
            </a:r>
          </a:p>
          <a:p>
            <a:pPr lvl="1"/>
            <a:r>
              <a:rPr lang="en-GB" dirty="0"/>
              <a:t>Easier to develop applications</a:t>
            </a:r>
          </a:p>
          <a:p>
            <a:endParaRPr lang="en-US" dirty="0"/>
          </a:p>
          <a:p>
            <a:endParaRPr lang="en-GB" dirty="0"/>
          </a:p>
          <a:p>
            <a:endParaRPr lang="en-GB" dirty="0"/>
          </a:p>
          <a:p>
            <a:endParaRPr lang="en-US" dirty="0"/>
          </a:p>
        </p:txBody>
      </p:sp>
    </p:spTree>
    <p:extLst>
      <p:ext uri="{BB962C8B-B14F-4D97-AF65-F5344CB8AC3E}">
        <p14:creationId xmlns:p14="http://schemas.microsoft.com/office/powerpoint/2010/main" val="3643034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 case in point</a:t>
            </a:r>
            <a:endParaRPr lang="en-US" dirty="0"/>
          </a:p>
        </p:txBody>
      </p:sp>
      <p:sp>
        <p:nvSpPr>
          <p:cNvPr id="2" name="Content Placeholder 1"/>
          <p:cNvSpPr>
            <a:spLocks noGrp="1"/>
          </p:cNvSpPr>
          <p:nvPr>
            <p:ph idx="1"/>
          </p:nvPr>
        </p:nvSpPr>
        <p:spPr>
          <a:xfrm>
            <a:off x="479132" y="914165"/>
            <a:ext cx="11181056" cy="5023399"/>
          </a:xfrm>
        </p:spPr>
        <p:txBody>
          <a:bodyPr/>
          <a:lstStyle/>
          <a:p>
            <a:r>
              <a:rPr lang="en-US" dirty="0"/>
              <a:t>GPS based Speed Camera Alarm and Moving Map</a:t>
            </a:r>
          </a:p>
          <a:p>
            <a:pPr lvl="1"/>
            <a:r>
              <a:rPr lang="en-US" dirty="0"/>
              <a:t>Sounds alarm when approaching a speed camera</a:t>
            </a:r>
          </a:p>
          <a:p>
            <a:pPr lvl="1"/>
            <a:r>
              <a:rPr lang="en-US" dirty="0"/>
              <a:t>Display’s vehicle position on LCD</a:t>
            </a:r>
          </a:p>
          <a:p>
            <a:pPr lvl="1"/>
            <a:r>
              <a:rPr lang="en-US" dirty="0"/>
              <a:t>Also logs driver’s position information</a:t>
            </a:r>
          </a:p>
          <a:p>
            <a:pPr lvl="1"/>
            <a:r>
              <a:rPr lang="en-US" dirty="0"/>
              <a:t>Hardware: GPS, user switches, speaker, LCD, flash memory</a:t>
            </a:r>
            <a:endParaRPr lang="en-GB" dirty="0"/>
          </a:p>
          <a:p>
            <a:r>
              <a:rPr lang="en-GB" dirty="0"/>
              <a:t>Threads:</a:t>
            </a:r>
            <a:endParaRPr lang="en-US" dirty="0"/>
          </a:p>
          <a:p>
            <a:pPr lvl="1"/>
            <a:r>
              <a:rPr lang="en-US" dirty="0"/>
              <a:t>Dec: Decode GPS sentence to find current vehicle position.</a:t>
            </a:r>
          </a:p>
          <a:p>
            <a:pPr lvl="1"/>
            <a:r>
              <a:rPr lang="en-US" dirty="0"/>
              <a:t>Check: Check to see if approaching any speed camera locations. Takes longer as the number of cameras increases.</a:t>
            </a:r>
          </a:p>
          <a:p>
            <a:pPr lvl="1"/>
            <a:r>
              <a:rPr lang="en-US" dirty="0"/>
              <a:t>Rec: Record position to flash memory. Takes a long time if erasing a block.</a:t>
            </a:r>
          </a:p>
          <a:p>
            <a:pPr lvl="1"/>
            <a:r>
              <a:rPr lang="en-US" dirty="0" err="1"/>
              <a:t>Sw</a:t>
            </a:r>
            <a:r>
              <a:rPr lang="en-US" dirty="0"/>
              <a:t>: Read user input switches.</a:t>
            </a:r>
          </a:p>
          <a:p>
            <a:pPr lvl="1"/>
            <a:r>
              <a:rPr lang="en-US" dirty="0"/>
              <a:t>LCD: Update LCD with map.</a:t>
            </a:r>
          </a:p>
          <a:p>
            <a:r>
              <a:rPr lang="en-GB" dirty="0"/>
              <a:t>How to implement in a super loop?</a:t>
            </a:r>
          </a:p>
          <a:p>
            <a:pPr lvl="1"/>
            <a:r>
              <a:rPr lang="en-GB" dirty="0"/>
              <a:t>Run Threads in the same order every time?</a:t>
            </a:r>
          </a:p>
          <a:p>
            <a:pPr lvl="1"/>
            <a:r>
              <a:rPr lang="en-GB" dirty="0"/>
              <a:t>Allow preemption?</a:t>
            </a:r>
            <a:endParaRPr lang="en-US" dirty="0"/>
          </a:p>
          <a:p>
            <a:pPr marL="538162" lvl="1" indent="0">
              <a:buNone/>
            </a:pPr>
            <a:endParaRPr lang="en-US" dirty="0"/>
          </a:p>
          <a:p>
            <a:endParaRPr lang="en-US" dirty="0"/>
          </a:p>
        </p:txBody>
      </p:sp>
      <p:sp>
        <p:nvSpPr>
          <p:cNvPr id="5" name="TextBox 4"/>
          <p:cNvSpPr txBox="1"/>
          <p:nvPr/>
        </p:nvSpPr>
        <p:spPr>
          <a:xfrm>
            <a:off x="8558885" y="1023576"/>
            <a:ext cx="595313" cy="369888"/>
          </a:xfrm>
          <a:prstGeom prst="rect">
            <a:avLst/>
          </a:prstGeom>
          <a:solidFill>
            <a:schemeClr val="accent5">
              <a:lumMod val="90000"/>
            </a:schemeClr>
          </a:solidFill>
        </p:spPr>
        <p:txBody>
          <a:bodyPr wrap="none">
            <a:spAutoFit/>
          </a:bodyPr>
          <a:lstStyle/>
          <a:p>
            <a:pPr algn="ctr">
              <a:defRPr/>
            </a:pPr>
            <a:r>
              <a:rPr lang="en-US" dirty="0">
                <a:latin typeface="Arial" pitchFamily="34" charset="0"/>
                <a:cs typeface="Arial" pitchFamily="34" charset="0"/>
              </a:rPr>
              <a:t>Dec</a:t>
            </a:r>
          </a:p>
        </p:txBody>
      </p:sp>
      <p:sp>
        <p:nvSpPr>
          <p:cNvPr id="6" name="TextBox 5"/>
          <p:cNvSpPr txBox="1"/>
          <p:nvPr/>
        </p:nvSpPr>
        <p:spPr>
          <a:xfrm>
            <a:off x="8558884" y="1404576"/>
            <a:ext cx="2438400" cy="369888"/>
          </a:xfrm>
          <a:prstGeom prst="rect">
            <a:avLst/>
          </a:prstGeom>
          <a:solidFill>
            <a:schemeClr val="accent1">
              <a:lumMod val="40000"/>
              <a:lumOff val="60000"/>
            </a:schemeClr>
          </a:solidFill>
        </p:spPr>
        <p:txBody>
          <a:bodyPr>
            <a:spAutoFit/>
          </a:bodyPr>
          <a:lstStyle/>
          <a:p>
            <a:pPr algn="ctr">
              <a:defRPr/>
            </a:pPr>
            <a:r>
              <a:rPr lang="en-US" dirty="0">
                <a:latin typeface="Arial" pitchFamily="34" charset="0"/>
                <a:cs typeface="Arial" pitchFamily="34" charset="0"/>
              </a:rPr>
              <a:t>Check</a:t>
            </a:r>
          </a:p>
        </p:txBody>
      </p:sp>
      <p:sp>
        <p:nvSpPr>
          <p:cNvPr id="7" name="TextBox 5"/>
          <p:cNvSpPr txBox="1">
            <a:spLocks noChangeArrowheads="1"/>
          </p:cNvSpPr>
          <p:nvPr/>
        </p:nvSpPr>
        <p:spPr bwMode="auto">
          <a:xfrm>
            <a:off x="8558884" y="1774464"/>
            <a:ext cx="2971800" cy="3698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a:latin typeface="Arial" charset="0"/>
                <a:cs typeface="Arial" charset="0"/>
              </a:rPr>
              <a:t>Rec</a:t>
            </a:r>
          </a:p>
        </p:txBody>
      </p:sp>
      <p:sp>
        <p:nvSpPr>
          <p:cNvPr id="8" name="TextBox 6"/>
          <p:cNvSpPr txBox="1">
            <a:spLocks noChangeArrowheads="1"/>
          </p:cNvSpPr>
          <p:nvPr/>
        </p:nvSpPr>
        <p:spPr bwMode="auto">
          <a:xfrm>
            <a:off x="8558885" y="2166576"/>
            <a:ext cx="504825" cy="36988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a:latin typeface="Arial" charset="0"/>
                <a:cs typeface="Arial" charset="0"/>
              </a:rPr>
              <a:t>Sw</a:t>
            </a:r>
          </a:p>
        </p:txBody>
      </p:sp>
      <p:sp>
        <p:nvSpPr>
          <p:cNvPr id="9" name="TextBox 8"/>
          <p:cNvSpPr txBox="1"/>
          <p:nvPr/>
        </p:nvSpPr>
        <p:spPr>
          <a:xfrm>
            <a:off x="8558884" y="2547576"/>
            <a:ext cx="1143000" cy="369888"/>
          </a:xfrm>
          <a:prstGeom prst="rect">
            <a:avLst/>
          </a:prstGeom>
          <a:solidFill>
            <a:schemeClr val="accent2">
              <a:lumMod val="40000"/>
              <a:lumOff val="60000"/>
            </a:schemeClr>
          </a:solidFill>
        </p:spPr>
        <p:txBody>
          <a:bodyPr>
            <a:spAutoFit/>
          </a:bodyPr>
          <a:lstStyle/>
          <a:p>
            <a:pPr algn="ctr">
              <a:defRPr/>
            </a:pPr>
            <a:r>
              <a:rPr lang="en-US" dirty="0">
                <a:latin typeface="Arial" pitchFamily="34" charset="0"/>
                <a:cs typeface="Arial" pitchFamily="34" charset="0"/>
              </a:rPr>
              <a:t>LCD</a:t>
            </a:r>
          </a:p>
        </p:txBody>
      </p:sp>
      <p:cxnSp>
        <p:nvCxnSpPr>
          <p:cNvPr id="10" name="Straight Arrow Connector 9"/>
          <p:cNvCxnSpPr>
            <a:cxnSpLocks noChangeShapeType="1"/>
          </p:cNvCxnSpPr>
          <p:nvPr/>
        </p:nvCxnSpPr>
        <p:spPr bwMode="auto">
          <a:xfrm>
            <a:off x="8558884" y="3004776"/>
            <a:ext cx="23622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 name="TextBox 10"/>
          <p:cNvSpPr txBox="1">
            <a:spLocks noChangeArrowheads="1"/>
          </p:cNvSpPr>
          <p:nvPr/>
        </p:nvSpPr>
        <p:spPr bwMode="auto">
          <a:xfrm>
            <a:off x="9472490" y="3087728"/>
            <a:ext cx="611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dirty="0"/>
              <a:t>Time</a:t>
            </a:r>
          </a:p>
        </p:txBody>
      </p:sp>
    </p:spTree>
    <p:extLst>
      <p:ext uri="{BB962C8B-B14F-4D97-AF65-F5344CB8AC3E}">
        <p14:creationId xmlns:p14="http://schemas.microsoft.com/office/powerpoint/2010/main" val="3785107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Super-loop</a:t>
            </a:r>
          </a:p>
        </p:txBody>
      </p:sp>
      <p:sp>
        <p:nvSpPr>
          <p:cNvPr id="12291" name="Content Placeholder 2"/>
          <p:cNvSpPr>
            <a:spLocks noGrp="1"/>
          </p:cNvSpPr>
          <p:nvPr>
            <p:ph idx="1"/>
          </p:nvPr>
        </p:nvSpPr>
        <p:spPr>
          <a:xfrm>
            <a:off x="306309" y="1828800"/>
            <a:ext cx="7110148" cy="5029200"/>
          </a:xfrm>
        </p:spPr>
        <p:txBody>
          <a:bodyPr/>
          <a:lstStyle/>
          <a:p>
            <a:r>
              <a:rPr lang="en-US" sz="2400" dirty="0"/>
              <a:t>Simple but…</a:t>
            </a:r>
          </a:p>
          <a:p>
            <a:pPr lvl="1"/>
            <a:r>
              <a:rPr lang="en-US" sz="2000" dirty="0"/>
              <a:t>Always run the same schedule, regardless of changing conditions and relative importance of Threads.</a:t>
            </a:r>
          </a:p>
          <a:p>
            <a:pPr lvl="1"/>
            <a:r>
              <a:rPr lang="en-US" sz="2000" dirty="0"/>
              <a:t>All Threads run at the same rate. Changing rates requires adding extra calls to the function.</a:t>
            </a:r>
          </a:p>
          <a:p>
            <a:pPr lvl="1"/>
            <a:r>
              <a:rPr lang="en-US" sz="2000" dirty="0"/>
              <a:t>Maximum delay is the sum of all Thread run times. Polling/execution rate is equal to 1/maximum delay.</a:t>
            </a:r>
          </a:p>
          <a:p>
            <a:r>
              <a:rPr lang="en-US" dirty="0"/>
              <a:t>What if we receive GPS position right after Rec starts running? </a:t>
            </a:r>
          </a:p>
          <a:p>
            <a:r>
              <a:rPr lang="en-US" dirty="0"/>
              <a:t>Delays</a:t>
            </a:r>
          </a:p>
          <a:p>
            <a:pPr lvl="1"/>
            <a:r>
              <a:rPr lang="en-US" dirty="0"/>
              <a:t>Have to wait for Rec, </a:t>
            </a:r>
            <a:r>
              <a:rPr lang="en-US" dirty="0" err="1"/>
              <a:t>Sw</a:t>
            </a:r>
            <a:r>
              <a:rPr lang="en-US" dirty="0"/>
              <a:t>, LCD before we start decoding position with Dec.</a:t>
            </a:r>
          </a:p>
          <a:p>
            <a:pPr lvl="1"/>
            <a:r>
              <a:rPr lang="en-US" dirty="0"/>
              <a:t>Have to wait for Rec, </a:t>
            </a:r>
            <a:r>
              <a:rPr lang="en-US" dirty="0" err="1"/>
              <a:t>Sw</a:t>
            </a:r>
            <a:r>
              <a:rPr lang="en-US" dirty="0"/>
              <a:t>, LCD, Dec, Check before we know if we are approaching a speed camera!</a:t>
            </a:r>
            <a:endParaRPr lang="en-US" sz="1600" dirty="0"/>
          </a:p>
          <a:p>
            <a:pPr lvl="1"/>
            <a:endParaRPr lang="en-US" sz="2000" dirty="0"/>
          </a:p>
          <a:p>
            <a:pPr lvl="1">
              <a:buFontTx/>
              <a:buNone/>
            </a:pPr>
            <a:endParaRPr lang="en-US" sz="2000" dirty="0"/>
          </a:p>
        </p:txBody>
      </p:sp>
      <p:sp>
        <p:nvSpPr>
          <p:cNvPr id="4" name="TextBox 3"/>
          <p:cNvSpPr txBox="1"/>
          <p:nvPr/>
        </p:nvSpPr>
        <p:spPr>
          <a:xfrm>
            <a:off x="625437" y="1066800"/>
            <a:ext cx="595035" cy="369332"/>
          </a:xfrm>
          <a:prstGeom prst="rect">
            <a:avLst/>
          </a:prstGeom>
          <a:solidFill>
            <a:schemeClr val="accent5">
              <a:lumMod val="90000"/>
            </a:schemeClr>
          </a:solidFill>
        </p:spPr>
        <p:txBody>
          <a:bodyPr wrap="none">
            <a:spAutoFit/>
          </a:bodyPr>
          <a:lstStyle/>
          <a:p>
            <a:pPr algn="ctr">
              <a:defRPr/>
            </a:pPr>
            <a:r>
              <a:rPr lang="en-US" dirty="0">
                <a:latin typeface="Arial" pitchFamily="34" charset="0"/>
                <a:cs typeface="Arial" pitchFamily="34" charset="0"/>
              </a:rPr>
              <a:t>Dec</a:t>
            </a:r>
          </a:p>
        </p:txBody>
      </p:sp>
      <p:sp>
        <p:nvSpPr>
          <p:cNvPr id="5" name="TextBox 4"/>
          <p:cNvSpPr txBox="1"/>
          <p:nvPr/>
        </p:nvSpPr>
        <p:spPr>
          <a:xfrm>
            <a:off x="1220472" y="1066800"/>
            <a:ext cx="3250353" cy="369888"/>
          </a:xfrm>
          <a:prstGeom prst="rect">
            <a:avLst/>
          </a:prstGeom>
          <a:solidFill>
            <a:schemeClr val="accent1">
              <a:lumMod val="40000"/>
              <a:lumOff val="60000"/>
            </a:schemeClr>
          </a:solidFill>
        </p:spPr>
        <p:txBody>
          <a:bodyPr>
            <a:spAutoFit/>
          </a:bodyPr>
          <a:lstStyle/>
          <a:p>
            <a:pPr algn="ctr">
              <a:defRPr/>
            </a:pPr>
            <a:r>
              <a:rPr lang="en-US" dirty="0">
                <a:latin typeface="Arial" pitchFamily="34" charset="0"/>
                <a:cs typeface="Arial" pitchFamily="34" charset="0"/>
              </a:rPr>
              <a:t>Check</a:t>
            </a:r>
          </a:p>
        </p:txBody>
      </p:sp>
      <p:sp>
        <p:nvSpPr>
          <p:cNvPr id="12294" name="TextBox 5"/>
          <p:cNvSpPr txBox="1">
            <a:spLocks noChangeArrowheads="1"/>
          </p:cNvSpPr>
          <p:nvPr/>
        </p:nvSpPr>
        <p:spPr bwMode="auto">
          <a:xfrm>
            <a:off x="4470824" y="1066800"/>
            <a:ext cx="3961368" cy="3698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a:latin typeface="Arial" charset="0"/>
                <a:cs typeface="Arial" charset="0"/>
              </a:rPr>
              <a:t>Rec</a:t>
            </a:r>
          </a:p>
        </p:txBody>
      </p:sp>
      <p:sp>
        <p:nvSpPr>
          <p:cNvPr id="12295" name="TextBox 6"/>
          <p:cNvSpPr txBox="1">
            <a:spLocks noChangeArrowheads="1"/>
          </p:cNvSpPr>
          <p:nvPr/>
        </p:nvSpPr>
        <p:spPr bwMode="auto">
          <a:xfrm>
            <a:off x="8432193" y="1066800"/>
            <a:ext cx="505267"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dirty="0" err="1">
                <a:latin typeface="Arial" charset="0"/>
                <a:cs typeface="Arial" charset="0"/>
              </a:rPr>
              <a:t>Sw</a:t>
            </a:r>
            <a:endParaRPr lang="en-US" sz="1800" dirty="0">
              <a:latin typeface="Arial" charset="0"/>
              <a:cs typeface="Arial" charset="0"/>
            </a:endParaRPr>
          </a:p>
        </p:txBody>
      </p:sp>
      <p:sp>
        <p:nvSpPr>
          <p:cNvPr id="8" name="TextBox 7"/>
          <p:cNvSpPr txBox="1"/>
          <p:nvPr/>
        </p:nvSpPr>
        <p:spPr>
          <a:xfrm>
            <a:off x="8937460" y="1066800"/>
            <a:ext cx="1523603" cy="369888"/>
          </a:xfrm>
          <a:prstGeom prst="rect">
            <a:avLst/>
          </a:prstGeom>
          <a:solidFill>
            <a:schemeClr val="accent2">
              <a:lumMod val="40000"/>
              <a:lumOff val="60000"/>
            </a:schemeClr>
          </a:solidFill>
        </p:spPr>
        <p:txBody>
          <a:bodyPr>
            <a:spAutoFit/>
          </a:bodyPr>
          <a:lstStyle/>
          <a:p>
            <a:pPr algn="ctr">
              <a:defRPr/>
            </a:pPr>
            <a:r>
              <a:rPr lang="en-US" dirty="0">
                <a:latin typeface="Arial" pitchFamily="34" charset="0"/>
                <a:cs typeface="Arial" pitchFamily="34" charset="0"/>
              </a:rPr>
              <a:t>LCD</a:t>
            </a:r>
          </a:p>
        </p:txBody>
      </p:sp>
      <p:sp>
        <p:nvSpPr>
          <p:cNvPr id="12297" name="Content Placeholder 2"/>
          <p:cNvSpPr txBox="1">
            <a:spLocks/>
          </p:cNvSpPr>
          <p:nvPr/>
        </p:nvSpPr>
        <p:spPr bwMode="auto">
          <a:xfrm>
            <a:off x="8025898" y="1828800"/>
            <a:ext cx="3656648" cy="2919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b="1" i="1" dirty="0">
                <a:latin typeface="Courier New" pitchFamily="49" charset="0"/>
              </a:rPr>
              <a:t>while (1){</a:t>
            </a:r>
          </a:p>
          <a:p>
            <a:r>
              <a:rPr lang="en-US" b="1" i="1" dirty="0">
                <a:latin typeface="Courier New" pitchFamily="49" charset="0"/>
              </a:rPr>
              <a:t>	Dec();</a:t>
            </a:r>
          </a:p>
          <a:p>
            <a:r>
              <a:rPr lang="en-US" b="1" i="1" dirty="0">
                <a:latin typeface="Courier New" pitchFamily="49" charset="0"/>
              </a:rPr>
              <a:t>	Check();</a:t>
            </a:r>
          </a:p>
          <a:p>
            <a:r>
              <a:rPr lang="en-US" b="1" i="1" dirty="0">
                <a:latin typeface="Courier New" pitchFamily="49" charset="0"/>
              </a:rPr>
              <a:t>	Rec();</a:t>
            </a:r>
          </a:p>
          <a:p>
            <a:r>
              <a:rPr lang="en-US" b="1" i="1" dirty="0">
                <a:latin typeface="Courier New" pitchFamily="49" charset="0"/>
              </a:rPr>
              <a:t>	</a:t>
            </a:r>
            <a:r>
              <a:rPr lang="en-US" b="1" i="1" dirty="0" err="1">
                <a:latin typeface="Courier New" pitchFamily="49" charset="0"/>
              </a:rPr>
              <a:t>Sw</a:t>
            </a:r>
            <a:r>
              <a:rPr lang="en-US" b="1" i="1" dirty="0">
                <a:latin typeface="Courier New" pitchFamily="49" charset="0"/>
              </a:rPr>
              <a:t>();</a:t>
            </a:r>
          </a:p>
          <a:p>
            <a:r>
              <a:rPr lang="en-US" b="1" i="1" dirty="0">
                <a:latin typeface="Courier New" pitchFamily="49" charset="0"/>
              </a:rPr>
              <a:t>	LCD();</a:t>
            </a:r>
          </a:p>
          <a:p>
            <a:r>
              <a:rPr lang="en-US" b="1" i="1" dirty="0">
                <a:latin typeface="Courier New" pitchFamily="49" charset="0"/>
              </a:rPr>
              <a:t>}</a:t>
            </a:r>
          </a:p>
        </p:txBody>
      </p:sp>
      <p:sp>
        <p:nvSpPr>
          <p:cNvPr id="12298" name="Rounded Rectangle 10"/>
          <p:cNvSpPr>
            <a:spLocks noChangeArrowheads="1"/>
          </p:cNvSpPr>
          <p:nvPr/>
        </p:nvSpPr>
        <p:spPr bwMode="auto">
          <a:xfrm>
            <a:off x="625436" y="914400"/>
            <a:ext cx="9835626" cy="6858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9" name="Rounded Rectangle 11"/>
          <p:cNvSpPr>
            <a:spLocks noChangeArrowheads="1"/>
          </p:cNvSpPr>
          <p:nvPr/>
        </p:nvSpPr>
        <p:spPr bwMode="auto">
          <a:xfrm>
            <a:off x="10461063" y="914400"/>
            <a:ext cx="1729351" cy="6858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0" name="Rounded Rectangle 12"/>
          <p:cNvSpPr>
            <a:spLocks noChangeArrowheads="1"/>
          </p:cNvSpPr>
          <p:nvPr/>
        </p:nvSpPr>
        <p:spPr bwMode="auto">
          <a:xfrm>
            <a:off x="1588" y="914400"/>
            <a:ext cx="623848" cy="685800"/>
          </a:xfrm>
          <a:prstGeom prst="roundRect">
            <a:avLst>
              <a:gd name="adj" fmla="val 16667"/>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TextBox 13"/>
          <p:cNvSpPr txBox="1"/>
          <p:nvPr/>
        </p:nvSpPr>
        <p:spPr>
          <a:xfrm>
            <a:off x="10461063" y="1066800"/>
            <a:ext cx="595035" cy="369332"/>
          </a:xfrm>
          <a:prstGeom prst="rect">
            <a:avLst/>
          </a:prstGeom>
          <a:solidFill>
            <a:schemeClr val="accent5">
              <a:lumMod val="90000"/>
            </a:schemeClr>
          </a:solidFill>
        </p:spPr>
        <p:txBody>
          <a:bodyPr wrap="none">
            <a:spAutoFit/>
          </a:bodyPr>
          <a:lstStyle/>
          <a:p>
            <a:pPr algn="ctr">
              <a:defRPr/>
            </a:pPr>
            <a:r>
              <a:rPr lang="en-US" dirty="0">
                <a:latin typeface="Arial" pitchFamily="34" charset="0"/>
                <a:cs typeface="Arial" pitchFamily="34" charset="0"/>
              </a:rPr>
              <a:t>Dec</a:t>
            </a:r>
          </a:p>
        </p:txBody>
      </p:sp>
      <p:sp>
        <p:nvSpPr>
          <p:cNvPr id="15" name="TextBox 14"/>
          <p:cNvSpPr txBox="1"/>
          <p:nvPr/>
        </p:nvSpPr>
        <p:spPr>
          <a:xfrm>
            <a:off x="11056097" y="1055688"/>
            <a:ext cx="812588" cy="381000"/>
          </a:xfrm>
          <a:prstGeom prst="rect">
            <a:avLst/>
          </a:prstGeom>
          <a:solidFill>
            <a:schemeClr val="accent1">
              <a:lumMod val="40000"/>
              <a:lumOff val="60000"/>
            </a:schemeClr>
          </a:solidFill>
        </p:spPr>
        <p:txBody>
          <a:bodyPr>
            <a:spAutoFit/>
          </a:bodyPr>
          <a:lstStyle/>
          <a:p>
            <a:pPr algn="ctr">
              <a:defRPr/>
            </a:pPr>
            <a:endParaRPr lang="en-US" dirty="0">
              <a:latin typeface="Arial" pitchFamily="34" charset="0"/>
              <a:cs typeface="Arial" pitchFamily="34" charset="0"/>
            </a:endParaRPr>
          </a:p>
        </p:txBody>
      </p:sp>
      <p:sp>
        <p:nvSpPr>
          <p:cNvPr id="16" name="TextBox 15"/>
          <p:cNvSpPr txBox="1"/>
          <p:nvPr/>
        </p:nvSpPr>
        <p:spPr>
          <a:xfrm>
            <a:off x="219142" y="1066800"/>
            <a:ext cx="406294" cy="381000"/>
          </a:xfrm>
          <a:prstGeom prst="rect">
            <a:avLst/>
          </a:prstGeom>
          <a:solidFill>
            <a:schemeClr val="accent2">
              <a:lumMod val="40000"/>
              <a:lumOff val="60000"/>
            </a:schemeClr>
          </a:solidFill>
        </p:spPr>
        <p:txBody>
          <a:bodyPr>
            <a:spAutoFit/>
          </a:bodyPr>
          <a:lstStyle/>
          <a:p>
            <a:pPr algn="ctr">
              <a:defRPr/>
            </a:pPr>
            <a:endParaRPr lang="en-US" dirty="0">
              <a:latin typeface="Arial" pitchFamily="34" charset="0"/>
              <a:cs typeface="Arial" pitchFamily="34" charset="0"/>
            </a:endParaRPr>
          </a:p>
        </p:txBody>
      </p:sp>
    </p:spTree>
    <p:extLst>
      <p:ext uri="{BB962C8B-B14F-4D97-AF65-F5344CB8AC3E}">
        <p14:creationId xmlns:p14="http://schemas.microsoft.com/office/powerpoint/2010/main" val="13090683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BC856-589A-2715-8A2E-FB77A7FF6F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D9303D-BF6C-7F29-6FF6-E856FD4C2DB4}"/>
              </a:ext>
            </a:extLst>
          </p:cNvPr>
          <p:cNvSpPr>
            <a:spLocks noGrp="1"/>
          </p:cNvSpPr>
          <p:nvPr>
            <p:ph type="title"/>
          </p:nvPr>
        </p:nvSpPr>
        <p:spPr/>
        <p:txBody>
          <a:bodyPr>
            <a:normAutofit/>
          </a:bodyPr>
          <a:lstStyle/>
          <a:p>
            <a:r>
              <a:rPr lang="en-GB" dirty="0"/>
              <a:t>RTX5</a:t>
            </a:r>
            <a:endParaRPr lang="en-US" dirty="0"/>
          </a:p>
        </p:txBody>
      </p:sp>
      <p:sp>
        <p:nvSpPr>
          <p:cNvPr id="2" name="Content Placeholder 1">
            <a:extLst>
              <a:ext uri="{FF2B5EF4-FFF2-40B4-BE49-F238E27FC236}">
                <a16:creationId xmlns:a16="http://schemas.microsoft.com/office/drawing/2014/main" id="{FDD886A1-F655-7761-7E46-3DA25F1EA81A}"/>
              </a:ext>
            </a:extLst>
          </p:cNvPr>
          <p:cNvSpPr>
            <a:spLocks noGrp="1"/>
          </p:cNvSpPr>
          <p:nvPr>
            <p:ph idx="1"/>
          </p:nvPr>
        </p:nvSpPr>
        <p:spPr/>
        <p:txBody>
          <a:bodyPr/>
          <a:lstStyle/>
          <a:p>
            <a:r>
              <a:rPr lang="en-GB" dirty="0"/>
              <a:t>Royalty-free, deterministic, open source RTOS</a:t>
            </a:r>
          </a:p>
          <a:p>
            <a:r>
              <a:rPr lang="en-GB" dirty="0"/>
              <a:t>High-Speed real-time operation with low interrupt latency</a:t>
            </a:r>
          </a:p>
          <a:p>
            <a:r>
              <a:rPr lang="en-GB" dirty="0"/>
              <a:t>Flexible Scheduling: round-robin, pre-emptive, and collaborative</a:t>
            </a:r>
          </a:p>
          <a:p>
            <a:r>
              <a:rPr lang="en-GB" dirty="0"/>
              <a:t>Small footprint for resource constrained systems</a:t>
            </a:r>
          </a:p>
          <a:p>
            <a:r>
              <a:rPr lang="en-GB" dirty="0"/>
              <a:t>Compatible with Arm cores (from Arm7, Arm9 to Cortex-M processors) and software tools (Keil MDK-Arm)</a:t>
            </a:r>
          </a:p>
          <a:p>
            <a:r>
              <a:rPr lang="en-GB" dirty="0"/>
              <a:t>Support for multithreading and thread-safe operation</a:t>
            </a:r>
          </a:p>
          <a:p>
            <a:r>
              <a:rPr lang="en-GB" dirty="0"/>
              <a:t>Kernel aware debug support in Keil MDK-Arm</a:t>
            </a:r>
          </a:p>
          <a:p>
            <a:r>
              <a:rPr lang="en-GB" dirty="0"/>
              <a:t>Dialog-based setup using µVision Configuration Wizard</a:t>
            </a:r>
          </a:p>
          <a:p>
            <a:pPr lvl="1"/>
            <a:endParaRPr lang="en-GB" dirty="0"/>
          </a:p>
        </p:txBody>
      </p:sp>
    </p:spTree>
    <p:extLst>
      <p:ext uri="{BB962C8B-B14F-4D97-AF65-F5344CB8AC3E}">
        <p14:creationId xmlns:p14="http://schemas.microsoft.com/office/powerpoint/2010/main" val="3479823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E8480-ADBB-A8B3-4B32-C62DC7C9EAC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9E6BC5-760E-F807-8F2D-4FE5862D43FD}"/>
              </a:ext>
            </a:extLst>
          </p:cNvPr>
          <p:cNvSpPr>
            <a:spLocks noGrp="1"/>
          </p:cNvSpPr>
          <p:nvPr>
            <p:ph type="title"/>
          </p:nvPr>
        </p:nvSpPr>
        <p:spPr/>
        <p:txBody>
          <a:bodyPr>
            <a:normAutofit/>
          </a:bodyPr>
          <a:lstStyle/>
          <a:p>
            <a:r>
              <a:rPr lang="en-GB" dirty="0" err="1"/>
              <a:t>FreeRTOS</a:t>
            </a:r>
            <a:r>
              <a:rPr lang="en-GB" dirty="0"/>
              <a:t>                           </a:t>
            </a:r>
            <a:endParaRPr lang="en-US" dirty="0"/>
          </a:p>
        </p:txBody>
      </p:sp>
      <p:sp>
        <p:nvSpPr>
          <p:cNvPr id="2" name="Content Placeholder 1">
            <a:extLst>
              <a:ext uri="{FF2B5EF4-FFF2-40B4-BE49-F238E27FC236}">
                <a16:creationId xmlns:a16="http://schemas.microsoft.com/office/drawing/2014/main" id="{92C046A9-94F8-E8A1-3715-B4F4284C66EF}"/>
              </a:ext>
            </a:extLst>
          </p:cNvPr>
          <p:cNvSpPr>
            <a:spLocks noGrp="1"/>
          </p:cNvSpPr>
          <p:nvPr>
            <p:ph idx="1"/>
          </p:nvPr>
        </p:nvSpPr>
        <p:spPr/>
        <p:txBody>
          <a:bodyPr/>
          <a:lstStyle/>
          <a:p>
            <a:r>
              <a:rPr lang="en-GB" dirty="0"/>
              <a:t>Royalty-free, deterministic, open source RTOS</a:t>
            </a:r>
          </a:p>
          <a:p>
            <a:r>
              <a:rPr lang="en-GB" dirty="0"/>
              <a:t>High-Speed real-time operation with low interrupt latency</a:t>
            </a:r>
          </a:p>
          <a:p>
            <a:r>
              <a:rPr lang="en-GB" dirty="0"/>
              <a:t>Flexible: round-robin, pre-emptive, and collaborative</a:t>
            </a:r>
          </a:p>
          <a:p>
            <a:r>
              <a:rPr lang="en-US" dirty="0"/>
              <a:t>Scalable from tiny MCUs to multi-core device</a:t>
            </a:r>
          </a:p>
          <a:p>
            <a:r>
              <a:rPr lang="en-GB" dirty="0"/>
              <a:t>Compatible with Arm cores (from Arm7, Arm9 to Cortex-M processors) and software tools (Keil MDK-Arm)</a:t>
            </a:r>
          </a:p>
          <a:p>
            <a:r>
              <a:rPr lang="en-GB" dirty="0"/>
              <a:t>Support for multithreading and thread-safe operation</a:t>
            </a:r>
          </a:p>
          <a:p>
            <a:r>
              <a:rPr lang="en-US" dirty="0"/>
              <a:t>Works across many toolchains: GCC, IAR, Keil</a:t>
            </a:r>
          </a:p>
          <a:p>
            <a:r>
              <a:rPr lang="en-US" dirty="0"/>
              <a:t>Rich community </a:t>
            </a:r>
            <a:r>
              <a:rPr lang="en-US"/>
              <a:t>and documentation</a:t>
            </a:r>
            <a:endParaRPr lang="en-GB" dirty="0"/>
          </a:p>
        </p:txBody>
      </p:sp>
    </p:spTree>
    <p:extLst>
      <p:ext uri="{BB962C8B-B14F-4D97-AF65-F5344CB8AC3E}">
        <p14:creationId xmlns:p14="http://schemas.microsoft.com/office/powerpoint/2010/main" val="537131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BD9D0-243B-0548-72C8-5DDDBF7CAE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569E61-8A7E-B435-8603-4EF74B658B93}"/>
              </a:ext>
            </a:extLst>
          </p:cNvPr>
          <p:cNvSpPr>
            <a:spLocks noGrp="1"/>
          </p:cNvSpPr>
          <p:nvPr>
            <p:ph type="title"/>
          </p:nvPr>
        </p:nvSpPr>
        <p:spPr/>
        <p:txBody>
          <a:bodyPr>
            <a:normAutofit/>
          </a:bodyPr>
          <a:lstStyle/>
          <a:p>
            <a:r>
              <a:rPr lang="en-GB" dirty="0"/>
              <a:t>RTX5 Structure</a:t>
            </a:r>
            <a:endParaRPr lang="en-US" dirty="0"/>
          </a:p>
        </p:txBody>
      </p:sp>
      <p:sp>
        <p:nvSpPr>
          <p:cNvPr id="2" name="Content Placeholder 1">
            <a:extLst>
              <a:ext uri="{FF2B5EF4-FFF2-40B4-BE49-F238E27FC236}">
                <a16:creationId xmlns:a16="http://schemas.microsoft.com/office/drawing/2014/main" id="{9CA31B42-F595-148D-82FB-E50279E46FD9}"/>
              </a:ext>
            </a:extLst>
          </p:cNvPr>
          <p:cNvSpPr>
            <a:spLocks noGrp="1"/>
          </p:cNvSpPr>
          <p:nvPr>
            <p:ph idx="1"/>
          </p:nvPr>
        </p:nvSpPr>
        <p:spPr>
          <a:xfrm>
            <a:off x="483135" y="1440000"/>
            <a:ext cx="6648926" cy="4758577"/>
          </a:xfrm>
        </p:spPr>
        <p:txBody>
          <a:bodyPr/>
          <a:lstStyle/>
          <a:p>
            <a:r>
              <a:rPr lang="en-GB" dirty="0"/>
              <a:t>RTX5 Kernel (CMSIS-RTOS2)</a:t>
            </a:r>
          </a:p>
          <a:p>
            <a:pPr lvl="1"/>
            <a:r>
              <a:rPr lang="en-GB" dirty="0"/>
              <a:t>Core real-time scheduler</a:t>
            </a:r>
          </a:p>
          <a:p>
            <a:pPr lvl="1"/>
            <a:r>
              <a:rPr lang="en-GB" dirty="0"/>
              <a:t>Supports Threads, mutexes, semaphores, event flags, delay &amp; timer functions, memory pools and message queues</a:t>
            </a:r>
          </a:p>
          <a:p>
            <a:endParaRPr lang="en-GB" dirty="0"/>
          </a:p>
          <a:p>
            <a:r>
              <a:rPr lang="en-GB" dirty="0"/>
              <a:t>CMSIS Middleware(optional via Packs)</a:t>
            </a:r>
          </a:p>
          <a:p>
            <a:pPr lvl="1"/>
            <a:r>
              <a:rPr lang="en-GB" dirty="0"/>
              <a:t>Add-on libraries include:</a:t>
            </a:r>
          </a:p>
          <a:p>
            <a:pPr lvl="2"/>
            <a:r>
              <a:rPr lang="en-GB" dirty="0"/>
              <a:t>File System </a:t>
            </a:r>
          </a:p>
          <a:p>
            <a:pPr lvl="2"/>
            <a:r>
              <a:rPr lang="en-GB" dirty="0"/>
              <a:t>Networking</a:t>
            </a:r>
          </a:p>
          <a:p>
            <a:pPr lvl="2"/>
            <a:r>
              <a:rPr lang="en-GB" dirty="0"/>
              <a:t>USB Device/Host </a:t>
            </a:r>
          </a:p>
          <a:p>
            <a:pPr lvl="2"/>
            <a:r>
              <a:rPr lang="en-GB" dirty="0"/>
              <a:t>CAN Interface</a:t>
            </a:r>
          </a:p>
          <a:p>
            <a:pPr lvl="2"/>
            <a:endParaRPr lang="en-GB" dirty="0"/>
          </a:p>
          <a:p>
            <a:endParaRPr lang="en-US" dirty="0"/>
          </a:p>
          <a:p>
            <a:endParaRPr lang="en-US" dirty="0"/>
          </a:p>
        </p:txBody>
      </p:sp>
      <p:pic>
        <p:nvPicPr>
          <p:cNvPr id="1028" name="Picture 4">
            <a:extLst>
              <a:ext uri="{FF2B5EF4-FFF2-40B4-BE49-F238E27FC236}">
                <a16:creationId xmlns:a16="http://schemas.microsoft.com/office/drawing/2014/main" id="{29A5BCF0-C2AE-141A-1ED7-A6194758C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919" y="3730214"/>
            <a:ext cx="4062654" cy="1506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0657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F00E-A85B-EE49-ABE8-F86150E709E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B98A3F-1F81-1968-6B78-5088F4C41AA6}"/>
              </a:ext>
            </a:extLst>
          </p:cNvPr>
          <p:cNvSpPr>
            <a:spLocks noGrp="1"/>
          </p:cNvSpPr>
          <p:nvPr>
            <p:ph type="title"/>
          </p:nvPr>
        </p:nvSpPr>
        <p:spPr/>
        <p:txBody>
          <a:bodyPr>
            <a:normAutofit/>
          </a:bodyPr>
          <a:lstStyle/>
          <a:p>
            <a:r>
              <a:rPr lang="en-GB" dirty="0" err="1"/>
              <a:t>FreeRTOS</a:t>
            </a:r>
            <a:r>
              <a:rPr lang="en-GB" dirty="0"/>
              <a:t> Structure</a:t>
            </a:r>
            <a:endParaRPr lang="en-US" dirty="0"/>
          </a:p>
        </p:txBody>
      </p:sp>
      <p:sp>
        <p:nvSpPr>
          <p:cNvPr id="2" name="Content Placeholder 1">
            <a:extLst>
              <a:ext uri="{FF2B5EF4-FFF2-40B4-BE49-F238E27FC236}">
                <a16:creationId xmlns:a16="http://schemas.microsoft.com/office/drawing/2014/main" id="{D4CBBF74-432B-704F-B424-51EF702E2CC4}"/>
              </a:ext>
            </a:extLst>
          </p:cNvPr>
          <p:cNvSpPr>
            <a:spLocks noGrp="1"/>
          </p:cNvSpPr>
          <p:nvPr>
            <p:ph idx="1"/>
          </p:nvPr>
        </p:nvSpPr>
        <p:spPr>
          <a:xfrm>
            <a:off x="483135" y="1440000"/>
            <a:ext cx="6648926" cy="4758577"/>
          </a:xfrm>
        </p:spPr>
        <p:txBody>
          <a:bodyPr/>
          <a:lstStyle/>
          <a:p>
            <a:r>
              <a:rPr lang="en-GB" dirty="0" err="1"/>
              <a:t>FreeRTOS</a:t>
            </a:r>
            <a:r>
              <a:rPr lang="en-GB" dirty="0"/>
              <a:t> Kernel (CMSIS-RTOS2)</a:t>
            </a:r>
          </a:p>
          <a:p>
            <a:pPr lvl="1"/>
            <a:r>
              <a:rPr lang="en-GB" dirty="0"/>
              <a:t>Lightweight, portable, open source RTOS</a:t>
            </a:r>
          </a:p>
          <a:p>
            <a:pPr lvl="1"/>
            <a:r>
              <a:rPr lang="en-GB" dirty="0"/>
              <a:t>Supports Threads, mutexes, semaphores, event flags, delay &amp; timer functions, memory pools and message queues</a:t>
            </a:r>
          </a:p>
          <a:p>
            <a:endParaRPr lang="en-GB" dirty="0"/>
          </a:p>
          <a:p>
            <a:r>
              <a:rPr lang="en-GB" dirty="0"/>
              <a:t>CMSIS Middleware(optional via Packs)</a:t>
            </a:r>
          </a:p>
          <a:p>
            <a:pPr lvl="1"/>
            <a:r>
              <a:rPr lang="en-GB" dirty="0"/>
              <a:t>Add-on libraries include:</a:t>
            </a:r>
          </a:p>
          <a:p>
            <a:pPr lvl="2"/>
            <a:r>
              <a:rPr lang="en-GB" dirty="0"/>
              <a:t>File System </a:t>
            </a:r>
          </a:p>
          <a:p>
            <a:pPr lvl="2"/>
            <a:r>
              <a:rPr lang="en-GB" dirty="0"/>
              <a:t>Networking</a:t>
            </a:r>
          </a:p>
          <a:p>
            <a:pPr lvl="2"/>
            <a:r>
              <a:rPr lang="en-GB" dirty="0"/>
              <a:t>USB Device/Host </a:t>
            </a:r>
          </a:p>
          <a:p>
            <a:pPr lvl="2"/>
            <a:r>
              <a:rPr lang="en-GB" dirty="0"/>
              <a:t>CAN Interface</a:t>
            </a:r>
          </a:p>
          <a:p>
            <a:pPr lvl="2"/>
            <a:endParaRPr lang="en-GB" dirty="0"/>
          </a:p>
          <a:p>
            <a:endParaRPr lang="en-US" dirty="0"/>
          </a:p>
          <a:p>
            <a:endParaRPr lang="en-US" dirty="0"/>
          </a:p>
        </p:txBody>
      </p:sp>
    </p:spTree>
    <p:extLst>
      <p:ext uri="{BB962C8B-B14F-4D97-AF65-F5344CB8AC3E}">
        <p14:creationId xmlns:p14="http://schemas.microsoft.com/office/powerpoint/2010/main" val="479070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RTX5 Files</a:t>
            </a:r>
            <a:endParaRPr lang="en-US" dirty="0"/>
          </a:p>
        </p:txBody>
      </p:sp>
      <p:sp>
        <p:nvSpPr>
          <p:cNvPr id="2" name="Content Placeholder 1"/>
          <p:cNvSpPr>
            <a:spLocks noGrp="1"/>
          </p:cNvSpPr>
          <p:nvPr>
            <p:ph idx="1"/>
          </p:nvPr>
        </p:nvSpPr>
        <p:spPr/>
        <p:txBody>
          <a:bodyPr/>
          <a:lstStyle/>
          <a:p>
            <a:r>
              <a:rPr lang="en-GB" dirty="0"/>
              <a:t>Add CMSIS-RTOS2 via CMSIS-Pack</a:t>
            </a:r>
          </a:p>
          <a:p>
            <a:pPr lvl="1"/>
            <a:r>
              <a:rPr lang="en-GB" dirty="0"/>
              <a:t>Select </a:t>
            </a:r>
            <a:r>
              <a:rPr lang="en-GB" b="1" dirty="0"/>
              <a:t>CMSIS::RTOS2:Keil RTX5</a:t>
            </a:r>
            <a:r>
              <a:rPr lang="en-GB" dirty="0"/>
              <a:t> in Keil µVision or STM32CubeIDE</a:t>
            </a:r>
            <a:endParaRPr lang="en-GB" b="1" dirty="0"/>
          </a:p>
          <a:p>
            <a:r>
              <a:rPr lang="en-GB" dirty="0"/>
              <a:t>Core configuration files:</a:t>
            </a:r>
          </a:p>
          <a:p>
            <a:pPr lvl="1"/>
            <a:r>
              <a:rPr lang="en-GB" dirty="0" err="1"/>
              <a:t>rtx_config.h</a:t>
            </a:r>
            <a:r>
              <a:rPr lang="en-GB" dirty="0"/>
              <a:t>: Configures the kernel via preprocessor defines</a:t>
            </a:r>
          </a:p>
          <a:p>
            <a:pPr lvl="1"/>
            <a:r>
              <a:rPr lang="en-GB" dirty="0"/>
              <a:t>cmsis_os2.c: Provides CMSIS-RTOS2 API stubs (may be auto-generated)</a:t>
            </a:r>
          </a:p>
          <a:p>
            <a:r>
              <a:rPr lang="en-GB" dirty="0"/>
              <a:t>Core header:</a:t>
            </a:r>
          </a:p>
          <a:p>
            <a:pPr lvl="1"/>
            <a:r>
              <a:rPr lang="en-GB" dirty="0"/>
              <a:t>cmsis_os2.h: The standard RTOS API interface for CMSIS-RTOS v2</a:t>
            </a:r>
            <a:endParaRPr lang="en-US" dirty="0"/>
          </a:p>
        </p:txBody>
      </p:sp>
    </p:spTree>
    <p:extLst>
      <p:ext uri="{BB962C8B-B14F-4D97-AF65-F5344CB8AC3E}">
        <p14:creationId xmlns:p14="http://schemas.microsoft.com/office/powerpoint/2010/main" val="1964686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48992-F058-6041-1985-C107EEE0FA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9398C9-44F8-36CC-20B4-E0F82C6B895F}"/>
              </a:ext>
            </a:extLst>
          </p:cNvPr>
          <p:cNvSpPr>
            <a:spLocks noGrp="1"/>
          </p:cNvSpPr>
          <p:nvPr>
            <p:ph type="title"/>
          </p:nvPr>
        </p:nvSpPr>
        <p:spPr/>
        <p:txBody>
          <a:bodyPr>
            <a:normAutofit/>
          </a:bodyPr>
          <a:lstStyle/>
          <a:p>
            <a:r>
              <a:rPr lang="en-GB" dirty="0" err="1"/>
              <a:t>FreeRTOS</a:t>
            </a:r>
            <a:r>
              <a:rPr lang="en-GB" dirty="0"/>
              <a:t> Files</a:t>
            </a:r>
            <a:endParaRPr lang="en-US" dirty="0"/>
          </a:p>
        </p:txBody>
      </p:sp>
      <p:sp>
        <p:nvSpPr>
          <p:cNvPr id="2" name="Content Placeholder 1">
            <a:extLst>
              <a:ext uri="{FF2B5EF4-FFF2-40B4-BE49-F238E27FC236}">
                <a16:creationId xmlns:a16="http://schemas.microsoft.com/office/drawing/2014/main" id="{DB0BEB91-D7BF-A622-8BC9-78C623A10E3F}"/>
              </a:ext>
            </a:extLst>
          </p:cNvPr>
          <p:cNvSpPr>
            <a:spLocks noGrp="1"/>
          </p:cNvSpPr>
          <p:nvPr>
            <p:ph idx="1"/>
          </p:nvPr>
        </p:nvSpPr>
        <p:spPr/>
        <p:txBody>
          <a:bodyPr/>
          <a:lstStyle/>
          <a:p>
            <a:r>
              <a:rPr lang="en-GB" dirty="0"/>
              <a:t>Add CMSIS-RTOS2 via CMSIS-Pack</a:t>
            </a:r>
          </a:p>
          <a:p>
            <a:pPr lvl="1"/>
            <a:r>
              <a:rPr lang="en-GB" dirty="0"/>
              <a:t>Select </a:t>
            </a:r>
            <a:r>
              <a:rPr lang="en-GB" b="1" dirty="0"/>
              <a:t>CMSIS::RTOS2:Keil </a:t>
            </a:r>
            <a:r>
              <a:rPr lang="en-GB" b="1" dirty="0" err="1"/>
              <a:t>FreeRTOS</a:t>
            </a:r>
            <a:r>
              <a:rPr lang="en-GB" dirty="0"/>
              <a:t> in Keil µVision or STM32CubeIDE</a:t>
            </a:r>
            <a:endParaRPr lang="en-GB" b="1" dirty="0"/>
          </a:p>
          <a:p>
            <a:r>
              <a:rPr lang="en-GB" dirty="0"/>
              <a:t>Core configuration files:</a:t>
            </a:r>
          </a:p>
          <a:p>
            <a:pPr lvl="1"/>
            <a:r>
              <a:rPr lang="en-GB" dirty="0" err="1"/>
              <a:t>FreeRTOSConfig.h</a:t>
            </a:r>
            <a:r>
              <a:rPr lang="en-GB" dirty="0"/>
              <a:t> – Central config (</a:t>
            </a:r>
            <a:r>
              <a:rPr lang="en-GB" dirty="0" err="1"/>
              <a:t>preemption</a:t>
            </a:r>
            <a:r>
              <a:rPr lang="en-GB" dirty="0"/>
              <a:t>, priorities, hooks, etc.)</a:t>
            </a:r>
          </a:p>
          <a:p>
            <a:pPr lvl="1"/>
            <a:r>
              <a:rPr lang="en-GB" dirty="0" err="1"/>
              <a:t>FreeRTOS.h</a:t>
            </a:r>
            <a:r>
              <a:rPr lang="en-GB" dirty="0"/>
              <a:t> – Core API Header</a:t>
            </a:r>
          </a:p>
          <a:p>
            <a:pPr lvl="1"/>
            <a:r>
              <a:rPr lang="en-GB" dirty="0" err="1"/>
              <a:t>Task.c</a:t>
            </a:r>
            <a:r>
              <a:rPr lang="en-GB" dirty="0"/>
              <a:t> – Thread scheduler implementation</a:t>
            </a:r>
          </a:p>
          <a:p>
            <a:pPr lvl="1"/>
            <a:r>
              <a:rPr lang="en-GB" dirty="0" err="1"/>
              <a:t>queue.c</a:t>
            </a:r>
            <a:r>
              <a:rPr lang="en-GB" dirty="0"/>
              <a:t> – Message queues</a:t>
            </a:r>
          </a:p>
          <a:p>
            <a:pPr lvl="1"/>
            <a:r>
              <a:rPr lang="en-GB" dirty="0" err="1"/>
              <a:t>semphr.c</a:t>
            </a:r>
            <a:r>
              <a:rPr lang="en-GB" dirty="0"/>
              <a:t> – Semaphores and mutexes</a:t>
            </a:r>
          </a:p>
          <a:p>
            <a:pPr lvl="1"/>
            <a:r>
              <a:rPr lang="en-GB" dirty="0" err="1"/>
              <a:t>timers.c</a:t>
            </a:r>
            <a:r>
              <a:rPr lang="en-GB" dirty="0"/>
              <a:t> – Software timer service</a:t>
            </a:r>
            <a:endParaRPr lang="en-US" dirty="0"/>
          </a:p>
        </p:txBody>
      </p:sp>
    </p:spTree>
    <p:extLst>
      <p:ext uri="{BB962C8B-B14F-4D97-AF65-F5344CB8AC3E}">
        <p14:creationId xmlns:p14="http://schemas.microsoft.com/office/powerpoint/2010/main" val="777782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04C58-F6C6-69FB-6E49-C27E586472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BBF192-0C3C-0FE1-7633-BE5F98C3CEEE}"/>
              </a:ext>
            </a:extLst>
          </p:cNvPr>
          <p:cNvSpPr>
            <a:spLocks noGrp="1"/>
          </p:cNvSpPr>
          <p:nvPr>
            <p:ph type="title"/>
          </p:nvPr>
        </p:nvSpPr>
        <p:spPr/>
        <p:txBody>
          <a:bodyPr>
            <a:normAutofit/>
          </a:bodyPr>
          <a:lstStyle/>
          <a:p>
            <a:r>
              <a:rPr lang="en-GB" dirty="0"/>
              <a:t>CMSIS and CMSIS-RTOS2</a:t>
            </a:r>
            <a:endParaRPr lang="en-US" dirty="0"/>
          </a:p>
        </p:txBody>
      </p:sp>
      <p:sp>
        <p:nvSpPr>
          <p:cNvPr id="2" name="Content Placeholder 1">
            <a:extLst>
              <a:ext uri="{FF2B5EF4-FFF2-40B4-BE49-F238E27FC236}">
                <a16:creationId xmlns:a16="http://schemas.microsoft.com/office/drawing/2014/main" id="{BE610F00-63EC-1CBB-953A-075458E6D730}"/>
              </a:ext>
            </a:extLst>
          </p:cNvPr>
          <p:cNvSpPr>
            <a:spLocks noGrp="1"/>
          </p:cNvSpPr>
          <p:nvPr>
            <p:ph idx="1"/>
          </p:nvPr>
        </p:nvSpPr>
        <p:spPr>
          <a:xfrm>
            <a:off x="473899" y="1299290"/>
            <a:ext cx="11155753" cy="4680000"/>
          </a:xfrm>
        </p:spPr>
        <p:txBody>
          <a:bodyPr/>
          <a:lstStyle/>
          <a:p>
            <a:pPr>
              <a:spcBef>
                <a:spcPts val="1200"/>
              </a:spcBef>
            </a:pPr>
            <a:r>
              <a:rPr lang="en-US" dirty="0"/>
              <a:t>Arm Cortex Microcontroller Software Interface Standard (CMSIS) </a:t>
            </a:r>
          </a:p>
          <a:p>
            <a:pPr lvl="1">
              <a:spcBef>
                <a:spcPts val="1200"/>
              </a:spcBef>
            </a:pPr>
            <a:r>
              <a:rPr lang="en-US" dirty="0"/>
              <a:t>Vendor-independent hardware abstraction layer </a:t>
            </a:r>
          </a:p>
          <a:p>
            <a:pPr lvl="1">
              <a:spcBef>
                <a:spcPts val="1200"/>
              </a:spcBef>
            </a:pPr>
            <a:r>
              <a:rPr lang="en-US" dirty="0"/>
              <a:t>Used for Cortex-M processor series</a:t>
            </a:r>
          </a:p>
          <a:p>
            <a:pPr lvl="1">
              <a:spcBef>
                <a:spcPts val="1200"/>
              </a:spcBef>
            </a:pPr>
            <a:r>
              <a:rPr lang="en-US" dirty="0"/>
              <a:t>Specifies debugger interfaces</a:t>
            </a:r>
          </a:p>
          <a:p>
            <a:pPr>
              <a:spcBef>
                <a:spcPts val="1200"/>
              </a:spcBef>
            </a:pPr>
            <a:r>
              <a:rPr lang="en-GB" dirty="0"/>
              <a:t>The CMSIS-RTOS2</a:t>
            </a:r>
          </a:p>
          <a:p>
            <a:pPr lvl="1">
              <a:spcBef>
                <a:spcPts val="1200"/>
              </a:spcBef>
            </a:pPr>
            <a:r>
              <a:rPr lang="en-GB" dirty="0"/>
              <a:t>Standardized RTOS API for Cortex-M systems</a:t>
            </a:r>
          </a:p>
          <a:p>
            <a:pPr lvl="1">
              <a:spcBef>
                <a:spcPts val="1200"/>
              </a:spcBef>
            </a:pPr>
            <a:r>
              <a:rPr lang="en-GB" dirty="0"/>
              <a:t>Enables RTOS portability across kernels (e.g. RTX5, </a:t>
            </a:r>
            <a:r>
              <a:rPr lang="en-GB" dirty="0" err="1"/>
              <a:t>FreeRTOS</a:t>
            </a:r>
            <a:r>
              <a:rPr lang="en-GB" dirty="0"/>
              <a:t>)</a:t>
            </a:r>
            <a:endParaRPr lang="en-US" dirty="0"/>
          </a:p>
        </p:txBody>
      </p:sp>
    </p:spTree>
    <p:extLst>
      <p:ext uri="{BB962C8B-B14F-4D97-AF65-F5344CB8AC3E}">
        <p14:creationId xmlns:p14="http://schemas.microsoft.com/office/powerpoint/2010/main" val="1036841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err="1"/>
              <a:t>RTX_Conf_CM.c</a:t>
            </a:r>
            <a:endParaRPr lang="en-US" dirty="0"/>
          </a:p>
        </p:txBody>
      </p:sp>
      <p:sp>
        <p:nvSpPr>
          <p:cNvPr id="2" name="Content Placeholder 1"/>
          <p:cNvSpPr>
            <a:spLocks noGrp="1"/>
          </p:cNvSpPr>
          <p:nvPr>
            <p:ph idx="1"/>
          </p:nvPr>
        </p:nvSpPr>
        <p:spPr>
          <a:xfrm>
            <a:off x="466811" y="1106905"/>
            <a:ext cx="4054823" cy="5054904"/>
          </a:xfrm>
        </p:spPr>
        <p:txBody>
          <a:bodyPr/>
          <a:lstStyle/>
          <a:p>
            <a:r>
              <a:rPr lang="en-GB" dirty="0"/>
              <a:t>“&lt;h&gt; &lt;o&gt; &lt;</a:t>
            </a:r>
            <a:r>
              <a:rPr lang="en-GB" dirty="0" err="1"/>
              <a:t>i</a:t>
            </a:r>
            <a:r>
              <a:rPr lang="en-GB" dirty="0"/>
              <a:t>&gt; &lt;q&gt;” are the annotations for Keil configuration wizard</a:t>
            </a:r>
          </a:p>
          <a:p>
            <a:endParaRPr lang="en-GB" dirty="0"/>
          </a:p>
          <a:p>
            <a:r>
              <a:rPr lang="en-GB" dirty="0"/>
              <a:t>Configuration wizard provides an easy-to-use GUI (see picture on the right)</a:t>
            </a:r>
          </a:p>
          <a:p>
            <a:endParaRPr lang="en-GB" dirty="0"/>
          </a:p>
          <a:p>
            <a:r>
              <a:rPr lang="en-GB" dirty="0"/>
              <a:t>Can also change the configuration by directly modifying the file</a:t>
            </a:r>
          </a:p>
        </p:txBody>
      </p:sp>
      <p:sp>
        <p:nvSpPr>
          <p:cNvPr id="4" name="TextBox 3"/>
          <p:cNvSpPr txBox="1"/>
          <p:nvPr/>
        </p:nvSpPr>
        <p:spPr>
          <a:xfrm>
            <a:off x="739343" y="6573930"/>
            <a:ext cx="5652654" cy="284069"/>
          </a:xfrm>
          <a:prstGeom prst="rect">
            <a:avLst/>
          </a:prstGeom>
        </p:spPr>
        <p:txBody>
          <a:bodyPr vert="horz" wrap="none" lIns="0" tIns="0" rIns="0" bIns="0" rtlCol="0" anchor="t">
            <a:normAutofit/>
          </a:bodyPr>
          <a:lstStyle/>
          <a:p>
            <a:pPr algn="ctr"/>
            <a:r>
              <a:rPr lang="en-GB" sz="1000" dirty="0"/>
              <a:t>More about the Keil configuration wizard: http://www.keil.com/support/man/docs/uv4/uv4_ut_configwizard.htm</a:t>
            </a:r>
            <a:endParaRPr lang="en-US" sz="1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5643" y="944907"/>
            <a:ext cx="6266067" cy="5008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6173789" y="5683827"/>
            <a:ext cx="1402773" cy="269942"/>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925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738DB-F794-CD19-1EA5-15656B14F2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2909F7-799D-357D-6A80-62F0D0386822}"/>
              </a:ext>
            </a:extLst>
          </p:cNvPr>
          <p:cNvSpPr>
            <a:spLocks noGrp="1"/>
          </p:cNvSpPr>
          <p:nvPr>
            <p:ph type="title"/>
          </p:nvPr>
        </p:nvSpPr>
        <p:spPr/>
        <p:txBody>
          <a:bodyPr>
            <a:normAutofit/>
          </a:bodyPr>
          <a:lstStyle/>
          <a:p>
            <a:r>
              <a:rPr lang="en-GB" dirty="0"/>
              <a:t>CMSIS and CMSIS-RTOS2</a:t>
            </a:r>
            <a:endParaRPr lang="en-US" dirty="0"/>
          </a:p>
        </p:txBody>
      </p:sp>
      <p:pic>
        <p:nvPicPr>
          <p:cNvPr id="4098" name="Picture 2">
            <a:extLst>
              <a:ext uri="{FF2B5EF4-FFF2-40B4-BE49-F238E27FC236}">
                <a16:creationId xmlns:a16="http://schemas.microsoft.com/office/drawing/2014/main" id="{B1E2D87F-7172-3538-9C65-15A9CCA7A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967" y="1467142"/>
            <a:ext cx="9048750" cy="40671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60F1C8A-A693-5409-804F-AD35877E05C1}"/>
              </a:ext>
            </a:extLst>
          </p:cNvPr>
          <p:cNvSpPr/>
          <p:nvPr/>
        </p:nvSpPr>
        <p:spPr>
          <a:xfrm>
            <a:off x="2416780" y="2175596"/>
            <a:ext cx="1760392" cy="1577255"/>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7878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BCE21-6903-623B-A57A-F0862AEAA0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3B0A84-F8FF-635D-24AD-2BA71154C183}"/>
              </a:ext>
            </a:extLst>
          </p:cNvPr>
          <p:cNvSpPr>
            <a:spLocks noGrp="1"/>
          </p:cNvSpPr>
          <p:nvPr>
            <p:ph type="title"/>
          </p:nvPr>
        </p:nvSpPr>
        <p:spPr/>
        <p:txBody>
          <a:bodyPr>
            <a:normAutofit/>
          </a:bodyPr>
          <a:lstStyle/>
          <a:p>
            <a:r>
              <a:rPr lang="en-GB" dirty="0"/>
              <a:t>CMSIS-RTOS2 and RTOS Kernel Backends </a:t>
            </a:r>
            <a:endParaRPr lang="en-US" dirty="0"/>
          </a:p>
        </p:txBody>
      </p:sp>
      <p:sp>
        <p:nvSpPr>
          <p:cNvPr id="2" name="Content Placeholder 1">
            <a:extLst>
              <a:ext uri="{FF2B5EF4-FFF2-40B4-BE49-F238E27FC236}">
                <a16:creationId xmlns:a16="http://schemas.microsoft.com/office/drawing/2014/main" id="{C6AD74BE-32F7-CBA5-EEB9-DAC02F23F3F4}"/>
              </a:ext>
            </a:extLst>
          </p:cNvPr>
          <p:cNvSpPr>
            <a:spLocks noGrp="1"/>
          </p:cNvSpPr>
          <p:nvPr>
            <p:ph idx="1"/>
          </p:nvPr>
        </p:nvSpPr>
        <p:spPr>
          <a:xfrm>
            <a:off x="483135" y="1440000"/>
            <a:ext cx="7046090" cy="4859200"/>
          </a:xfrm>
        </p:spPr>
        <p:txBody>
          <a:bodyPr/>
          <a:lstStyle/>
          <a:p>
            <a:r>
              <a:rPr lang="en-GB" dirty="0"/>
              <a:t>CMSIS-RTOS2 API – a standardized abstraction layer that supports multiple RTOS kernels (e.g. Keil RTX5, </a:t>
            </a:r>
            <a:r>
              <a:rPr lang="en-GB" dirty="0" err="1"/>
              <a:t>FreeRTOS</a:t>
            </a:r>
            <a:r>
              <a:rPr lang="en-GB" dirty="0"/>
              <a:t>)</a:t>
            </a:r>
          </a:p>
          <a:p>
            <a:endParaRPr lang="en-GB" dirty="0"/>
          </a:p>
          <a:p>
            <a:r>
              <a:rPr lang="en-US" dirty="0"/>
              <a:t>Application programs using CMSIS-RTOS2 can be ported across supported RTOS kernels</a:t>
            </a:r>
          </a:p>
          <a:p>
            <a:endParaRPr lang="en-GB" dirty="0"/>
          </a:p>
          <a:p>
            <a:r>
              <a:rPr lang="en-US" dirty="0"/>
              <a:t>In this course, we will focus on using the RTX5/</a:t>
            </a:r>
            <a:r>
              <a:rPr lang="en-US" dirty="0" err="1"/>
              <a:t>FreeRTOS</a:t>
            </a:r>
            <a:r>
              <a:rPr lang="en-US" dirty="0"/>
              <a:t> kernel directly. The CMSIS-RTOS2 API provides the same core concepts but abstracts the kernel interface.</a:t>
            </a:r>
            <a:endParaRPr lang="en-GB" dirty="0"/>
          </a:p>
        </p:txBody>
      </p:sp>
      <p:pic>
        <p:nvPicPr>
          <p:cNvPr id="3074" name="Picture 2" descr="API_Structure.png">
            <a:extLst>
              <a:ext uri="{FF2B5EF4-FFF2-40B4-BE49-F238E27FC236}">
                <a16:creationId xmlns:a16="http://schemas.microsoft.com/office/drawing/2014/main" id="{45827812-E557-13C1-C991-A340E22BF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7908" y="1590387"/>
            <a:ext cx="4179719" cy="288780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51AF1D78-99EE-5805-6346-A160791CE5F5}"/>
              </a:ext>
            </a:extLst>
          </p:cNvPr>
          <p:cNvCxnSpPr/>
          <p:nvPr/>
        </p:nvCxnSpPr>
        <p:spPr>
          <a:xfrm flipV="1">
            <a:off x="9827766" y="4338060"/>
            <a:ext cx="0" cy="89592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15C21A7-6CC2-B0D2-B86B-0EDC4C75D41C}"/>
              </a:ext>
            </a:extLst>
          </p:cNvPr>
          <p:cNvSpPr txBox="1"/>
          <p:nvPr/>
        </p:nvSpPr>
        <p:spPr>
          <a:xfrm>
            <a:off x="8932270" y="5348286"/>
            <a:ext cx="2699343" cy="609602"/>
          </a:xfrm>
          <a:prstGeom prst="rect">
            <a:avLst/>
          </a:prstGeom>
        </p:spPr>
        <p:txBody>
          <a:bodyPr vert="horz" wrap="square" lIns="0" tIns="0" rIns="0" bIns="0" rtlCol="0" anchor="t">
            <a:normAutofit/>
          </a:bodyPr>
          <a:lstStyle/>
          <a:p>
            <a:r>
              <a:rPr lang="en-GB" dirty="0"/>
              <a:t>RTX or other 3</a:t>
            </a:r>
            <a:r>
              <a:rPr lang="en-GB" baseline="30000" dirty="0"/>
              <a:t>rd</a:t>
            </a:r>
            <a:r>
              <a:rPr lang="en-GB" dirty="0"/>
              <a:t> RTOS kernel</a:t>
            </a:r>
            <a:endParaRPr lang="en-US" dirty="0"/>
          </a:p>
        </p:txBody>
      </p:sp>
    </p:spTree>
    <p:extLst>
      <p:ext uri="{BB962C8B-B14F-4D97-AF65-F5344CB8AC3E}">
        <p14:creationId xmlns:p14="http://schemas.microsoft.com/office/powerpoint/2010/main" val="3173610952"/>
      </p:ext>
    </p:extLst>
  </p:cSld>
  <p:clrMapOvr>
    <a:masterClrMapping/>
  </p:clrMapOvr>
</p:sld>
</file>

<file path=ppt/theme/theme1.xml><?xml version="1.0" encoding="utf-8"?>
<a:theme xmlns:a="http://schemas.openxmlformats.org/drawingml/2006/main" name="Arm_Confidential_2025_Light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6E2FF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Confidential_2024" id="{B887AF75-78AC-2747-9C70-2F9B0537D1BE}" vid="{DC9635A4-99AE-AB49-82FD-BA973AC4A79C}"/>
    </a:ext>
  </a:extLst>
</a:theme>
</file>

<file path=ppt/theme/theme2.xml><?xml version="1.0" encoding="utf-8"?>
<a:theme xmlns:a="http://schemas.openxmlformats.org/drawingml/2006/main" name="Arm_Confidential_2025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Confidential_2024" id="{B887AF75-78AC-2747-9C70-2F9B0537D1BE}" vid="{DC9635A4-99AE-AB49-82FD-BA973AC4A79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customXsn xmlns="http://schemas.microsoft.com/office/2006/metadata/customXsn">
  <xsnLocation/>
  <cached>True</cached>
  <openByDefault>True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B61D4E06-5D3F-4994-A4A7-4BA626FA722D}">
  <ds:schemaRefs>
    <ds:schemaRef ds:uri="http://purl.org/dc/terms/"/>
    <ds:schemaRef ds:uri="http://schemas.microsoft.com/office/2006/metadata/properties"/>
    <ds:schemaRef ds:uri="http://www.w3.org/XML/1998/namespace"/>
    <ds:schemaRef ds:uri="c0950e01-db07-4e41-9c32-b7a8e9fccc9b"/>
    <ds:schemaRef ds:uri="http://schemas.microsoft.com/office/infopath/2007/PartnerControls"/>
    <ds:schemaRef ds:uri="http://schemas.openxmlformats.org/package/2006/metadata/core-properties"/>
    <ds:schemaRef ds:uri="http://schemas.microsoft.com/office/2006/documentManagement/types"/>
    <ds:schemaRef ds:uri="http://purl.org/dc/dcmitype/"/>
    <ds:schemaRef ds:uri="http://schemas.microsoft.com/sharepoint/v3/fields"/>
    <ds:schemaRef ds:uri="f2ad5090-61a8-4b8c-ab70-68f4ff4d1933"/>
    <ds:schemaRef ds:uri="http://schemas.microsoft.com/sharepoint/v3"/>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Arm_Confidential_2024</Template>
  <TotalTime>12726</TotalTime>
  <Words>1701</Words>
  <Application>Microsoft Office PowerPoint</Application>
  <PresentationFormat>Widescreen</PresentationFormat>
  <Paragraphs>207</Paragraphs>
  <Slides>16</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Courier New</vt:lpstr>
      <vt:lpstr>Wingdings</vt:lpstr>
      <vt:lpstr>Arm_Confidential_2025_Lightmode</vt:lpstr>
      <vt:lpstr>Arm_Confidential_2025_Darkmode</vt:lpstr>
      <vt:lpstr>CMSIS-RTOS2</vt:lpstr>
      <vt:lpstr>Content of this Module</vt:lpstr>
      <vt:lpstr>Real-Time Operating Systems </vt:lpstr>
      <vt:lpstr>Why RTOS on embedded systems?</vt:lpstr>
      <vt:lpstr>A case in point</vt:lpstr>
      <vt:lpstr>Super-loop</vt:lpstr>
      <vt:lpstr>RTX5</vt:lpstr>
      <vt:lpstr>FreeRTOS                           </vt:lpstr>
      <vt:lpstr>RTX5 Structure</vt:lpstr>
      <vt:lpstr>FreeRTOS Structure</vt:lpstr>
      <vt:lpstr>RTX5 Files</vt:lpstr>
      <vt:lpstr>FreeRTOS Files</vt:lpstr>
      <vt:lpstr>CMSIS and CMSIS-RTOS2</vt:lpstr>
      <vt:lpstr>RTX_Conf_CM.c</vt:lpstr>
      <vt:lpstr>CMSIS and CMSIS-RTOS2</vt:lpstr>
      <vt:lpstr>CMSIS-RTOS2 and RTOS Kernel Backends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AI is Built on Arm</dc:title>
  <dc:subject/>
  <dc:creator/>
  <cp:keywords/>
  <dc:description/>
  <cp:lastModifiedBy>Tom Carter</cp:lastModifiedBy>
  <cp:revision>114</cp:revision>
  <dcterms:created xsi:type="dcterms:W3CDTF">2024-12-11T13:44:04Z</dcterms:created>
  <dcterms:modified xsi:type="dcterms:W3CDTF">2025-10-14T13:50:44Z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