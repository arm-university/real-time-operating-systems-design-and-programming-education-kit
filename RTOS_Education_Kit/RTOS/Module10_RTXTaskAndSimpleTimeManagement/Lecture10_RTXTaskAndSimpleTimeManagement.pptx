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5"/>
  </p:notesMasterIdLst>
  <p:handoutMasterIdLst>
    <p:handoutMasterId r:id="rId36"/>
  </p:handoutMasterIdLst>
  <p:sldIdLst>
    <p:sldId id="256" r:id="rId8"/>
    <p:sldId id="386" r:id="rId9"/>
    <p:sldId id="391" r:id="rId10"/>
    <p:sldId id="392" r:id="rId11"/>
    <p:sldId id="393" r:id="rId12"/>
    <p:sldId id="394" r:id="rId13"/>
    <p:sldId id="366" r:id="rId14"/>
    <p:sldId id="369" r:id="rId15"/>
    <p:sldId id="368" r:id="rId16"/>
    <p:sldId id="370" r:id="rId17"/>
    <p:sldId id="371" r:id="rId18"/>
    <p:sldId id="372" r:id="rId19"/>
    <p:sldId id="373" r:id="rId20"/>
    <p:sldId id="374" r:id="rId21"/>
    <p:sldId id="375" r:id="rId22"/>
    <p:sldId id="376" r:id="rId23"/>
    <p:sldId id="377" r:id="rId24"/>
    <p:sldId id="379" r:id="rId25"/>
    <p:sldId id="378" r:id="rId26"/>
    <p:sldId id="380" r:id="rId27"/>
    <p:sldId id="396" r:id="rId28"/>
    <p:sldId id="397" r:id="rId29"/>
    <p:sldId id="398" r:id="rId30"/>
    <p:sldId id="399" r:id="rId31"/>
    <p:sldId id="400" r:id="rId32"/>
    <p:sldId id="320" r:id="rId33"/>
    <p:sldId id="258" r:id="rId3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BDB57D-88C5-430B-80D3-F6096E445748}" v="20" dt="2026-08-06T09:53:46.475"/>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heme" Target="theme/theme1.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5/10/relationships/revisionInfo" Target="revisionInfo.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custSel addSld delSld modSld">
      <pc:chgData name="Tom Carter" userId="db1a6269-4a98-40f4-850a-a379349c8455" providerId="ADAL" clId="{ABAF003C-6A2E-48CA-BA6D-D6D12E9B1187}" dt="2026-08-06T09:53:46.384" v="66"/>
      <pc:docMkLst>
        <pc:docMk/>
      </pc:docMkLst>
      <pc:sldChg chg="delSp modSp add mod">
        <pc:chgData name="Tom Carter" userId="db1a6269-4a98-40f4-850a-a379349c8455" providerId="ADAL" clId="{ABAF003C-6A2E-48CA-BA6D-D6D12E9B1187}" dt="2026-08-06T09:47:42.032" v="7" actId="478"/>
        <pc:sldMkLst>
          <pc:docMk/>
          <pc:sldMk cId="1237245834" sldId="256"/>
        </pc:sldMkLst>
        <pc:spChg chg="mod">
          <ac:chgData name="Tom Carter" userId="db1a6269-4a98-40f4-850a-a379349c8455" providerId="ADAL" clId="{ABAF003C-6A2E-48CA-BA6D-D6D12E9B1187}" dt="2026-08-06T09:47:35.510" v="4"/>
          <ac:spMkLst>
            <pc:docMk/>
            <pc:sldMk cId="1237245834" sldId="256"/>
            <ac:spMk id="2" creationId="{720272F2-7B4D-556D-DB89-999AA9031C3F}"/>
          </ac:spMkLst>
        </pc:spChg>
        <pc:spChg chg="del">
          <ac:chgData name="Tom Carter" userId="db1a6269-4a98-40f4-850a-a379349c8455" providerId="ADAL" clId="{ABAF003C-6A2E-48CA-BA6D-D6D12E9B1187}" dt="2026-08-06T09:47:38.549" v="5" actId="478"/>
          <ac:spMkLst>
            <pc:docMk/>
            <pc:sldMk cId="1237245834" sldId="256"/>
            <ac:spMk id="3" creationId="{C27EAAE4-2E78-323A-D4DB-3FBFA04767FD}"/>
          </ac:spMkLst>
        </pc:spChg>
        <pc:spChg chg="del">
          <ac:chgData name="Tom Carter" userId="db1a6269-4a98-40f4-850a-a379349c8455" providerId="ADAL" clId="{ABAF003C-6A2E-48CA-BA6D-D6D12E9B1187}" dt="2026-08-06T09:47:42.032" v="7" actId="478"/>
          <ac:spMkLst>
            <pc:docMk/>
            <pc:sldMk cId="1237245834" sldId="256"/>
            <ac:spMk id="4" creationId="{E07DBF81-FE80-E66F-853C-A39999BF06B3}"/>
          </ac:spMkLst>
        </pc:spChg>
        <pc:spChg chg="del">
          <ac:chgData name="Tom Carter" userId="db1a6269-4a98-40f4-850a-a379349c8455" providerId="ADAL" clId="{ABAF003C-6A2E-48CA-BA6D-D6D12E9B1187}" dt="2026-08-06T09:47:40.301" v="6" actId="478"/>
          <ac:spMkLst>
            <pc:docMk/>
            <pc:sldMk cId="1237245834" sldId="256"/>
            <ac:spMk id="5" creationId="{73E54964-AE45-B120-54CD-151230035D18}"/>
          </ac:spMkLst>
        </pc:spChg>
      </pc:sldChg>
      <pc:sldChg chg="add">
        <pc:chgData name="Tom Carter" userId="db1a6269-4a98-40f4-850a-a379349c8455" providerId="ADAL" clId="{ABAF003C-6A2E-48CA-BA6D-D6D12E9B1187}" dt="2026-08-06T09:53:46.384" v="66"/>
        <pc:sldMkLst>
          <pc:docMk/>
          <pc:sldMk cId="213049170" sldId="258"/>
        </pc:sldMkLst>
      </pc:sldChg>
      <pc:sldChg chg="modSp mod">
        <pc:chgData name="Tom Carter" userId="db1a6269-4a98-40f4-850a-a379349c8455" providerId="ADAL" clId="{ABAF003C-6A2E-48CA-BA6D-D6D12E9B1187}" dt="2026-08-06T09:53:37.162" v="65" actId="20577"/>
        <pc:sldMkLst>
          <pc:docMk/>
          <pc:sldMk cId="575114682" sldId="320"/>
        </pc:sldMkLst>
        <pc:spChg chg="mod">
          <ac:chgData name="Tom Carter" userId="db1a6269-4a98-40f4-850a-a379349c8455" providerId="ADAL" clId="{ABAF003C-6A2E-48CA-BA6D-D6D12E9B1187}" dt="2026-08-06T09:53:37.162" v="65" actId="20577"/>
          <ac:spMkLst>
            <pc:docMk/>
            <pc:sldMk cId="575114682" sldId="320"/>
            <ac:spMk id="2" creationId="{00000000-0000-0000-0000-000000000000}"/>
          </ac:spMkLst>
        </pc:spChg>
      </pc:sldChg>
      <pc:sldChg chg="modSp mod">
        <pc:chgData name="Tom Carter" userId="db1a6269-4a98-40f4-850a-a379349c8455" providerId="ADAL" clId="{ABAF003C-6A2E-48CA-BA6D-D6D12E9B1187}" dt="2026-08-06T09:48:52.606" v="29" actId="20577"/>
        <pc:sldMkLst>
          <pc:docMk/>
          <pc:sldMk cId="2589602507" sldId="366"/>
        </pc:sldMkLst>
        <pc:spChg chg="mod">
          <ac:chgData name="Tom Carter" userId="db1a6269-4a98-40f4-850a-a379349c8455" providerId="ADAL" clId="{ABAF003C-6A2E-48CA-BA6D-D6D12E9B1187}" dt="2026-08-06T09:48:52.606" v="29" actId="20577"/>
          <ac:spMkLst>
            <pc:docMk/>
            <pc:sldMk cId="2589602507" sldId="366"/>
            <ac:spMk id="2" creationId="{00000000-0000-0000-0000-000000000000}"/>
          </ac:spMkLst>
        </pc:spChg>
      </pc:sldChg>
      <pc:sldChg chg="modSp mod">
        <pc:chgData name="Tom Carter" userId="db1a6269-4a98-40f4-850a-a379349c8455" providerId="ADAL" clId="{ABAF003C-6A2E-48CA-BA6D-D6D12E9B1187}" dt="2026-08-06T09:49:38.335" v="47" actId="1036"/>
        <pc:sldMkLst>
          <pc:docMk/>
          <pc:sldMk cId="4148161900" sldId="368"/>
        </pc:sldMkLst>
        <pc:spChg chg="mod">
          <ac:chgData name="Tom Carter" userId="db1a6269-4a98-40f4-850a-a379349c8455" providerId="ADAL" clId="{ABAF003C-6A2E-48CA-BA6D-D6D12E9B1187}" dt="2026-08-06T09:49:33.091" v="33" actId="20577"/>
          <ac:spMkLst>
            <pc:docMk/>
            <pc:sldMk cId="4148161900" sldId="368"/>
            <ac:spMk id="2" creationId="{00000000-0000-0000-0000-000000000000}"/>
          </ac:spMkLst>
        </pc:spChg>
        <pc:graphicFrameChg chg="mod">
          <ac:chgData name="Tom Carter" userId="db1a6269-4a98-40f4-850a-a379349c8455" providerId="ADAL" clId="{ABAF003C-6A2E-48CA-BA6D-D6D12E9B1187}" dt="2026-08-06T09:49:38.335" v="47" actId="1036"/>
          <ac:graphicFrameMkLst>
            <pc:docMk/>
            <pc:sldMk cId="4148161900" sldId="368"/>
            <ac:graphicFrameMk id="4" creationId="{00000000-0000-0000-0000-000000000000}"/>
          </ac:graphicFrameMkLst>
        </pc:graphicFrameChg>
      </pc:sldChg>
      <pc:sldChg chg="modSp mod">
        <pc:chgData name="Tom Carter" userId="db1a6269-4a98-40f4-850a-a379349c8455" providerId="ADAL" clId="{ABAF003C-6A2E-48CA-BA6D-D6D12E9B1187}" dt="2026-08-06T09:49:25.921" v="32" actId="12"/>
        <pc:sldMkLst>
          <pc:docMk/>
          <pc:sldMk cId="2750548778" sldId="369"/>
        </pc:sldMkLst>
        <pc:spChg chg="mod">
          <ac:chgData name="Tom Carter" userId="db1a6269-4a98-40f4-850a-a379349c8455" providerId="ADAL" clId="{ABAF003C-6A2E-48CA-BA6D-D6D12E9B1187}" dt="2026-08-06T09:49:25.921" v="32" actId="12"/>
          <ac:spMkLst>
            <pc:docMk/>
            <pc:sldMk cId="2750548778" sldId="369"/>
            <ac:spMk id="63" creationId="{00000000-0000-0000-0000-000000000000}"/>
          </ac:spMkLst>
        </pc:spChg>
      </pc:sldChg>
      <pc:sldChg chg="modSp mod">
        <pc:chgData name="Tom Carter" userId="db1a6269-4a98-40f4-850a-a379349c8455" providerId="ADAL" clId="{ABAF003C-6A2E-48CA-BA6D-D6D12E9B1187}" dt="2026-08-06T09:49:42.368" v="48" actId="20577"/>
        <pc:sldMkLst>
          <pc:docMk/>
          <pc:sldMk cId="438943400" sldId="370"/>
        </pc:sldMkLst>
        <pc:spChg chg="mod">
          <ac:chgData name="Tom Carter" userId="db1a6269-4a98-40f4-850a-a379349c8455" providerId="ADAL" clId="{ABAF003C-6A2E-48CA-BA6D-D6D12E9B1187}" dt="2026-08-06T09:49:42.368" v="48" actId="20577"/>
          <ac:spMkLst>
            <pc:docMk/>
            <pc:sldMk cId="438943400" sldId="370"/>
            <ac:spMk id="2" creationId="{00000000-0000-0000-0000-000000000000}"/>
          </ac:spMkLst>
        </pc:spChg>
      </pc:sldChg>
      <pc:sldChg chg="modSp mod">
        <pc:chgData name="Tom Carter" userId="db1a6269-4a98-40f4-850a-a379349c8455" providerId="ADAL" clId="{ABAF003C-6A2E-48CA-BA6D-D6D12E9B1187}" dt="2026-08-06T09:51:41.898" v="51" actId="20577"/>
        <pc:sldMkLst>
          <pc:docMk/>
          <pc:sldMk cId="666351049" sldId="371"/>
        </pc:sldMkLst>
        <pc:spChg chg="mod">
          <ac:chgData name="Tom Carter" userId="db1a6269-4a98-40f4-850a-a379349c8455" providerId="ADAL" clId="{ABAF003C-6A2E-48CA-BA6D-D6D12E9B1187}" dt="2026-08-06T09:51:41.898" v="51" actId="20577"/>
          <ac:spMkLst>
            <pc:docMk/>
            <pc:sldMk cId="666351049" sldId="371"/>
            <ac:spMk id="2" creationId="{00000000-0000-0000-0000-000000000000}"/>
          </ac:spMkLst>
        </pc:spChg>
        <pc:spChg chg="mod">
          <ac:chgData name="Tom Carter" userId="db1a6269-4a98-40f4-850a-a379349c8455" providerId="ADAL" clId="{ABAF003C-6A2E-48CA-BA6D-D6D12E9B1187}" dt="2026-08-06T09:49:59.628" v="50" actId="1076"/>
          <ac:spMkLst>
            <pc:docMk/>
            <pc:sldMk cId="666351049" sldId="371"/>
            <ac:spMk id="5" creationId="{00000000-0000-0000-0000-000000000000}"/>
          </ac:spMkLst>
        </pc:spChg>
      </pc:sldChg>
      <pc:sldChg chg="modSp mod">
        <pc:chgData name="Tom Carter" userId="db1a6269-4a98-40f4-850a-a379349c8455" providerId="ADAL" clId="{ABAF003C-6A2E-48CA-BA6D-D6D12E9B1187}" dt="2026-08-06T09:51:49.595" v="52" actId="20577"/>
        <pc:sldMkLst>
          <pc:docMk/>
          <pc:sldMk cId="4244560387" sldId="372"/>
        </pc:sldMkLst>
        <pc:spChg chg="mod">
          <ac:chgData name="Tom Carter" userId="db1a6269-4a98-40f4-850a-a379349c8455" providerId="ADAL" clId="{ABAF003C-6A2E-48CA-BA6D-D6D12E9B1187}" dt="2026-08-06T09:51:49.595" v="52" actId="20577"/>
          <ac:spMkLst>
            <pc:docMk/>
            <pc:sldMk cId="4244560387" sldId="372"/>
            <ac:spMk id="4" creationId="{00000000-0000-0000-0000-000000000000}"/>
          </ac:spMkLst>
        </pc:spChg>
      </pc:sldChg>
      <pc:sldChg chg="modSp mod">
        <pc:chgData name="Tom Carter" userId="db1a6269-4a98-40f4-850a-a379349c8455" providerId="ADAL" clId="{ABAF003C-6A2E-48CA-BA6D-D6D12E9B1187}" dt="2026-08-06T09:51:55.402" v="53" actId="20577"/>
        <pc:sldMkLst>
          <pc:docMk/>
          <pc:sldMk cId="148494555" sldId="373"/>
        </pc:sldMkLst>
        <pc:spChg chg="mod">
          <ac:chgData name="Tom Carter" userId="db1a6269-4a98-40f4-850a-a379349c8455" providerId="ADAL" clId="{ABAF003C-6A2E-48CA-BA6D-D6D12E9B1187}" dt="2026-08-06T09:51:55.402" v="53" actId="20577"/>
          <ac:spMkLst>
            <pc:docMk/>
            <pc:sldMk cId="148494555" sldId="373"/>
            <ac:spMk id="4" creationId="{00000000-0000-0000-0000-000000000000}"/>
          </ac:spMkLst>
        </pc:spChg>
      </pc:sldChg>
      <pc:sldChg chg="modSp mod">
        <pc:chgData name="Tom Carter" userId="db1a6269-4a98-40f4-850a-a379349c8455" providerId="ADAL" clId="{ABAF003C-6A2E-48CA-BA6D-D6D12E9B1187}" dt="2026-08-06T09:51:59.146" v="54" actId="20577"/>
        <pc:sldMkLst>
          <pc:docMk/>
          <pc:sldMk cId="2151469825" sldId="374"/>
        </pc:sldMkLst>
        <pc:spChg chg="mod">
          <ac:chgData name="Tom Carter" userId="db1a6269-4a98-40f4-850a-a379349c8455" providerId="ADAL" clId="{ABAF003C-6A2E-48CA-BA6D-D6D12E9B1187}" dt="2026-08-06T09:51:59.146" v="54" actId="20577"/>
          <ac:spMkLst>
            <pc:docMk/>
            <pc:sldMk cId="2151469825" sldId="374"/>
            <ac:spMk id="2" creationId="{00000000-0000-0000-0000-000000000000}"/>
          </ac:spMkLst>
        </pc:spChg>
      </pc:sldChg>
      <pc:sldChg chg="modSp mod">
        <pc:chgData name="Tom Carter" userId="db1a6269-4a98-40f4-850a-a379349c8455" providerId="ADAL" clId="{ABAF003C-6A2E-48CA-BA6D-D6D12E9B1187}" dt="2026-08-06T09:52:27.316" v="57" actId="20577"/>
        <pc:sldMkLst>
          <pc:docMk/>
          <pc:sldMk cId="1563181995" sldId="377"/>
        </pc:sldMkLst>
        <pc:spChg chg="mod">
          <ac:chgData name="Tom Carter" userId="db1a6269-4a98-40f4-850a-a379349c8455" providerId="ADAL" clId="{ABAF003C-6A2E-48CA-BA6D-D6D12E9B1187}" dt="2026-08-06T09:52:27.316" v="57" actId="20577"/>
          <ac:spMkLst>
            <pc:docMk/>
            <pc:sldMk cId="1563181995" sldId="377"/>
            <ac:spMk id="10" creationId="{00000000-0000-0000-0000-000000000000}"/>
          </ac:spMkLst>
        </pc:spChg>
      </pc:sldChg>
      <pc:sldChg chg="modSp mod">
        <pc:chgData name="Tom Carter" userId="db1a6269-4a98-40f4-850a-a379349c8455" providerId="ADAL" clId="{ABAF003C-6A2E-48CA-BA6D-D6D12E9B1187}" dt="2026-08-06T09:52:37.442" v="58" actId="20577"/>
        <pc:sldMkLst>
          <pc:docMk/>
          <pc:sldMk cId="3171602471" sldId="379"/>
        </pc:sldMkLst>
        <pc:spChg chg="mod">
          <ac:chgData name="Tom Carter" userId="db1a6269-4a98-40f4-850a-a379349c8455" providerId="ADAL" clId="{ABAF003C-6A2E-48CA-BA6D-D6D12E9B1187}" dt="2026-08-06T09:52:37.442" v="58" actId="20577"/>
          <ac:spMkLst>
            <pc:docMk/>
            <pc:sldMk cId="3171602471" sldId="379"/>
            <ac:spMk id="2" creationId="{00000000-0000-0000-0000-000000000000}"/>
          </ac:spMkLst>
        </pc:spChg>
      </pc:sldChg>
      <pc:sldChg chg="modSp mod">
        <pc:chgData name="Tom Carter" userId="db1a6269-4a98-40f4-850a-a379349c8455" providerId="ADAL" clId="{ABAF003C-6A2E-48CA-BA6D-D6D12E9B1187}" dt="2026-08-06T09:47:58.958" v="9" actId="255"/>
        <pc:sldMkLst>
          <pc:docMk/>
          <pc:sldMk cId="1280866957" sldId="386"/>
        </pc:sldMkLst>
        <pc:spChg chg="mod">
          <ac:chgData name="Tom Carter" userId="db1a6269-4a98-40f4-850a-a379349c8455" providerId="ADAL" clId="{ABAF003C-6A2E-48CA-BA6D-D6D12E9B1187}" dt="2026-08-06T09:47:58.958" v="9" actId="255"/>
          <ac:spMkLst>
            <pc:docMk/>
            <pc:sldMk cId="1280866957" sldId="386"/>
            <ac:spMk id="4" creationId="{00000000-0000-0000-0000-000000000000}"/>
          </ac:spMkLst>
        </pc:spChg>
      </pc:sldChg>
      <pc:sldChg chg="modSp">
        <pc:chgData name="Tom Carter" userId="db1a6269-4a98-40f4-850a-a379349c8455" providerId="ADAL" clId="{ABAF003C-6A2E-48CA-BA6D-D6D12E9B1187}" dt="2026-08-06T09:48:26.742" v="26" actId="1035"/>
        <pc:sldMkLst>
          <pc:docMk/>
          <pc:sldMk cId="3308254640" sldId="392"/>
        </pc:sldMkLst>
        <pc:picChg chg="mod">
          <ac:chgData name="Tom Carter" userId="db1a6269-4a98-40f4-850a-a379349c8455" providerId="ADAL" clId="{ABAF003C-6A2E-48CA-BA6D-D6D12E9B1187}" dt="2026-08-06T09:48:26.742" v="26" actId="1035"/>
          <ac:picMkLst>
            <pc:docMk/>
            <pc:sldMk cId="3308254640" sldId="392"/>
            <ac:picMk id="4" creationId="{E8FFE920-2949-DA4E-8DD1-8187DF3F4D04}"/>
          </ac:picMkLst>
        </pc:picChg>
      </pc:sldChg>
      <pc:sldChg chg="modSp mod">
        <pc:chgData name="Tom Carter" userId="db1a6269-4a98-40f4-850a-a379349c8455" providerId="ADAL" clId="{ABAF003C-6A2E-48CA-BA6D-D6D12E9B1187}" dt="2026-08-06T09:48:39.004" v="28" actId="114"/>
        <pc:sldMkLst>
          <pc:docMk/>
          <pc:sldMk cId="3850085242" sldId="393"/>
        </pc:sldMkLst>
        <pc:spChg chg="mod">
          <ac:chgData name="Tom Carter" userId="db1a6269-4a98-40f4-850a-a379349c8455" providerId="ADAL" clId="{ABAF003C-6A2E-48CA-BA6D-D6D12E9B1187}" dt="2026-08-06T09:48:39.004" v="28" actId="114"/>
          <ac:spMkLst>
            <pc:docMk/>
            <pc:sldMk cId="3850085242" sldId="393"/>
            <ac:spMk id="2" creationId="{CB20C91C-1A1A-ECD7-2BFA-479F8B53DD50}"/>
          </ac:spMkLst>
        </pc:spChg>
      </pc:sldChg>
      <pc:sldChg chg="modSp mod">
        <pc:chgData name="Tom Carter" userId="db1a6269-4a98-40f4-850a-a379349c8455" providerId="ADAL" clId="{ABAF003C-6A2E-48CA-BA6D-D6D12E9B1187}" dt="2026-08-06T09:49:01.125" v="30" actId="20577"/>
        <pc:sldMkLst>
          <pc:docMk/>
          <pc:sldMk cId="2468272982" sldId="394"/>
        </pc:sldMkLst>
        <pc:spChg chg="mod">
          <ac:chgData name="Tom Carter" userId="db1a6269-4a98-40f4-850a-a379349c8455" providerId="ADAL" clId="{ABAF003C-6A2E-48CA-BA6D-D6D12E9B1187}" dt="2026-08-06T09:49:01.125" v="30" actId="20577"/>
          <ac:spMkLst>
            <pc:docMk/>
            <pc:sldMk cId="2468272982" sldId="394"/>
            <ac:spMk id="2" creationId="{BE8DD1A1-CC96-B847-B068-9136D475187E}"/>
          </ac:spMkLst>
        </pc:spChg>
      </pc:sldChg>
      <pc:sldChg chg="modSp mod">
        <pc:chgData name="Tom Carter" userId="db1a6269-4a98-40f4-850a-a379349c8455" providerId="ADAL" clId="{ABAF003C-6A2E-48CA-BA6D-D6D12E9B1187}" dt="2026-08-06T09:53:05.184" v="59" actId="20577"/>
        <pc:sldMkLst>
          <pc:docMk/>
          <pc:sldMk cId="1339598014" sldId="396"/>
        </pc:sldMkLst>
        <pc:spChg chg="mod">
          <ac:chgData name="Tom Carter" userId="db1a6269-4a98-40f4-850a-a379349c8455" providerId="ADAL" clId="{ABAF003C-6A2E-48CA-BA6D-D6D12E9B1187}" dt="2026-08-06T09:53:05.184" v="59" actId="20577"/>
          <ac:spMkLst>
            <pc:docMk/>
            <pc:sldMk cId="1339598014" sldId="396"/>
            <ac:spMk id="2" creationId="{1257EF56-8DDC-D21F-BDD2-DC6119F4B3FE}"/>
          </ac:spMkLst>
        </pc:spChg>
      </pc:sldChg>
      <pc:sldChg chg="modSp mod">
        <pc:chgData name="Tom Carter" userId="db1a6269-4a98-40f4-850a-a379349c8455" providerId="ADAL" clId="{ABAF003C-6A2E-48CA-BA6D-D6D12E9B1187}" dt="2026-08-06T09:53:08.960" v="60" actId="20577"/>
        <pc:sldMkLst>
          <pc:docMk/>
          <pc:sldMk cId="92201073" sldId="397"/>
        </pc:sldMkLst>
        <pc:spChg chg="mod">
          <ac:chgData name="Tom Carter" userId="db1a6269-4a98-40f4-850a-a379349c8455" providerId="ADAL" clId="{ABAF003C-6A2E-48CA-BA6D-D6D12E9B1187}" dt="2026-08-06T09:53:08.960" v="60" actId="20577"/>
          <ac:spMkLst>
            <pc:docMk/>
            <pc:sldMk cId="92201073" sldId="397"/>
            <ac:spMk id="2" creationId="{5015D3A6-94C9-7AF9-36D7-E172DA089E42}"/>
          </ac:spMkLst>
        </pc:spChg>
      </pc:sldChg>
      <pc:sldChg chg="modSp mod">
        <pc:chgData name="Tom Carter" userId="db1a6269-4a98-40f4-850a-a379349c8455" providerId="ADAL" clId="{ABAF003C-6A2E-48CA-BA6D-D6D12E9B1187}" dt="2026-08-06T09:53:12.680" v="61" actId="20577"/>
        <pc:sldMkLst>
          <pc:docMk/>
          <pc:sldMk cId="444938804" sldId="398"/>
        </pc:sldMkLst>
        <pc:spChg chg="mod">
          <ac:chgData name="Tom Carter" userId="db1a6269-4a98-40f4-850a-a379349c8455" providerId="ADAL" clId="{ABAF003C-6A2E-48CA-BA6D-D6D12E9B1187}" dt="2026-08-06T09:53:12.680" v="61" actId="20577"/>
          <ac:spMkLst>
            <pc:docMk/>
            <pc:sldMk cId="444938804" sldId="398"/>
            <ac:spMk id="2" creationId="{81D5A604-400F-FA9E-96CF-20C8830A38A0}"/>
          </ac:spMkLst>
        </pc:spChg>
      </pc:sldChg>
      <pc:sldChg chg="modSp mod">
        <pc:chgData name="Tom Carter" userId="db1a6269-4a98-40f4-850a-a379349c8455" providerId="ADAL" clId="{ABAF003C-6A2E-48CA-BA6D-D6D12E9B1187}" dt="2026-08-06T09:53:15.904" v="62" actId="20577"/>
        <pc:sldMkLst>
          <pc:docMk/>
          <pc:sldMk cId="1798268785" sldId="399"/>
        </pc:sldMkLst>
        <pc:spChg chg="mod">
          <ac:chgData name="Tom Carter" userId="db1a6269-4a98-40f4-850a-a379349c8455" providerId="ADAL" clId="{ABAF003C-6A2E-48CA-BA6D-D6D12E9B1187}" dt="2026-08-06T09:53:15.904" v="62" actId="20577"/>
          <ac:spMkLst>
            <pc:docMk/>
            <pc:sldMk cId="1798268785" sldId="399"/>
            <ac:spMk id="2" creationId="{688F7E46-EB2D-7699-922B-569868336C51}"/>
          </ac:spMkLst>
        </pc:spChg>
      </pc:sldChg>
      <pc:sldChg chg="modSp mod">
        <pc:chgData name="Tom Carter" userId="db1a6269-4a98-40f4-850a-a379349c8455" providerId="ADAL" clId="{ABAF003C-6A2E-48CA-BA6D-D6D12E9B1187}" dt="2026-08-06T09:53:31.294" v="64" actId="12"/>
        <pc:sldMkLst>
          <pc:docMk/>
          <pc:sldMk cId="230188818" sldId="400"/>
        </pc:sldMkLst>
        <pc:spChg chg="mod">
          <ac:chgData name="Tom Carter" userId="db1a6269-4a98-40f4-850a-a379349c8455" providerId="ADAL" clId="{ABAF003C-6A2E-48CA-BA6D-D6D12E9B1187}" dt="2026-08-06T09:53:31.294" v="64" actId="12"/>
          <ac:spMkLst>
            <pc:docMk/>
            <pc:sldMk cId="230188818" sldId="400"/>
            <ac:spMk id="4" creationId="{24D2E7D2-ABBB-2F04-3514-C17BF0A2DD11}"/>
          </ac:spMkLst>
        </pc:spChg>
      </pc:sldChg>
      <pc:sldChg chg="delSp del mod">
        <pc:chgData name="Tom Carter" userId="db1a6269-4a98-40f4-850a-a379349c8455" providerId="ADAL" clId="{ABAF003C-6A2E-48CA-BA6D-D6D12E9B1187}" dt="2026-08-06T09:47:43.911" v="8" actId="47"/>
        <pc:sldMkLst>
          <pc:docMk/>
          <pc:sldMk cId="2458412026" sldId="531"/>
        </pc:sldMkLst>
        <pc:spChg chg="del">
          <ac:chgData name="Tom Carter" userId="db1a6269-4a98-40f4-850a-a379349c8455" providerId="ADAL" clId="{ABAF003C-6A2E-48CA-BA6D-D6D12E9B1187}" dt="2026-08-06T09:47:16.119" v="0" actId="478"/>
          <ac:spMkLst>
            <pc:docMk/>
            <pc:sldMk cId="2458412026" sldId="531"/>
            <ac:spMk id="3" creationId="{9F13A4CD-A9FA-6F44-0587-3B2EA251FBCB}"/>
          </ac:spMkLst>
        </pc:spChg>
        <pc:spChg chg="del">
          <ac:chgData name="Tom Carter" userId="db1a6269-4a98-40f4-850a-a379349c8455" providerId="ADAL" clId="{ABAF003C-6A2E-48CA-BA6D-D6D12E9B1187}" dt="2026-08-06T09:47:20.377" v="2" actId="478"/>
          <ac:spMkLst>
            <pc:docMk/>
            <pc:sldMk cId="2458412026" sldId="531"/>
            <ac:spMk id="4" creationId="{AC03BB85-C30F-14F3-AD9D-2646BFB08AE5}"/>
          </ac:spMkLst>
        </pc:spChg>
        <pc:spChg chg="del">
          <ac:chgData name="Tom Carter" userId="db1a6269-4a98-40f4-850a-a379349c8455" providerId="ADAL" clId="{ABAF003C-6A2E-48CA-BA6D-D6D12E9B1187}" dt="2026-08-06T09:47:18.058" v="1" actId="478"/>
          <ac:spMkLst>
            <pc:docMk/>
            <pc:sldMk cId="2458412026" sldId="531"/>
            <ac:spMk id="5" creationId="{27777A82-61FF-731E-A39B-FCD4FBFA927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8/6/2026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module</a:t>
            </a:r>
            <a:r>
              <a:rPr lang="en-US" baseline="0" dirty="0"/>
              <a:t> we will look at CMSIS-RTOS2 Scheduling and Advanced Scheduling algorithms like EDF, RM.</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a:t>
            </a:fld>
            <a:endParaRPr lang="en-US"/>
          </a:p>
        </p:txBody>
      </p:sp>
    </p:spTree>
    <p:extLst>
      <p:ext uri="{BB962C8B-B14F-4D97-AF65-F5344CB8AC3E}">
        <p14:creationId xmlns:p14="http://schemas.microsoft.com/office/powerpoint/2010/main" val="1235287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DFA7D-E5DE-7D32-A322-03C93EE02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7DC354-3C36-B7C0-B4D6-C84318E2B7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3AA57-4A2C-5532-1D66-7A4EEB3B89C7}"/>
              </a:ext>
            </a:extLst>
          </p:cNvPr>
          <p:cNvSpPr>
            <a:spLocks noGrp="1"/>
          </p:cNvSpPr>
          <p:nvPr>
            <p:ph type="body" idx="1"/>
          </p:nvPr>
        </p:nvSpPr>
        <p:spPr/>
        <p:txBody>
          <a:bodyPr/>
          <a:lstStyle/>
          <a:p>
            <a:r>
              <a:rPr lang="en-US" dirty="0"/>
              <a:t>Thread</a:t>
            </a:r>
            <a:r>
              <a:rPr lang="en-US" baseline="0" dirty="0"/>
              <a:t> is the term used to refer to a process in CMSIS-RTOS2.</a:t>
            </a:r>
          </a:p>
          <a:p>
            <a:endParaRPr lang="en-US" baseline="0" dirty="0"/>
          </a:p>
          <a:p>
            <a:r>
              <a:rPr lang="en-US" baseline="0" dirty="0"/>
              <a:t>There are many API (application programming interface) functions:</a:t>
            </a:r>
          </a:p>
          <a:p>
            <a:pPr marL="0" marR="0" lvl="1" indent="0" algn="l" defTabSz="457200" rtl="0" eaLnBrk="1" fontAlgn="auto" latinLnBrk="0" hangingPunct="1">
              <a:lnSpc>
                <a:spcPct val="100000"/>
              </a:lnSpc>
              <a:spcBef>
                <a:spcPts val="0"/>
              </a:spcBef>
              <a:spcAft>
                <a:spcPts val="0"/>
              </a:spcAft>
              <a:buClrTx/>
              <a:buSzTx/>
              <a:buFontTx/>
              <a:buNone/>
              <a:tabLst/>
              <a:defRPr/>
            </a:pPr>
            <a:r>
              <a:rPr lang="en-US" dirty="0"/>
              <a:t>CMSIS-RTOS2 </a:t>
            </a:r>
            <a:r>
              <a:rPr lang="en-US" dirty="0" err="1"/>
              <a:t>FunctionDescriptionosThreadNew</a:t>
            </a:r>
            <a:r>
              <a:rPr lang="en-US" dirty="0"/>
              <a:t>()Create a new Thread/</a:t>
            </a:r>
            <a:r>
              <a:rPr lang="en-US" dirty="0" err="1"/>
              <a:t>threadosThreadGetId</a:t>
            </a:r>
            <a:r>
              <a:rPr lang="en-US" dirty="0"/>
              <a:t>()Get ID of current </a:t>
            </a:r>
            <a:r>
              <a:rPr lang="en-US" dirty="0" err="1"/>
              <a:t>threadosThreadExit</a:t>
            </a:r>
            <a:r>
              <a:rPr lang="en-US" dirty="0"/>
              <a:t>()Terminate the current </a:t>
            </a:r>
            <a:r>
              <a:rPr lang="en-US" dirty="0" err="1"/>
              <a:t>threadosThreadTerminate</a:t>
            </a:r>
            <a:r>
              <a:rPr lang="en-US" dirty="0"/>
              <a:t>(id)Terminate another </a:t>
            </a:r>
            <a:r>
              <a:rPr lang="en-US" dirty="0" err="1"/>
              <a:t>threadosThreadSetPriority</a:t>
            </a:r>
            <a:r>
              <a:rPr lang="en-US" dirty="0"/>
              <a:t>(id, </a:t>
            </a:r>
            <a:r>
              <a:rPr lang="en-US" dirty="0" err="1"/>
              <a:t>prio</a:t>
            </a:r>
            <a:r>
              <a:rPr lang="en-US" dirty="0"/>
              <a:t>)Change thread </a:t>
            </a:r>
            <a:r>
              <a:rPr lang="en-US" dirty="0" err="1"/>
              <a:t>priorityosThreadYield</a:t>
            </a:r>
            <a:r>
              <a:rPr lang="en-US" dirty="0"/>
              <a:t>()Voluntarily yield to </a:t>
            </a:r>
            <a:r>
              <a:rPr lang="en-US" dirty="0" err="1"/>
              <a:t>schedulerSome</a:t>
            </a:r>
            <a:r>
              <a:rPr lang="en-US" dirty="0"/>
              <a:t> more</a:t>
            </a:r>
            <a:r>
              <a:rPr lang="en-US" baseline="0" dirty="0"/>
              <a:t> Threads are listed in the slide.</a:t>
            </a:r>
            <a:endParaRPr lang="en-US" dirty="0"/>
          </a:p>
          <a:p>
            <a:pPr marL="0" marR="0" lvl="1"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a:extLst>
              <a:ext uri="{FF2B5EF4-FFF2-40B4-BE49-F238E27FC236}">
                <a16:creationId xmlns:a16="http://schemas.microsoft.com/office/drawing/2014/main" id="{3B7ECB5D-6479-7A86-6C15-46FB1BA2580B}"/>
              </a:ext>
            </a:extLst>
          </p:cNvPr>
          <p:cNvSpPr>
            <a:spLocks noGrp="1"/>
          </p:cNvSpPr>
          <p:nvPr>
            <p:ph type="sldNum" sz="quarter" idx="10"/>
          </p:nvPr>
        </p:nvSpPr>
        <p:spPr/>
        <p:txBody>
          <a:bodyPr/>
          <a:lstStyle/>
          <a:p>
            <a:fld id="{579786E7-EDAB-724E-B5AE-1BDD6B8AC677}" type="slidenum">
              <a:rPr lang="en-US" smtClean="0"/>
              <a:pPr/>
              <a:t>3</a:t>
            </a:fld>
            <a:endParaRPr lang="en-US"/>
          </a:p>
        </p:txBody>
      </p:sp>
    </p:spTree>
    <p:extLst>
      <p:ext uri="{BB962C8B-B14F-4D97-AF65-F5344CB8AC3E}">
        <p14:creationId xmlns:p14="http://schemas.microsoft.com/office/powerpoint/2010/main" val="78675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C118-54AD-4ED5-F049-B269C2FFB5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C8E56-3881-4D3F-7356-C9921E13F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BCE14-8044-5EAE-1276-966A5F97D693}"/>
              </a:ext>
            </a:extLst>
          </p:cNvPr>
          <p:cNvSpPr>
            <a:spLocks noGrp="1"/>
          </p:cNvSpPr>
          <p:nvPr>
            <p:ph type="body" idx="1"/>
          </p:nvPr>
        </p:nvSpPr>
        <p:spPr/>
        <p:txBody>
          <a:bodyPr/>
          <a:lstStyle/>
          <a:p>
            <a:r>
              <a:rPr lang="en-GB" dirty="0"/>
              <a:t>Thread states like Ready, Running, Blocked</a:t>
            </a:r>
            <a:r>
              <a:rPr lang="en-GB" baseline="0" dirty="0"/>
              <a:t> etc. can be defined by statements like:</a:t>
            </a:r>
          </a:p>
          <a:p>
            <a:r>
              <a:rPr lang="en-GB" baseline="0" dirty="0"/>
              <a:t>#define READY 1;</a:t>
            </a:r>
          </a:p>
        </p:txBody>
      </p:sp>
      <p:sp>
        <p:nvSpPr>
          <p:cNvPr id="4" name="Slide Number Placeholder 3">
            <a:extLst>
              <a:ext uri="{FF2B5EF4-FFF2-40B4-BE49-F238E27FC236}">
                <a16:creationId xmlns:a16="http://schemas.microsoft.com/office/drawing/2014/main" id="{B18151E7-C4EF-B449-DE31-383DF044E1E1}"/>
              </a:ext>
            </a:extLst>
          </p:cNvPr>
          <p:cNvSpPr>
            <a:spLocks noGrp="1"/>
          </p:cNvSpPr>
          <p:nvPr>
            <p:ph type="sldNum" sz="quarter" idx="10"/>
          </p:nvPr>
        </p:nvSpPr>
        <p:spPr/>
        <p:txBody>
          <a:bodyPr/>
          <a:lstStyle/>
          <a:p>
            <a:fld id="{579786E7-EDAB-724E-B5AE-1BDD6B8AC677}" type="slidenum">
              <a:rPr lang="en-US" smtClean="0"/>
              <a:pPr/>
              <a:t>4</a:t>
            </a:fld>
            <a:endParaRPr lang="en-US"/>
          </a:p>
        </p:txBody>
      </p:sp>
    </p:spTree>
    <p:extLst>
      <p:ext uri="{BB962C8B-B14F-4D97-AF65-F5344CB8AC3E}">
        <p14:creationId xmlns:p14="http://schemas.microsoft.com/office/powerpoint/2010/main" val="1798119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81273-8E15-0051-5650-698B11409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059D3-4C25-1226-D003-900A21098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76985F-CD76-4984-52D7-066CF43B64AB}"/>
              </a:ext>
            </a:extLst>
          </p:cNvPr>
          <p:cNvSpPr>
            <a:spLocks noGrp="1"/>
          </p:cNvSpPr>
          <p:nvPr>
            <p:ph type="body" idx="1"/>
          </p:nvPr>
        </p:nvSpPr>
        <p:spPr/>
        <p:txBody>
          <a:bodyPr/>
          <a:lstStyle/>
          <a:p>
            <a:r>
              <a:rPr lang="en-GB" dirty="0"/>
              <a:t>Thread creation</a:t>
            </a:r>
            <a:r>
              <a:rPr lang="en-GB" baseline="0" dirty="0"/>
              <a:t> can assign priority and define user stack size. Threads also have the feature to be deleted if needed.</a:t>
            </a:r>
            <a:endParaRPr lang="en-GB" dirty="0"/>
          </a:p>
        </p:txBody>
      </p:sp>
      <p:sp>
        <p:nvSpPr>
          <p:cNvPr id="4" name="Slide Number Placeholder 3">
            <a:extLst>
              <a:ext uri="{FF2B5EF4-FFF2-40B4-BE49-F238E27FC236}">
                <a16:creationId xmlns:a16="http://schemas.microsoft.com/office/drawing/2014/main" id="{FA4C8EF6-CE09-D490-3CBA-2B3EBABAAA45}"/>
              </a:ext>
            </a:extLst>
          </p:cNvPr>
          <p:cNvSpPr>
            <a:spLocks noGrp="1"/>
          </p:cNvSpPr>
          <p:nvPr>
            <p:ph type="sldNum" sz="quarter" idx="10"/>
          </p:nvPr>
        </p:nvSpPr>
        <p:spPr/>
        <p:txBody>
          <a:bodyPr/>
          <a:lstStyle/>
          <a:p>
            <a:fld id="{579786E7-EDAB-724E-B5AE-1BDD6B8AC677}" type="slidenum">
              <a:rPr lang="en-US" smtClean="0"/>
              <a:pPr/>
              <a:t>5</a:t>
            </a:fld>
            <a:endParaRPr lang="en-US"/>
          </a:p>
        </p:txBody>
      </p:sp>
    </p:spTree>
    <p:extLst>
      <p:ext uri="{BB962C8B-B14F-4D97-AF65-F5344CB8AC3E}">
        <p14:creationId xmlns:p14="http://schemas.microsoft.com/office/powerpoint/2010/main" val="286154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836C1-3FF7-294D-B9BB-86D908B9F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C97E3-3640-CC2F-AD44-08F76962B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1BC26D-3F05-4A1C-4580-1B752D21BED5}"/>
              </a:ext>
            </a:extLst>
          </p:cNvPr>
          <p:cNvSpPr>
            <a:spLocks noGrp="1"/>
          </p:cNvSpPr>
          <p:nvPr>
            <p:ph type="body" idx="1"/>
          </p:nvPr>
        </p:nvSpPr>
        <p:spPr/>
        <p:txBody>
          <a:bodyPr/>
          <a:lstStyle/>
          <a:p>
            <a:pPr lvl="1"/>
            <a:r>
              <a:rPr lang="en-GB" dirty="0"/>
              <a:t>At</a:t>
            </a:r>
            <a:r>
              <a:rPr lang="en-GB" baseline="0" dirty="0"/>
              <a:t> Thread creation, </a:t>
            </a:r>
            <a:r>
              <a:rPr lang="en-GB" sz="1800" dirty="0"/>
              <a:t>CMSIS-RTOS2 allows you to have multiple instances of the same Thread, passing parameters to a Thread at creation, for example, to specify GPIO pins.</a:t>
            </a:r>
          </a:p>
          <a:p>
            <a:pPr lvl="1"/>
            <a:r>
              <a:rPr lang="en-GB" sz="1800" dirty="0"/>
              <a:t>Threads can be created</a:t>
            </a:r>
            <a:r>
              <a:rPr lang="en-GB" sz="1800" baseline="0" dirty="0"/>
              <a:t> and deleted by other Threads. </a:t>
            </a:r>
          </a:p>
          <a:p>
            <a:pPr lvl="1"/>
            <a:r>
              <a:rPr lang="en-GB" sz="1800" dirty="0"/>
              <a:t>The first Thread is commonly used for</a:t>
            </a:r>
          </a:p>
          <a:p>
            <a:pPr lvl="1"/>
            <a:r>
              <a:rPr lang="en-GB" sz="1800" baseline="0" dirty="0"/>
              <a:t>      </a:t>
            </a:r>
            <a:r>
              <a:rPr lang="en-GB" sz="1600" dirty="0"/>
              <a:t>Initialization of hardware</a:t>
            </a:r>
          </a:p>
          <a:p>
            <a:pPr lvl="1"/>
            <a:r>
              <a:rPr lang="en-GB" sz="1600" dirty="0"/>
              <a:t>      Creation of all other Threads </a:t>
            </a:r>
          </a:p>
          <a:p>
            <a:pPr lvl="1"/>
            <a:r>
              <a:rPr lang="en-GB" sz="1600" dirty="0"/>
              <a:t>      Then deletes itself</a:t>
            </a:r>
            <a:endParaRPr lang="en-US" sz="1600" dirty="0"/>
          </a:p>
          <a:p>
            <a:endParaRPr lang="en-GB" dirty="0"/>
          </a:p>
        </p:txBody>
      </p:sp>
      <p:sp>
        <p:nvSpPr>
          <p:cNvPr id="4" name="Slide Number Placeholder 3">
            <a:extLst>
              <a:ext uri="{FF2B5EF4-FFF2-40B4-BE49-F238E27FC236}">
                <a16:creationId xmlns:a16="http://schemas.microsoft.com/office/drawing/2014/main" id="{75B70DB7-0E24-C1A6-700C-1586AB8D276B}"/>
              </a:ext>
            </a:extLst>
          </p:cNvPr>
          <p:cNvSpPr>
            <a:spLocks noGrp="1"/>
          </p:cNvSpPr>
          <p:nvPr>
            <p:ph type="sldNum" sz="quarter" idx="10"/>
          </p:nvPr>
        </p:nvSpPr>
        <p:spPr/>
        <p:txBody>
          <a:bodyPr/>
          <a:lstStyle/>
          <a:p>
            <a:fld id="{579786E7-EDAB-724E-B5AE-1BDD6B8AC677}" type="slidenum">
              <a:rPr lang="en-US" smtClean="0"/>
              <a:pPr/>
              <a:t>6</a:t>
            </a:fld>
            <a:endParaRPr lang="en-US"/>
          </a:p>
        </p:txBody>
      </p:sp>
    </p:spTree>
    <p:extLst>
      <p:ext uri="{BB962C8B-B14F-4D97-AF65-F5344CB8AC3E}">
        <p14:creationId xmlns:p14="http://schemas.microsoft.com/office/powerpoint/2010/main" val="1564640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Real time scheduling can be used for aperiodic Threads or periodic</a:t>
            </a:r>
            <a:r>
              <a:rPr lang="en-GB" baseline="0" dirty="0"/>
              <a:t> Threads.</a:t>
            </a:r>
          </a:p>
          <a:p>
            <a:r>
              <a:rPr lang="en-GB" baseline="0" dirty="0"/>
              <a:t>EDD, EDF, and LL are some algorithms commonly used for aperiodic scheduling. Here, all the Threads are aperiodic and have the same priority and no inter-Thread dependency.</a:t>
            </a:r>
          </a:p>
          <a:p>
            <a:endParaRPr lang="en-GB" baseline="0" dirty="0"/>
          </a:p>
          <a:p>
            <a:r>
              <a:rPr lang="en-GB" baseline="0" dirty="0"/>
              <a:t>In the next few slides, we will learn about periodic and prioritized Threads and their scheduling algorithms.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7</a:t>
            </a:fld>
            <a:endParaRPr lang="en-US"/>
          </a:p>
        </p:txBody>
      </p:sp>
    </p:spTree>
    <p:extLst>
      <p:ext uri="{BB962C8B-B14F-4D97-AF65-F5344CB8AC3E}">
        <p14:creationId xmlns:p14="http://schemas.microsoft.com/office/powerpoint/2010/main" val="1317478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5A325C-8A4C-4F85-BE9B-DC9B9EBB7C18}" type="slidenum">
              <a:rPr lang="en-US"/>
              <a:pPr/>
              <a:t>8</a:t>
            </a:fld>
            <a:endParaRPr lang="en-US"/>
          </a:p>
        </p:txBody>
      </p:sp>
      <p:sp>
        <p:nvSpPr>
          <p:cNvPr id="398338" name="Rectangle 2"/>
          <p:cNvSpPr>
            <a:spLocks noGrp="1" noRot="1" noChangeAspect="1" noChangeArrowheads="1" noTextEdit="1"/>
          </p:cNvSpPr>
          <p:nvPr>
            <p:ph type="sldImg"/>
          </p:nvPr>
        </p:nvSpPr>
        <p:spPr>
          <a:xfrm>
            <a:off x="381000" y="685800"/>
            <a:ext cx="6096000" cy="3429000"/>
          </a:xfrm>
          <a:ln/>
        </p:spPr>
      </p:sp>
      <p:sp>
        <p:nvSpPr>
          <p:cNvPr id="398339" name="Rectangle 3"/>
          <p:cNvSpPr>
            <a:spLocks noGrp="1" noChangeArrowheads="1"/>
          </p:cNvSpPr>
          <p:nvPr>
            <p:ph type="body" idx="1"/>
          </p:nvPr>
        </p:nvSpPr>
        <p:spPr/>
        <p:txBody>
          <a:bodyPr/>
          <a:lstStyle/>
          <a:p>
            <a:r>
              <a:rPr lang="en-US" dirty="0"/>
              <a:t>For</a:t>
            </a:r>
            <a:r>
              <a:rPr lang="en-US" baseline="0" dirty="0"/>
              <a:t> every</a:t>
            </a:r>
            <a:r>
              <a:rPr lang="en-US" dirty="0"/>
              <a:t> periodic Thread, the</a:t>
            </a:r>
            <a:r>
              <a:rPr lang="en-US" baseline="0" dirty="0"/>
              <a:t> following parameters are specified: Execution time, period, dead line, and release time. </a:t>
            </a:r>
          </a:p>
          <a:p>
            <a:r>
              <a:rPr lang="en-US" baseline="0" dirty="0"/>
              <a:t>In the above figure, Thread P1 takes 1 unit to execute, the period is 4 units, and the deadline is 4. Release time can be within the period. </a:t>
            </a:r>
          </a:p>
          <a:p>
            <a:r>
              <a:rPr lang="en-US" baseline="0" dirty="0"/>
              <a:t>Some assumption is: The deadline and period are the same. The interval between two occurrences of Thread 1 may be more than period interval (4 units), but Thread 1 appears in every periodic interval (within every units period).</a:t>
            </a:r>
          </a:p>
          <a:p>
            <a:endParaRPr lang="en-US" baseline="0" dirty="0"/>
          </a:p>
          <a:p>
            <a:r>
              <a:rPr lang="en-US" baseline="0" dirty="0"/>
              <a:t>The release time of a Thread should be such that the Thread can be executed before the dead line. Example, Thread 1 has a dead line of 8, the execution time is 1 unit and it can not be released at time 7.5 unit. It can be released at any time between 4 and 8.</a:t>
            </a:r>
          </a:p>
          <a:p>
            <a:r>
              <a:rPr lang="en-US" dirty="0"/>
              <a:t> </a:t>
            </a:r>
          </a:p>
        </p:txBody>
      </p:sp>
    </p:spTree>
    <p:extLst>
      <p:ext uri="{BB962C8B-B14F-4D97-AF65-F5344CB8AC3E}">
        <p14:creationId xmlns:p14="http://schemas.microsoft.com/office/powerpoint/2010/main" val="3650893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periodic scheduling our</a:t>
            </a:r>
            <a:r>
              <a:rPr lang="en-GB" baseline="0" dirty="0"/>
              <a:t> goals are to meet all the Thread deadlines and maximize processor utilization. The utilization of a processor is the sum of (execution time of Thread/period of Thread) for all Threads. The expression is given in the slide and we will see it again in the next slide.</a:t>
            </a:r>
          </a:p>
          <a:p>
            <a:r>
              <a:rPr lang="en-GB" baseline="0" dirty="0"/>
              <a:t>The scheduler needs to decide which Thread to run next. It can be based on the importance or priority of the Thread without starving any low priority Thread.</a:t>
            </a:r>
          </a:p>
          <a:p>
            <a:endParaRPr lang="en-GB" baseline="0" dirty="0"/>
          </a:p>
          <a:p>
            <a:r>
              <a:rPr lang="en-GB" baseline="0" dirty="0"/>
              <a:t>Some common algorithms are : </a:t>
            </a:r>
          </a:p>
          <a:p>
            <a:pPr lvl="2"/>
            <a:r>
              <a:rPr lang="en-GB" dirty="0"/>
              <a:t>Earliest deadline first (EDF)</a:t>
            </a:r>
          </a:p>
          <a:p>
            <a:pPr lvl="2"/>
            <a:r>
              <a:rPr lang="en-GB" dirty="0"/>
              <a:t>Rate monotonic (RM)</a:t>
            </a:r>
          </a:p>
          <a:p>
            <a:pPr lvl="2"/>
            <a:r>
              <a:rPr lang="en-GB" dirty="0"/>
              <a:t>Deadline monotonic (DM) (</a:t>
            </a:r>
            <a:r>
              <a:rPr lang="en-GB" i="1" dirty="0" err="1"/>
              <a:t>D</a:t>
            </a:r>
            <a:r>
              <a:rPr lang="en-GB" i="1" baseline="-25000" dirty="0" err="1"/>
              <a:t>i</a:t>
            </a:r>
            <a:r>
              <a:rPr lang="en-GB" dirty="0" err="1"/>
              <a:t>≤</a:t>
            </a:r>
            <a:r>
              <a:rPr lang="en-GB" i="1" dirty="0" err="1"/>
              <a:t>T</a:t>
            </a:r>
            <a:r>
              <a:rPr lang="en-GB" i="1" baseline="-25000" dirty="0" err="1"/>
              <a:t>i</a:t>
            </a:r>
            <a:r>
              <a:rPr lang="en-GB" dirty="0"/>
              <a:t>),</a:t>
            </a:r>
            <a:r>
              <a:rPr lang="en-GB" baseline="0" dirty="0"/>
              <a:t>  i.e. dead line is less than or equal to period</a:t>
            </a:r>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9</a:t>
            </a:fld>
            <a:endParaRPr lang="en-US"/>
          </a:p>
        </p:txBody>
      </p:sp>
    </p:spTree>
    <p:extLst>
      <p:ext uri="{BB962C8B-B14F-4D97-AF65-F5344CB8AC3E}">
        <p14:creationId xmlns:p14="http://schemas.microsoft.com/office/powerpoint/2010/main" val="193199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Earliest Deadline First (EDF)</a:t>
            </a:r>
            <a:r>
              <a:rPr lang="en-GB" baseline="0" dirty="0"/>
              <a:t> runs the Thread with the earliest deadline first. It is a dynamic approach and decided during the running of Threads.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10</a:t>
            </a:fld>
            <a:endParaRPr lang="en-US"/>
          </a:p>
        </p:txBody>
      </p:sp>
    </p:spTree>
    <p:extLst>
      <p:ext uri="{BB962C8B-B14F-4D97-AF65-F5344CB8AC3E}">
        <p14:creationId xmlns:p14="http://schemas.microsoft.com/office/powerpoint/2010/main" val="2400006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example, although</a:t>
            </a:r>
            <a:r>
              <a:rPr lang="en-GB" baseline="0" dirty="0"/>
              <a:t> the utilization is below 100%, P3 will miss the deadline in the second period!  </a:t>
            </a:r>
          </a:p>
          <a:p>
            <a:r>
              <a:rPr lang="en-GB" baseline="0" dirty="0"/>
              <a:t>But total utilization is equal to the sum (execution time/period). In this example: Total utilization = ( 1/8) + (1/9) + (9/12) = 0.986.  Utilization value is not below 0.7796 the U max for 3 Threads. Hence these 3 Threads are not RM schedulable.</a:t>
            </a:r>
          </a:p>
          <a:p>
            <a:r>
              <a:rPr lang="en-GB" baseline="0" dirty="0"/>
              <a:t>Deadline monotonic includes RM, dispatch the Thread with least </a:t>
            </a:r>
            <a:r>
              <a:rPr lang="en-US" sz="1200" dirty="0"/>
              <a:t>time from release to deadline.</a:t>
            </a:r>
            <a:endParaRPr lang="en-GB" baseline="0" dirty="0"/>
          </a:p>
          <a:p>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11</a:t>
            </a:fld>
            <a:endParaRPr lang="en-US"/>
          </a:p>
        </p:txBody>
      </p:sp>
    </p:spTree>
    <p:extLst>
      <p:ext uri="{BB962C8B-B14F-4D97-AF65-F5344CB8AC3E}">
        <p14:creationId xmlns:p14="http://schemas.microsoft.com/office/powerpoint/2010/main" val="23848387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RM and DM (Rate Monotonic</a:t>
            </a:r>
            <a:r>
              <a:rPr lang="en-GB" baseline="0" dirty="0"/>
              <a:t> and Dead Line Monotonic) are static priority algorithms. Threads are given priority depending on some criteria (in RM: the Thread with shortest period has the highest priority).</a:t>
            </a:r>
          </a:p>
          <a:p>
            <a:r>
              <a:rPr lang="en-GB" dirty="0"/>
              <a:t>The total utilization</a:t>
            </a:r>
            <a:r>
              <a:rPr lang="en-GB" baseline="0" dirty="0"/>
              <a:t> of the processor under RM is limited for large number of Threads to 69%.</a:t>
            </a:r>
          </a:p>
          <a:p>
            <a:endParaRPr lang="en-GB" baseline="0" dirty="0"/>
          </a:p>
          <a:p>
            <a:r>
              <a:rPr lang="en-GB" baseline="0" dirty="0"/>
              <a:t>EDF – The Earliest Deadline First algorithm is a dynamic priority algorithm. Thread’s priorities change when approaching the deadline. The total utilization of the processor for this scheme can be up-to 100%.</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12</a:t>
            </a:fld>
            <a:endParaRPr lang="en-US"/>
          </a:p>
        </p:txBody>
      </p:sp>
    </p:spTree>
    <p:extLst>
      <p:ext uri="{BB962C8B-B14F-4D97-AF65-F5344CB8AC3E}">
        <p14:creationId xmlns:p14="http://schemas.microsoft.com/office/powerpoint/2010/main" val="264486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 of the assumptions for RM and EDF algorithms</a:t>
            </a:r>
            <a:r>
              <a:rPr lang="en-GB" baseline="0" dirty="0"/>
              <a:t> are:</a:t>
            </a:r>
          </a:p>
          <a:p>
            <a:pPr marL="171450" indent="-171450">
              <a:buFont typeface="Arial" panose="020B0604020202020204" pitchFamily="34" charset="0"/>
              <a:buChar char="•"/>
            </a:pPr>
            <a:r>
              <a:rPr lang="en-GB" baseline="0" dirty="0"/>
              <a:t>Threads are periodic</a:t>
            </a:r>
          </a:p>
          <a:p>
            <a:pPr marL="171450" indent="-171450">
              <a:buFont typeface="Arial" panose="020B0604020202020204" pitchFamily="34" charset="0"/>
              <a:buChar char="•"/>
            </a:pPr>
            <a:r>
              <a:rPr lang="en-GB" baseline="0" dirty="0"/>
              <a:t>Single CPU is available</a:t>
            </a:r>
          </a:p>
          <a:p>
            <a:pPr marL="171450" indent="-171450">
              <a:buFont typeface="Arial" panose="020B0604020202020204" pitchFamily="34" charset="0"/>
              <a:buChar char="•"/>
            </a:pPr>
            <a:r>
              <a:rPr lang="en-GB" baseline="0" dirty="0"/>
              <a:t>Context switching time is zero </a:t>
            </a:r>
          </a:p>
          <a:p>
            <a:pPr marL="171450" indent="-171450">
              <a:buFont typeface="Arial" panose="020B0604020202020204" pitchFamily="34" charset="0"/>
              <a:buChar char="•"/>
            </a:pPr>
            <a:endParaRPr lang="en-GB" baseline="0" dirty="0"/>
          </a:p>
          <a:p>
            <a:r>
              <a:rPr lang="en-GB" baseline="0" dirty="0"/>
              <a:t>The Thread execution time is known and it is fixed value. In reality, the execution time may vary between minimum and worst case value. If we assume the execution time is the Worst case time and assign the Threads as per RM, </a:t>
            </a:r>
          </a:p>
          <a:p>
            <a:r>
              <a:rPr lang="en-GB" baseline="0" dirty="0"/>
              <a:t>(if RM schedulable), all the Threads will meet the deadline. But, when the execution time is average or minimum, the processor will have more free time.</a:t>
            </a:r>
          </a:p>
          <a:p>
            <a:endParaRPr lang="en-GB" baseline="0" dirty="0"/>
          </a:p>
          <a:p>
            <a:r>
              <a:rPr lang="en-GB" baseline="0" dirty="0"/>
              <a:t>We assume also that the Threads are independent of each other. Results of one Thread are not needed for another Thread. (if this is the case, both the Threads can be made as one big single Thread and scheduling can be done).</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13</a:t>
            </a:fld>
            <a:endParaRPr lang="en-US"/>
          </a:p>
        </p:txBody>
      </p:sp>
    </p:spTree>
    <p:extLst>
      <p:ext uri="{BB962C8B-B14F-4D97-AF65-F5344CB8AC3E}">
        <p14:creationId xmlns:p14="http://schemas.microsoft.com/office/powerpoint/2010/main" val="716982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Threads</a:t>
            </a:r>
            <a:r>
              <a:rPr lang="en-GB" baseline="0" dirty="0"/>
              <a:t> may have a priority. A high priority Thread will pre-empt the low priority Thread. But if a low priority Thread is in a critical section, it may not be pre-empted. This can cause special handling.</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14</a:t>
            </a:fld>
            <a:endParaRPr lang="en-US"/>
          </a:p>
        </p:txBody>
      </p:sp>
    </p:spTree>
    <p:extLst>
      <p:ext uri="{BB962C8B-B14F-4D97-AF65-F5344CB8AC3E}">
        <p14:creationId xmlns:p14="http://schemas.microsoft.com/office/powerpoint/2010/main" val="3342874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Examples</a:t>
            </a:r>
            <a:r>
              <a:rPr lang="en-GB" baseline="0" dirty="0"/>
              <a:t> here apply mutex to guarantee exclusive access to a critical section.</a:t>
            </a:r>
          </a:p>
          <a:p>
            <a:r>
              <a:rPr lang="en-GB" baseline="0" dirty="0"/>
              <a:t>A low priority Thread can block a high priority Thread if it is executing a critical section. This is called Priority Inversion.</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15</a:t>
            </a:fld>
            <a:endParaRPr lang="en-US"/>
          </a:p>
        </p:txBody>
      </p:sp>
    </p:spTree>
    <p:extLst>
      <p:ext uri="{BB962C8B-B14F-4D97-AF65-F5344CB8AC3E}">
        <p14:creationId xmlns:p14="http://schemas.microsoft.com/office/powerpoint/2010/main" val="3758862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a Thread is in a critical section, it can not be pre-empted. In the slide, Thread 3 and Thread 2 are blocked since Thread 1 is executing in the critical section.</a:t>
            </a:r>
          </a:p>
        </p:txBody>
      </p:sp>
      <p:sp>
        <p:nvSpPr>
          <p:cNvPr id="4" name="Slide Number Placeholder 3"/>
          <p:cNvSpPr>
            <a:spLocks noGrp="1"/>
          </p:cNvSpPr>
          <p:nvPr>
            <p:ph type="sldNum" sz="quarter" idx="10"/>
          </p:nvPr>
        </p:nvSpPr>
        <p:spPr/>
        <p:txBody>
          <a:bodyPr/>
          <a:lstStyle/>
          <a:p>
            <a:fld id="{579786E7-EDAB-724E-B5AE-1BDD6B8AC677}" type="slidenum">
              <a:rPr lang="en-US" smtClean="0"/>
              <a:pPr/>
              <a:t>16</a:t>
            </a:fld>
            <a:endParaRPr lang="en-US"/>
          </a:p>
        </p:txBody>
      </p:sp>
    </p:spTree>
    <p:extLst>
      <p:ext uri="{BB962C8B-B14F-4D97-AF65-F5344CB8AC3E}">
        <p14:creationId xmlns:p14="http://schemas.microsoft.com/office/powerpoint/2010/main" val="36995171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many RTOS including CMSIS-RTOS2, the priority of low priority thread (if it blocks high priority Thread) is increased to the highest priority of threads blocked by it.</a:t>
            </a:r>
          </a:p>
          <a:p>
            <a:r>
              <a:rPr lang="en-GB" dirty="0"/>
              <a:t>It</a:t>
            </a:r>
            <a:r>
              <a:rPr lang="en-GB" baseline="0" dirty="0"/>
              <a:t> then</a:t>
            </a:r>
            <a:r>
              <a:rPr lang="en-GB" dirty="0"/>
              <a:t> resumes its original priority when it exits the critical section. This is called Priority Inheritance.</a:t>
            </a:r>
            <a:endParaRPr lang="en-US"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17</a:t>
            </a:fld>
            <a:endParaRPr lang="en-US"/>
          </a:p>
        </p:txBody>
      </p:sp>
    </p:spTree>
    <p:extLst>
      <p:ext uri="{BB962C8B-B14F-4D97-AF65-F5344CB8AC3E}">
        <p14:creationId xmlns:p14="http://schemas.microsoft.com/office/powerpoint/2010/main" val="26656006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a:t>
            </a:r>
            <a:r>
              <a:rPr lang="en-GB" baseline="0" dirty="0"/>
              <a:t> the above figure, thread 1 has a lower priority. Thread 3 has the highest priority. But, if thread 1 grabs the critical resource “A”, and if thread 2 needs A, then it is blocked though it has higher priority. Since this happened, as per the priority inheritance principle, thread 1 gets the priority of thread 2. At present you can think that thread 1 and 2 are in FIFO (because they both have the same priority. Since thread 1 entered the FIFO queue, it will continue).</a:t>
            </a:r>
          </a:p>
          <a:p>
            <a:r>
              <a:rPr lang="en-GB" baseline="0" dirty="0"/>
              <a:t>After thread 1 releases A,  its priority comes down to original value.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18</a:t>
            </a:fld>
            <a:endParaRPr lang="en-US"/>
          </a:p>
        </p:txBody>
      </p:sp>
    </p:spTree>
    <p:extLst>
      <p:ext uri="{BB962C8B-B14F-4D97-AF65-F5344CB8AC3E}">
        <p14:creationId xmlns:p14="http://schemas.microsoft.com/office/powerpoint/2010/main" val="4060330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there are two critical</a:t>
            </a:r>
            <a:r>
              <a:rPr lang="en-GB" baseline="0" dirty="0"/>
              <a:t> shared resources, priority inheritance will not solve the problem, it will lead to a dead-lock problem.</a:t>
            </a:r>
          </a:p>
          <a:p>
            <a:r>
              <a:rPr lang="en-GB" baseline="0" dirty="0"/>
              <a:t>Thread 1 has critical resource A and thread 2 has critical resource B. Next, thread 1 needs B and thread 2 needs A. This is where dead-lock occurs.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19</a:t>
            </a:fld>
            <a:endParaRPr lang="en-US"/>
          </a:p>
        </p:txBody>
      </p:sp>
    </p:spTree>
    <p:extLst>
      <p:ext uri="{BB962C8B-B14F-4D97-AF65-F5344CB8AC3E}">
        <p14:creationId xmlns:p14="http://schemas.microsoft.com/office/powerpoint/2010/main" val="15385012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thread 2 requests</a:t>
            </a:r>
            <a:r>
              <a:rPr lang="en-GB" baseline="0" dirty="0"/>
              <a:t> B, it is rejected as thread 1 is accessing A and PC(A) is max(T1,T2)=T2 and thread 2 does not have a priority larger than its own priority. So thread 1 continues (with priority of t2 as thread 2 is blocked by it) and can request B as other threads are not accessing any critical section (no priority ceiling). After thread 1 releases A and B, its priority resumes and thread 2 can carry on as all priority ceilings are removed. </a:t>
            </a:r>
          </a:p>
          <a:p>
            <a:endParaRPr lang="en-GB" baseline="0" dirty="0">
              <a:solidFill>
                <a:srgbClr val="FF0000"/>
              </a:solidFill>
            </a:endParaRPr>
          </a:p>
          <a:p>
            <a:r>
              <a:rPr lang="en-GB" dirty="0">
                <a:solidFill>
                  <a:srgbClr val="FF0000"/>
                </a:solidFill>
              </a:rPr>
              <a:t>Here</a:t>
            </a:r>
            <a:r>
              <a:rPr lang="en-GB" baseline="0" dirty="0">
                <a:solidFill>
                  <a:srgbClr val="FF0000"/>
                </a:solidFill>
              </a:rPr>
              <a:t> </a:t>
            </a:r>
            <a:r>
              <a:rPr lang="en-GB" dirty="0">
                <a:solidFill>
                  <a:srgbClr val="FF0000"/>
                </a:solidFill>
              </a:rPr>
              <a:t>each resource is assigned a priority ceiling, which is a priority equal to the highest priority of any thread which may request</a:t>
            </a:r>
            <a:r>
              <a:rPr lang="en-GB" baseline="0" dirty="0">
                <a:solidFill>
                  <a:srgbClr val="FF0000"/>
                </a:solidFill>
              </a:rPr>
              <a:t> </a:t>
            </a:r>
            <a:r>
              <a:rPr lang="en-GB" dirty="0">
                <a:solidFill>
                  <a:srgbClr val="FF0000"/>
                </a:solidFill>
              </a:rPr>
              <a:t>the resource. </a:t>
            </a:r>
          </a:p>
          <a:p>
            <a:r>
              <a:rPr lang="en-GB" dirty="0">
                <a:solidFill>
                  <a:srgbClr val="FF0000"/>
                </a:solidFill>
              </a:rPr>
              <a:t>This solves the deadlock</a:t>
            </a:r>
            <a:r>
              <a:rPr lang="en-GB" baseline="0" dirty="0">
                <a:solidFill>
                  <a:srgbClr val="FF0000"/>
                </a:solidFill>
              </a:rPr>
              <a:t> and prevents circular wait. It is a</a:t>
            </a:r>
            <a:r>
              <a:rPr lang="en-GB" dirty="0">
                <a:solidFill>
                  <a:srgbClr val="FF0000"/>
                </a:solidFill>
              </a:rPr>
              <a:t> dynamic priority scheduling</a:t>
            </a:r>
            <a:r>
              <a:rPr lang="en-GB" baseline="0" dirty="0">
                <a:solidFill>
                  <a:srgbClr val="FF0000"/>
                </a:solidFill>
              </a:rPr>
              <a:t> technique, but this is not implemented in CMSIS-RTOS2.</a:t>
            </a:r>
            <a:endParaRPr lang="en-GB" dirty="0">
              <a:solidFill>
                <a:srgbClr val="FF0000"/>
              </a:solidFill>
            </a:endParaRPr>
          </a:p>
        </p:txBody>
      </p:sp>
      <p:sp>
        <p:nvSpPr>
          <p:cNvPr id="4" name="Slide Number Placeholder 3"/>
          <p:cNvSpPr>
            <a:spLocks noGrp="1"/>
          </p:cNvSpPr>
          <p:nvPr>
            <p:ph type="sldNum" sz="quarter" idx="10"/>
          </p:nvPr>
        </p:nvSpPr>
        <p:spPr/>
        <p:txBody>
          <a:bodyPr/>
          <a:lstStyle/>
          <a:p>
            <a:fld id="{579786E7-EDAB-724E-B5AE-1BDD6B8AC677}" type="slidenum">
              <a:rPr lang="en-US" smtClean="0"/>
              <a:pPr/>
              <a:t>20</a:t>
            </a:fld>
            <a:endParaRPr lang="en-US"/>
          </a:p>
        </p:txBody>
      </p:sp>
    </p:spTree>
    <p:extLst>
      <p:ext uri="{BB962C8B-B14F-4D97-AF65-F5344CB8AC3E}">
        <p14:creationId xmlns:p14="http://schemas.microsoft.com/office/powerpoint/2010/main" val="4283463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62037-17D2-45AB-E22C-7C2EAB7C3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3DA517-7B94-D832-8CD6-4E50F5D162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3E0F6-CE47-7D9C-2B0E-0A9F18971969}"/>
              </a:ext>
            </a:extLst>
          </p:cNvPr>
          <p:cNvSpPr>
            <a:spLocks noGrp="1"/>
          </p:cNvSpPr>
          <p:nvPr>
            <p:ph type="body" idx="1"/>
          </p:nvPr>
        </p:nvSpPr>
        <p:spPr/>
        <p:txBody>
          <a:bodyPr/>
          <a:lstStyle/>
          <a:p>
            <a:r>
              <a:rPr lang="en-GB" dirty="0"/>
              <a:t>The CMSIS-RTOS2</a:t>
            </a:r>
            <a:r>
              <a:rPr lang="en-GB" baseline="0" dirty="0"/>
              <a:t> mutex will be introduced in the next module.</a:t>
            </a:r>
          </a:p>
          <a:p>
            <a:endParaRPr lang="en-US" dirty="0"/>
          </a:p>
          <a:p>
            <a:r>
              <a:rPr lang="en-GB" dirty="0"/>
              <a:t>CMSIS-RTOS2 supports priority scheduling and applies priority inheritance policy with mutexes.</a:t>
            </a:r>
          </a:p>
          <a:p>
            <a:r>
              <a:rPr lang="en-GB" dirty="0"/>
              <a:t>Possible to alter the priority of a Thread after creation.</a:t>
            </a:r>
          </a:p>
          <a:p>
            <a:r>
              <a:rPr lang="en-GB" dirty="0"/>
              <a:t>Higher number, higher priority, from 0 to 255</a:t>
            </a:r>
          </a:p>
          <a:p>
            <a:pPr lvl="1"/>
            <a:r>
              <a:rPr lang="en-GB" dirty="0"/>
              <a:t>A FIFO queue for each priority</a:t>
            </a:r>
          </a:p>
          <a:p>
            <a:endParaRPr lang="en-US" dirty="0"/>
          </a:p>
          <a:p>
            <a:r>
              <a:rPr lang="en-US" dirty="0"/>
              <a:t>The figure in the</a:t>
            </a:r>
            <a:r>
              <a:rPr lang="en-US" baseline="0" dirty="0"/>
              <a:t> slide shows the priority. From priority low to high: Idle Thread, Round Robin Threads, High Priority background Thread, IRQ (interrupt request Threads), </a:t>
            </a:r>
          </a:p>
          <a:p>
            <a:endParaRPr lang="en-US" baseline="0" dirty="0"/>
          </a:p>
          <a:p>
            <a:endParaRPr 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err="1"/>
              <a:t>Preemption</a:t>
            </a:r>
            <a:r>
              <a:rPr lang="en-GB" dirty="0"/>
              <a:t>: Higher-priority threads automatically </a:t>
            </a:r>
            <a:r>
              <a:rPr lang="en-GB" dirty="0" err="1"/>
              <a:t>preempt</a:t>
            </a:r>
            <a:r>
              <a:rPr lang="en-GB" dirty="0"/>
              <a:t> lower-priority </a:t>
            </a:r>
            <a:r>
              <a:rPr lang="en-GB" dirty="0" err="1"/>
              <a:t>onesRound</a:t>
            </a:r>
            <a:r>
              <a:rPr lang="en-GB" dirty="0"/>
              <a:t>-robin scheduling occurs between threads at the same priority </a:t>
            </a:r>
            <a:r>
              <a:rPr lang="en-GB" dirty="0" err="1"/>
              <a:t>levelIdle</a:t>
            </a:r>
            <a:r>
              <a:rPr lang="en-GB" dirty="0"/>
              <a:t> thread runs only when no other threads are </a:t>
            </a:r>
            <a:r>
              <a:rPr lang="en-GB" dirty="0" err="1"/>
              <a:t>readyPriority</a:t>
            </a:r>
            <a:r>
              <a:rPr lang="en-GB" dirty="0"/>
              <a:t> inheritance is supported </a:t>
            </a:r>
            <a:r>
              <a:rPr lang="en-GB" dirty="0" err="1"/>
              <a:t>with:cCopyEditosMutexAttr_t</a:t>
            </a:r>
            <a:r>
              <a:rPr lang="en-GB" dirty="0"/>
              <a:t> </a:t>
            </a:r>
            <a:r>
              <a:rPr lang="en-GB" dirty="0" err="1"/>
              <a:t>attr</a:t>
            </a:r>
            <a:r>
              <a:rPr lang="en-GB" dirty="0"/>
              <a:t> = { .</a:t>
            </a:r>
            <a:r>
              <a:rPr lang="en-GB" dirty="0" err="1"/>
              <a:t>attr_bits</a:t>
            </a:r>
            <a:r>
              <a:rPr lang="en-GB" dirty="0"/>
              <a:t> = </a:t>
            </a:r>
            <a:r>
              <a:rPr lang="en-GB" dirty="0" err="1"/>
              <a:t>osMutexPrioInherit</a:t>
            </a:r>
            <a:r>
              <a:rPr lang="en-GB" dirty="0"/>
              <a:t> };</a:t>
            </a:r>
            <a:r>
              <a:rPr lang="en-GB" dirty="0" err="1"/>
              <a:t>osMutexNew</a:t>
            </a:r>
            <a:r>
              <a:rPr lang="en-GB" dirty="0"/>
              <a:t>(&amp;</a:t>
            </a:r>
            <a:r>
              <a:rPr lang="en-GB" dirty="0" err="1"/>
              <a:t>attr</a:t>
            </a:r>
            <a:r>
              <a:rPr lang="en-GB" dirty="0"/>
              <a:t>);</a:t>
            </a:r>
          </a:p>
          <a:p>
            <a:endParaRPr lang="en-US" dirty="0"/>
          </a:p>
        </p:txBody>
      </p:sp>
      <p:sp>
        <p:nvSpPr>
          <p:cNvPr id="4" name="Slide Number Placeholder 3">
            <a:extLst>
              <a:ext uri="{FF2B5EF4-FFF2-40B4-BE49-F238E27FC236}">
                <a16:creationId xmlns:a16="http://schemas.microsoft.com/office/drawing/2014/main" id="{12A41C59-76C9-3B3D-5D89-4C38902E8BDA}"/>
              </a:ext>
            </a:extLst>
          </p:cNvPr>
          <p:cNvSpPr>
            <a:spLocks noGrp="1"/>
          </p:cNvSpPr>
          <p:nvPr>
            <p:ph type="sldNum" sz="quarter" idx="10"/>
          </p:nvPr>
        </p:nvSpPr>
        <p:spPr/>
        <p:txBody>
          <a:bodyPr/>
          <a:lstStyle/>
          <a:p>
            <a:fld id="{579786E7-EDAB-724E-B5AE-1BDD6B8AC677}" type="slidenum">
              <a:rPr lang="en-US" smtClean="0"/>
              <a:pPr/>
              <a:t>21</a:t>
            </a:fld>
            <a:endParaRPr lang="en-US"/>
          </a:p>
        </p:txBody>
      </p:sp>
    </p:spTree>
    <p:extLst>
      <p:ext uri="{BB962C8B-B14F-4D97-AF65-F5344CB8AC3E}">
        <p14:creationId xmlns:p14="http://schemas.microsoft.com/office/powerpoint/2010/main" val="25153409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9553B-2821-11F0-A9D6-321DD16E4F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CD7AE-CC79-95E2-5C96-716E08FDE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FAD2D-68A6-7FEB-9ED9-0199EEF5697D}"/>
              </a:ext>
            </a:extLst>
          </p:cNvPr>
          <p:cNvSpPr>
            <a:spLocks noGrp="1"/>
          </p:cNvSpPr>
          <p:nvPr>
            <p:ph type="body" idx="1"/>
          </p:nvPr>
        </p:nvSpPr>
        <p:spPr/>
        <p:txBody>
          <a:bodyPr/>
          <a:lstStyle/>
          <a:p>
            <a:r>
              <a:rPr lang="en-GB" dirty="0"/>
              <a:t>Taking deadlines into consideration is always a challenge for</a:t>
            </a:r>
            <a:r>
              <a:rPr lang="en-GB" baseline="0" dirty="0"/>
              <a:t> operating system</a:t>
            </a:r>
            <a:r>
              <a:rPr lang="en-GB" dirty="0"/>
              <a:t> design.</a:t>
            </a:r>
          </a:p>
          <a:p>
            <a:endParaRPr lang="en-GB" dirty="0"/>
          </a:p>
          <a:p>
            <a:r>
              <a:rPr lang="en-GB" dirty="0"/>
              <a:t>CMSIS-RTOS2 scheduling options:</a:t>
            </a:r>
          </a:p>
          <a:p>
            <a:pPr marL="171450" indent="-171450">
              <a:buFont typeface="Arial" panose="020B0604020202020204" pitchFamily="34" charset="0"/>
              <a:buChar char="•"/>
            </a:pPr>
            <a:r>
              <a:rPr lang="en-GB" dirty="0"/>
              <a:t>Pre-emptive scheduling with a different priority for each Thread.</a:t>
            </a:r>
            <a:r>
              <a:rPr lang="en-GB" baseline="0" dirty="0"/>
              <a:t> </a:t>
            </a:r>
            <a:r>
              <a:rPr lang="en-GB" dirty="0"/>
              <a:t>Sometimes the OS can pre-empt a</a:t>
            </a:r>
            <a:r>
              <a:rPr lang="en-GB" baseline="0" dirty="0"/>
              <a:t> Thread.</a:t>
            </a:r>
          </a:p>
          <a:p>
            <a:pPr marL="171450" indent="-171450">
              <a:buFont typeface="Arial" panose="020B0604020202020204" pitchFamily="34" charset="0"/>
              <a:buChar char="•"/>
            </a:pPr>
            <a:r>
              <a:rPr lang="en-GB" baseline="0" dirty="0"/>
              <a:t>Round robin scheduling: All Threads have the same priority. Each Thread will run for a short fixed period of time. This quantum can be fixed by RTX </a:t>
            </a:r>
            <a:r>
              <a:rPr lang="en-GB" baseline="0" dirty="0" err="1"/>
              <a:t>Conf</a:t>
            </a:r>
            <a:r>
              <a:rPr lang="en-GB" baseline="0" dirty="0"/>
              <a:t> </a:t>
            </a:r>
            <a:r>
              <a:rPr lang="en-GB" baseline="0" dirty="0" err="1"/>
              <a:t>CM.c</a:t>
            </a:r>
            <a:r>
              <a:rPr lang="en-GB" baseline="0" dirty="0"/>
              <a:t> command.  A round robin queue is maintained to make sure all the Threads get to execute.</a:t>
            </a:r>
          </a:p>
          <a:p>
            <a:pPr marL="171450" indent="-171450">
              <a:buFont typeface="Arial" panose="020B0604020202020204" pitchFamily="34" charset="0"/>
              <a:buChar char="•"/>
            </a:pPr>
            <a:r>
              <a:rPr lang="en-GB" baseline="0" dirty="0"/>
              <a:t>Co-operative Multi-Threading: here all Threads have the same priority. No round robin queue. Each Thread will run till there is a blocking OS call.</a:t>
            </a:r>
          </a:p>
          <a:p>
            <a:endParaRPr lang="en-GB" baseline="0" dirty="0"/>
          </a:p>
          <a:p>
            <a:r>
              <a:rPr lang="en-GB" dirty="0"/>
              <a:t>CMSIS-RTOS2 allows only </a:t>
            </a:r>
            <a:r>
              <a:rPr lang="en-GB" b="1" dirty="0"/>
              <a:t>Round-Robin Pre-emptive</a:t>
            </a:r>
            <a:r>
              <a:rPr lang="en-GB" b="0" baseline="0" dirty="0"/>
              <a:t> ( or </a:t>
            </a:r>
            <a:r>
              <a:rPr lang="en-GB" dirty="0"/>
              <a:t>Prioritized Round</a:t>
            </a:r>
            <a:r>
              <a:rPr lang="en-GB" baseline="0" dirty="0"/>
              <a:t> Robin) scheduling. </a:t>
            </a:r>
            <a:endParaRPr lang="en-GB" dirty="0"/>
          </a:p>
          <a:p>
            <a:r>
              <a:rPr lang="en-GB" dirty="0"/>
              <a:t>RTX does not provide aperiodic or periodic deadline scheduling.</a:t>
            </a:r>
            <a:endParaRPr lang="en-GB" baseline="0" dirty="0"/>
          </a:p>
          <a:p>
            <a:endParaRPr lang="en-US" dirty="0"/>
          </a:p>
        </p:txBody>
      </p:sp>
      <p:sp>
        <p:nvSpPr>
          <p:cNvPr id="4" name="Slide Number Placeholder 3">
            <a:extLst>
              <a:ext uri="{FF2B5EF4-FFF2-40B4-BE49-F238E27FC236}">
                <a16:creationId xmlns:a16="http://schemas.microsoft.com/office/drawing/2014/main" id="{B4873D1F-DF9B-47C2-F222-F63F87F9B2A1}"/>
              </a:ext>
            </a:extLst>
          </p:cNvPr>
          <p:cNvSpPr>
            <a:spLocks noGrp="1"/>
          </p:cNvSpPr>
          <p:nvPr>
            <p:ph type="sldNum" sz="quarter" idx="10"/>
          </p:nvPr>
        </p:nvSpPr>
        <p:spPr/>
        <p:txBody>
          <a:bodyPr/>
          <a:lstStyle/>
          <a:p>
            <a:fld id="{579786E7-EDAB-724E-B5AE-1BDD6B8AC677}" type="slidenum">
              <a:rPr lang="en-US" smtClean="0"/>
              <a:pPr/>
              <a:t>22</a:t>
            </a:fld>
            <a:endParaRPr lang="en-US"/>
          </a:p>
        </p:txBody>
      </p:sp>
    </p:spTree>
    <p:extLst>
      <p:ext uri="{BB962C8B-B14F-4D97-AF65-F5344CB8AC3E}">
        <p14:creationId xmlns:p14="http://schemas.microsoft.com/office/powerpoint/2010/main" val="21576888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70F4E-4643-0B23-875B-6777329ED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1E286-3299-2FED-10DD-1F9ADB3390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03339-E726-60B9-5F34-D243A7814F8A}"/>
              </a:ext>
            </a:extLst>
          </p:cNvPr>
          <p:cNvSpPr>
            <a:spLocks noGrp="1"/>
          </p:cNvSpPr>
          <p:nvPr>
            <p:ph type="body" idx="1"/>
          </p:nvPr>
        </p:nvSpPr>
        <p:spPr/>
        <p:txBody>
          <a:bodyPr/>
          <a:lstStyle/>
          <a:p>
            <a:r>
              <a:rPr lang="en-GB" dirty="0"/>
              <a:t>CMSIS-RTOS2 provides time management as:</a:t>
            </a:r>
            <a:r>
              <a:rPr lang="en-GB" baseline="0" dirty="0"/>
              <a:t> Get current time, simple delay and periodic Thread execution. The operating system decides the Thread execution periods based on the interval time set.</a:t>
            </a:r>
            <a:endParaRPr lang="en-GB" dirty="0"/>
          </a:p>
        </p:txBody>
      </p:sp>
      <p:sp>
        <p:nvSpPr>
          <p:cNvPr id="4" name="Slide Number Placeholder 3">
            <a:extLst>
              <a:ext uri="{FF2B5EF4-FFF2-40B4-BE49-F238E27FC236}">
                <a16:creationId xmlns:a16="http://schemas.microsoft.com/office/drawing/2014/main" id="{AB094017-7E91-EA98-5A8C-93AC431B9E06}"/>
              </a:ext>
            </a:extLst>
          </p:cNvPr>
          <p:cNvSpPr>
            <a:spLocks noGrp="1"/>
          </p:cNvSpPr>
          <p:nvPr>
            <p:ph type="sldNum" sz="quarter" idx="10"/>
          </p:nvPr>
        </p:nvSpPr>
        <p:spPr/>
        <p:txBody>
          <a:bodyPr/>
          <a:lstStyle/>
          <a:p>
            <a:fld id="{579786E7-EDAB-724E-B5AE-1BDD6B8AC677}" type="slidenum">
              <a:rPr lang="en-US" smtClean="0"/>
              <a:pPr/>
              <a:t>23</a:t>
            </a:fld>
            <a:endParaRPr lang="en-US"/>
          </a:p>
        </p:txBody>
      </p:sp>
    </p:spTree>
    <p:extLst>
      <p:ext uri="{BB962C8B-B14F-4D97-AF65-F5344CB8AC3E}">
        <p14:creationId xmlns:p14="http://schemas.microsoft.com/office/powerpoint/2010/main" val="37612133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03279-1EFF-EDB0-F82D-8B33ED8110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B8792-7474-29C0-D4E0-3A12DFFB5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40E7F2-90D3-4B30-857E-BED6935A42D1}"/>
              </a:ext>
            </a:extLst>
          </p:cNvPr>
          <p:cNvSpPr>
            <a:spLocks noGrp="1"/>
          </p:cNvSpPr>
          <p:nvPr>
            <p:ph type="body" idx="1"/>
          </p:nvPr>
        </p:nvSpPr>
        <p:spPr/>
        <p:txBody>
          <a:bodyPr/>
          <a:lstStyle/>
          <a:p>
            <a:r>
              <a:rPr lang="en-GB" dirty="0"/>
              <a:t>Also possible to assign</a:t>
            </a:r>
            <a:r>
              <a:rPr lang="en-GB" baseline="0" dirty="0"/>
              <a:t> an </a:t>
            </a:r>
            <a:r>
              <a:rPr lang="en-GB" dirty="0"/>
              <a:t>ID to a timer and kill specific</a:t>
            </a:r>
            <a:r>
              <a:rPr lang="en-GB" baseline="0" dirty="0"/>
              <a:t> a timer.</a:t>
            </a:r>
          </a:p>
          <a:p>
            <a:endParaRPr lang="en-GB" baseline="0" dirty="0"/>
          </a:p>
          <a:p>
            <a:r>
              <a:rPr lang="en-GB" baseline="0" dirty="0"/>
              <a:t>CMSIS-RTOS2 supports cooperate function and user time function.</a:t>
            </a:r>
          </a:p>
          <a:p>
            <a:pPr marL="0" marR="0" lvl="1" indent="0" algn="l" defTabSz="457200" rtl="0" eaLnBrk="1" fontAlgn="auto" latinLnBrk="0" hangingPunct="1">
              <a:lnSpc>
                <a:spcPct val="100000"/>
              </a:lnSpc>
              <a:spcBef>
                <a:spcPts val="0"/>
              </a:spcBef>
              <a:spcAft>
                <a:spcPts val="0"/>
              </a:spcAft>
              <a:buClrTx/>
              <a:buSzTx/>
              <a:buFontTx/>
              <a:buNone/>
              <a:tabLst/>
              <a:defRPr/>
            </a:pPr>
            <a:r>
              <a:rPr lang="en-GB" dirty="0"/>
              <a:t>Thread calling a cooperate function will voluntarily give up its current possession of the CPU and allow the next ready Thread with same priority to run. </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GB" dirty="0"/>
          </a:p>
          <a:p>
            <a:pPr marL="0" marR="0" lvl="1" indent="0" algn="l" defTabSz="457200" rtl="0" eaLnBrk="1" fontAlgn="auto" latinLnBrk="0" hangingPunct="1">
              <a:lnSpc>
                <a:spcPct val="100000"/>
              </a:lnSpc>
              <a:spcBef>
                <a:spcPts val="0"/>
              </a:spcBef>
              <a:spcAft>
                <a:spcPts val="0"/>
              </a:spcAft>
              <a:buClrTx/>
              <a:buSzTx/>
              <a:buFontTx/>
              <a:buNone/>
              <a:tabLst/>
              <a:defRPr/>
            </a:pPr>
            <a:r>
              <a:rPr lang="en-GB" dirty="0"/>
              <a:t>In the user timer function,</a:t>
            </a:r>
            <a:r>
              <a:rPr lang="en-GB" baseline="0" dirty="0"/>
              <a:t> the time is first set, when it reaches zero, the next Thread is called.</a:t>
            </a:r>
            <a:endParaRPr lang="en-GB" dirty="0"/>
          </a:p>
          <a:p>
            <a:endParaRPr lang="en-US" dirty="0"/>
          </a:p>
        </p:txBody>
      </p:sp>
      <p:sp>
        <p:nvSpPr>
          <p:cNvPr id="4" name="Slide Number Placeholder 3">
            <a:extLst>
              <a:ext uri="{FF2B5EF4-FFF2-40B4-BE49-F238E27FC236}">
                <a16:creationId xmlns:a16="http://schemas.microsoft.com/office/drawing/2014/main" id="{4194D702-865D-23D1-80FA-5AB8C3B1862A}"/>
              </a:ext>
            </a:extLst>
          </p:cNvPr>
          <p:cNvSpPr>
            <a:spLocks noGrp="1"/>
          </p:cNvSpPr>
          <p:nvPr>
            <p:ph type="sldNum" sz="quarter" idx="10"/>
          </p:nvPr>
        </p:nvSpPr>
        <p:spPr/>
        <p:txBody>
          <a:bodyPr/>
          <a:lstStyle/>
          <a:p>
            <a:fld id="{579786E7-EDAB-724E-B5AE-1BDD6B8AC677}" type="slidenum">
              <a:rPr lang="en-US" smtClean="0"/>
              <a:pPr/>
              <a:t>24</a:t>
            </a:fld>
            <a:endParaRPr lang="en-US"/>
          </a:p>
        </p:txBody>
      </p:sp>
    </p:spTree>
    <p:extLst>
      <p:ext uri="{BB962C8B-B14F-4D97-AF65-F5344CB8AC3E}">
        <p14:creationId xmlns:p14="http://schemas.microsoft.com/office/powerpoint/2010/main" val="1522282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5C36E-7AB1-87E7-2771-E16E8A689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E49EB-55A0-65F5-9DB2-A4B280256F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238F8-D722-CC6D-C86A-4D52C2B51C14}"/>
              </a:ext>
            </a:extLst>
          </p:cNvPr>
          <p:cNvSpPr>
            <a:spLocks noGrp="1"/>
          </p:cNvSpPr>
          <p:nvPr>
            <p:ph type="body" idx="1"/>
          </p:nvPr>
        </p:nvSpPr>
        <p:spPr/>
        <p:txBody>
          <a:bodyPr/>
          <a:lstStyle/>
          <a:p>
            <a:r>
              <a:rPr lang="en-GB" dirty="0"/>
              <a:t>CMSIS-RTOS2 has two control functions: Scheduler</a:t>
            </a:r>
            <a:r>
              <a:rPr lang="en-GB" baseline="0" dirty="0"/>
              <a:t> Lock and Power Management.</a:t>
            </a:r>
          </a:p>
          <a:p>
            <a:r>
              <a:rPr lang="en-GB" baseline="0" dirty="0"/>
              <a:t>Scheduler lock prevents Threads switching (though, Interrupts can be allowed).</a:t>
            </a:r>
          </a:p>
          <a:p>
            <a:r>
              <a:rPr lang="en-GB" baseline="0" dirty="0"/>
              <a:t>Power management is used to make the CPU hibernate </a:t>
            </a:r>
            <a:r>
              <a:rPr lang="en-GB" dirty="0"/>
              <a:t>or sleep for a fixed time.</a:t>
            </a:r>
          </a:p>
        </p:txBody>
      </p:sp>
      <p:sp>
        <p:nvSpPr>
          <p:cNvPr id="4" name="Slide Number Placeholder 3">
            <a:extLst>
              <a:ext uri="{FF2B5EF4-FFF2-40B4-BE49-F238E27FC236}">
                <a16:creationId xmlns:a16="http://schemas.microsoft.com/office/drawing/2014/main" id="{DCAD6049-FC21-AD3F-D7A0-41220E01113B}"/>
              </a:ext>
            </a:extLst>
          </p:cNvPr>
          <p:cNvSpPr>
            <a:spLocks noGrp="1"/>
          </p:cNvSpPr>
          <p:nvPr>
            <p:ph type="sldNum" sz="quarter" idx="10"/>
          </p:nvPr>
        </p:nvSpPr>
        <p:spPr/>
        <p:txBody>
          <a:bodyPr/>
          <a:lstStyle/>
          <a:p>
            <a:fld id="{579786E7-EDAB-724E-B5AE-1BDD6B8AC677}" type="slidenum">
              <a:rPr lang="en-US" smtClean="0"/>
              <a:pPr/>
              <a:t>25</a:t>
            </a:fld>
            <a:endParaRPr lang="en-US"/>
          </a:p>
        </p:txBody>
      </p:sp>
    </p:spTree>
    <p:extLst>
      <p:ext uri="{BB962C8B-B14F-4D97-AF65-F5344CB8AC3E}">
        <p14:creationId xmlns:p14="http://schemas.microsoft.com/office/powerpoint/2010/main" val="36285038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26</a:t>
            </a:fld>
            <a:endParaRPr lang="en-US"/>
          </a:p>
        </p:txBody>
      </p:sp>
    </p:spTree>
    <p:extLst>
      <p:ext uri="{BB962C8B-B14F-4D97-AF65-F5344CB8AC3E}">
        <p14:creationId xmlns:p14="http://schemas.microsoft.com/office/powerpoint/2010/main" val="6875021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82573089"/>
      </p:ext>
    </p:extLst>
  </p:cSld>
  <p:clrMapOvr>
    <a:masterClrMapping/>
  </p:clrMapOvr>
  <p:transition>
    <p:pull dir="ru"/>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9" Type="http://schemas.openxmlformats.org/officeDocument/2006/relationships/slideLayout" Target="../slideLayouts/slideLayout88.xml"/><Relationship Id="rId21" Type="http://schemas.openxmlformats.org/officeDocument/2006/relationships/slideLayout" Target="../slideLayouts/slideLayout70.xml"/><Relationship Id="rId34" Type="http://schemas.openxmlformats.org/officeDocument/2006/relationships/slideLayout" Target="../slideLayouts/slideLayout83.xml"/><Relationship Id="rId42" Type="http://schemas.openxmlformats.org/officeDocument/2006/relationships/slideLayout" Target="../slideLayouts/slideLayout91.xml"/><Relationship Id="rId47" Type="http://schemas.openxmlformats.org/officeDocument/2006/relationships/slideLayout" Target="../slideLayouts/slideLayout96.xml"/><Relationship Id="rId50" Type="http://schemas.openxmlformats.org/officeDocument/2006/relationships/image" Target="../media/image3.svg"/><Relationship Id="rId7" Type="http://schemas.openxmlformats.org/officeDocument/2006/relationships/slideLayout" Target="../slideLayouts/slideLayout5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9" Type="http://schemas.openxmlformats.org/officeDocument/2006/relationships/slideLayout" Target="../slideLayouts/slideLayout78.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slideLayout" Target="../slideLayouts/slideLayout81.xml"/><Relationship Id="rId37" Type="http://schemas.openxmlformats.org/officeDocument/2006/relationships/slideLayout" Target="../slideLayouts/slideLayout86.xml"/><Relationship Id="rId40" Type="http://schemas.openxmlformats.org/officeDocument/2006/relationships/slideLayout" Target="../slideLayouts/slideLayout89.xml"/><Relationship Id="rId45" Type="http://schemas.openxmlformats.org/officeDocument/2006/relationships/slideLayout" Target="../slideLayouts/slideLayout94.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slideLayout" Target="../slideLayouts/slideLayout85.xml"/><Relationship Id="rId49" Type="http://schemas.openxmlformats.org/officeDocument/2006/relationships/theme" Target="../theme/theme2.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4" Type="http://schemas.openxmlformats.org/officeDocument/2006/relationships/slideLayout" Target="../slideLayouts/slideLayout93.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slideLayout" Target="../slideLayouts/slideLayout84.xml"/><Relationship Id="rId43" Type="http://schemas.openxmlformats.org/officeDocument/2006/relationships/slideLayout" Target="../slideLayouts/slideLayout92.xml"/><Relationship Id="rId48" Type="http://schemas.openxmlformats.org/officeDocument/2006/relationships/slideLayout" Target="../slideLayouts/slideLayout97.xml"/><Relationship Id="rId8" Type="http://schemas.openxmlformats.org/officeDocument/2006/relationships/slideLayout" Target="../slideLayouts/slideLayout57.xml"/><Relationship Id="rId3" Type="http://schemas.openxmlformats.org/officeDocument/2006/relationships/slideLayout" Target="../slideLayouts/slideLayout52.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slideLayout" Target="../slideLayouts/slideLayout82.xml"/><Relationship Id="rId38" Type="http://schemas.openxmlformats.org/officeDocument/2006/relationships/slideLayout" Target="../slideLayouts/slideLayout87.xml"/><Relationship Id="rId46" Type="http://schemas.openxmlformats.org/officeDocument/2006/relationships/slideLayout" Target="../slideLayouts/slideLayout95.xml"/><Relationship Id="rId20" Type="http://schemas.openxmlformats.org/officeDocument/2006/relationships/slideLayout" Target="../slideLayouts/slideLayout69.xml"/><Relationship Id="rId41" Type="http://schemas.openxmlformats.org/officeDocument/2006/relationships/slideLayout" Target="../slideLayouts/slideLayout90.xml"/><Relationship Id="rId1" Type="http://schemas.openxmlformats.org/officeDocument/2006/relationships/slideLayout" Target="../slideLayouts/slideLayout50.xml"/><Relationship Id="rId6"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1"/>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1" r:id="rId49"/>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28.xml"/><Relationship Id="rId4" Type="http://schemas.openxmlformats.org/officeDocument/2006/relationships/image" Target="../media/image36.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0.xml"/><Relationship Id="rId1" Type="http://schemas.openxmlformats.org/officeDocument/2006/relationships/slideLayout" Target="../slideLayouts/slideLayout28.xml"/><Relationship Id="rId4" Type="http://schemas.openxmlformats.org/officeDocument/2006/relationships/image" Target="../media/image37.wmf"/></Relationships>
</file>

<file path=ppt/slides/_rels/slide12.xml.rels><?xml version="1.0" encoding="UTF-8" standalone="yes"?>
<Relationships xmlns="http://schemas.openxmlformats.org/package/2006/relationships"><Relationship Id="rId3" Type="http://schemas.openxmlformats.org/officeDocument/2006/relationships/hyperlink" Target="http://www.stallman.org/rms-icon.jpg" TargetMode="External"/><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8.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CMSIS-RTOS2 Thread </a:t>
            </a:r>
            <a:r>
              <a:rPr lang="en-GB" dirty="0"/>
              <a:t>and Time Management</a:t>
            </a:r>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Content of this Module</a:t>
            </a:r>
            <a:endParaRPr lang="en-US" dirty="0"/>
          </a:p>
        </p:txBody>
      </p:sp>
      <p:sp>
        <p:nvSpPr>
          <p:cNvPr id="2" name="Content Placeholder 1"/>
          <p:cNvSpPr>
            <a:spLocks noGrp="1"/>
          </p:cNvSpPr>
          <p:nvPr>
            <p:ph idx="1"/>
          </p:nvPr>
        </p:nvSpPr>
        <p:spPr>
          <a:xfrm>
            <a:off x="441204" y="1123477"/>
            <a:ext cx="11201400" cy="4512393"/>
          </a:xfrm>
        </p:spPr>
        <p:txBody>
          <a:bodyPr/>
          <a:lstStyle/>
          <a:p>
            <a:endParaRPr lang="en-GB" dirty="0"/>
          </a:p>
          <a:p>
            <a:endParaRPr lang="en-GB" dirty="0"/>
          </a:p>
          <a:p>
            <a:endParaRPr lang="en-US" dirty="0"/>
          </a:p>
        </p:txBody>
      </p:sp>
      <p:sp>
        <p:nvSpPr>
          <p:cNvPr id="4" name="TextBox 3"/>
          <p:cNvSpPr txBox="1"/>
          <p:nvPr/>
        </p:nvSpPr>
        <p:spPr>
          <a:xfrm>
            <a:off x="868363" y="1343025"/>
            <a:ext cx="10210800" cy="4648200"/>
          </a:xfrm>
          <a:prstGeom prst="rect">
            <a:avLst/>
          </a:prstGeom>
        </p:spPr>
        <p:txBody>
          <a:bodyPr vert="horz" wrap="square" lIns="0" tIns="0" rIns="0" bIns="0" rtlCol="0" anchor="t">
            <a:normAutofit/>
          </a:bodyPr>
          <a:lstStyle/>
          <a:p>
            <a:pPr marL="285750" indent="-285750">
              <a:buFont typeface="Arial" panose="020B0604020202020204" pitchFamily="34" charset="0"/>
              <a:buChar char="•"/>
            </a:pPr>
            <a:r>
              <a:rPr lang="en-GB" sz="2000" dirty="0"/>
              <a:t>Threads in CMSIS-RTOS2, Thread States, Creation and Deletion</a:t>
            </a:r>
          </a:p>
          <a:p>
            <a:pPr marL="285750" indent="-285750">
              <a:buFont typeface="Arial" panose="020B0604020202020204" pitchFamily="34" charset="0"/>
              <a:buChar char="•"/>
            </a:pPr>
            <a:r>
              <a:rPr lang="en-GB" sz="2000" dirty="0"/>
              <a:t>Advanced Real Time Thread Scheduling</a:t>
            </a:r>
          </a:p>
          <a:p>
            <a:pPr marL="742950" lvl="1" indent="-285750">
              <a:buFont typeface="Arial" panose="020B0604020202020204" pitchFamily="34" charset="0"/>
              <a:buChar char="•"/>
            </a:pPr>
            <a:r>
              <a:rPr lang="en-GB" sz="2000" dirty="0"/>
              <a:t>Periodic Thread scheduling</a:t>
            </a:r>
          </a:p>
          <a:p>
            <a:pPr marL="742950" lvl="1" indent="-285750">
              <a:buFont typeface="Arial" panose="020B0604020202020204" pitchFamily="34" charset="0"/>
              <a:buChar char="•"/>
            </a:pPr>
            <a:r>
              <a:rPr lang="en-GB" sz="2000" dirty="0"/>
              <a:t>Earliest Dead Line First</a:t>
            </a:r>
          </a:p>
          <a:p>
            <a:pPr marL="742950" lvl="1" indent="-285750">
              <a:buFont typeface="Arial" panose="020B0604020202020204" pitchFamily="34" charset="0"/>
              <a:buChar char="•"/>
            </a:pPr>
            <a:r>
              <a:rPr lang="en-GB" sz="2000" dirty="0"/>
              <a:t>Rate Monotonic </a:t>
            </a:r>
          </a:p>
          <a:p>
            <a:pPr marL="742950" lvl="1" indent="-285750">
              <a:buFont typeface="Arial" panose="020B0604020202020204" pitchFamily="34" charset="0"/>
              <a:buChar char="•"/>
            </a:pPr>
            <a:r>
              <a:rPr lang="en-GB" sz="2000" dirty="0"/>
              <a:t>System performance and Assumptions</a:t>
            </a:r>
          </a:p>
          <a:p>
            <a:pPr marL="742950" lvl="1" indent="-285750">
              <a:buFont typeface="Arial" panose="020B0604020202020204" pitchFamily="34" charset="0"/>
              <a:buChar char="•"/>
            </a:pPr>
            <a:r>
              <a:rPr lang="en-GB" sz="2000" dirty="0"/>
              <a:t>Prioritized Scheduling</a:t>
            </a:r>
          </a:p>
          <a:p>
            <a:pPr marL="742950" lvl="1" indent="-285750">
              <a:buFont typeface="Arial" panose="020B0604020202020204" pitchFamily="34" charset="0"/>
              <a:buChar char="•"/>
            </a:pPr>
            <a:r>
              <a:rPr lang="en-GB" sz="2000" dirty="0"/>
              <a:t>Priority Inversion</a:t>
            </a:r>
          </a:p>
          <a:p>
            <a:pPr marL="742950" lvl="1" indent="-285750">
              <a:buFont typeface="Arial" panose="020B0604020202020204" pitchFamily="34" charset="0"/>
              <a:buChar char="•"/>
            </a:pPr>
            <a:r>
              <a:rPr lang="en-GB" sz="2000" dirty="0"/>
              <a:t>Priority Inheritance</a:t>
            </a:r>
          </a:p>
          <a:p>
            <a:pPr marL="742950" lvl="1" indent="-285750">
              <a:buFont typeface="Arial" panose="020B0604020202020204" pitchFamily="34" charset="0"/>
              <a:buChar char="•"/>
            </a:pPr>
            <a:r>
              <a:rPr lang="en-GB" sz="2000" dirty="0"/>
              <a:t>Dead Lock</a:t>
            </a:r>
          </a:p>
          <a:p>
            <a:pPr marL="742950" lvl="1" indent="-285750">
              <a:buFont typeface="Arial" panose="020B0604020202020204" pitchFamily="34" charset="0"/>
              <a:buChar char="•"/>
            </a:pPr>
            <a:r>
              <a:rPr lang="en-GB" sz="2000" dirty="0"/>
              <a:t>Priority Ceiling</a:t>
            </a:r>
          </a:p>
          <a:p>
            <a:pPr lvl="1"/>
            <a:endParaRPr lang="en-GB" sz="2000" dirty="0"/>
          </a:p>
          <a:p>
            <a:pPr marL="285750" lvl="1" indent="-285750">
              <a:buFont typeface="Arial" panose="020B0604020202020204" pitchFamily="34" charset="0"/>
              <a:buChar char="•"/>
            </a:pPr>
            <a:r>
              <a:rPr lang="en-GB" sz="2000" dirty="0"/>
              <a:t>Priority Scheme in CMSIS-RTOS2, Options</a:t>
            </a:r>
          </a:p>
          <a:p>
            <a:pPr marL="285750" lvl="1" indent="-285750">
              <a:buFont typeface="Arial" panose="020B0604020202020204" pitchFamily="34" charset="0"/>
              <a:buChar char="•"/>
            </a:pPr>
            <a:r>
              <a:rPr lang="en-GB" sz="2000" dirty="0"/>
              <a:t>Simple Time Management API</a:t>
            </a:r>
          </a:p>
          <a:p>
            <a:pPr marL="285750" lvl="1" indent="-285750">
              <a:buFont typeface="Arial" panose="020B0604020202020204" pitchFamily="34" charset="0"/>
              <a:buChar char="•"/>
            </a:pPr>
            <a:r>
              <a:rPr lang="en-GB" sz="2000" dirty="0"/>
              <a:t>CMSIS-RTOS2 control functions</a:t>
            </a:r>
          </a:p>
        </p:txBody>
      </p:sp>
    </p:spTree>
    <p:extLst>
      <p:ext uri="{BB962C8B-B14F-4D97-AF65-F5344CB8AC3E}">
        <p14:creationId xmlns:p14="http://schemas.microsoft.com/office/powerpoint/2010/main" val="1280866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344DA-3E3D-C4D3-97B5-0F515D55840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5CFF7D-EA94-7BE2-F760-596673C25428}"/>
              </a:ext>
            </a:extLst>
          </p:cNvPr>
          <p:cNvSpPr>
            <a:spLocks noGrp="1"/>
          </p:cNvSpPr>
          <p:nvPr>
            <p:ph type="title"/>
          </p:nvPr>
        </p:nvSpPr>
        <p:spPr/>
        <p:txBody>
          <a:bodyPr>
            <a:normAutofit/>
          </a:bodyPr>
          <a:lstStyle/>
          <a:p>
            <a:r>
              <a:rPr lang="en-GB" dirty="0"/>
              <a:t>Threads in CMSIS-RTOS2</a:t>
            </a:r>
            <a:endParaRPr lang="en-US" dirty="0"/>
          </a:p>
        </p:txBody>
      </p:sp>
      <p:sp>
        <p:nvSpPr>
          <p:cNvPr id="2" name="Content Placeholder 1">
            <a:extLst>
              <a:ext uri="{FF2B5EF4-FFF2-40B4-BE49-F238E27FC236}">
                <a16:creationId xmlns:a16="http://schemas.microsoft.com/office/drawing/2014/main" id="{FEE7032D-405E-F2C5-98DD-47C05882E57F}"/>
              </a:ext>
            </a:extLst>
          </p:cNvPr>
          <p:cNvSpPr>
            <a:spLocks noGrp="1"/>
          </p:cNvSpPr>
          <p:nvPr>
            <p:ph idx="1"/>
          </p:nvPr>
        </p:nvSpPr>
        <p:spPr>
          <a:xfrm>
            <a:off x="441204" y="1123477"/>
            <a:ext cx="11201400" cy="4512393"/>
          </a:xfrm>
        </p:spPr>
        <p:txBody>
          <a:bodyPr/>
          <a:lstStyle/>
          <a:p>
            <a:r>
              <a:rPr lang="en-US" dirty="0" err="1"/>
              <a:t>Threadads</a:t>
            </a:r>
            <a:r>
              <a:rPr lang="en-US" dirty="0"/>
              <a:t> are implemented using the CMSIS-RTOS2 API</a:t>
            </a:r>
            <a:endParaRPr lang="en-GB" dirty="0"/>
          </a:p>
          <a:p>
            <a:r>
              <a:rPr lang="en-GB" dirty="0"/>
              <a:t>Some basic API functions:</a:t>
            </a:r>
          </a:p>
          <a:p>
            <a:pPr lvl="1"/>
            <a:r>
              <a:rPr lang="en-US" dirty="0" err="1"/>
              <a:t>osThreadNew</a:t>
            </a:r>
            <a:r>
              <a:rPr lang="en-US" dirty="0"/>
              <a:t>()</a:t>
            </a:r>
          </a:p>
          <a:p>
            <a:pPr lvl="1"/>
            <a:r>
              <a:rPr lang="en-US" dirty="0" err="1"/>
              <a:t>osThreadGetId</a:t>
            </a:r>
            <a:r>
              <a:rPr lang="en-US" dirty="0"/>
              <a:t>()</a:t>
            </a:r>
          </a:p>
          <a:p>
            <a:pPr lvl="1"/>
            <a:r>
              <a:rPr lang="en-US" dirty="0" err="1"/>
              <a:t>osThreadExit</a:t>
            </a:r>
            <a:r>
              <a:rPr lang="en-US" dirty="0"/>
              <a:t>()</a:t>
            </a:r>
          </a:p>
          <a:p>
            <a:pPr lvl="1"/>
            <a:r>
              <a:rPr lang="en-US" dirty="0" err="1"/>
              <a:t>osThreadTerminate</a:t>
            </a:r>
            <a:r>
              <a:rPr lang="en-US" dirty="0"/>
              <a:t>(id) </a:t>
            </a:r>
          </a:p>
          <a:p>
            <a:pPr lvl="1"/>
            <a:r>
              <a:rPr lang="en-US" dirty="0" err="1"/>
              <a:t>osThreadSetPriority</a:t>
            </a:r>
            <a:r>
              <a:rPr lang="en-US" dirty="0"/>
              <a:t>(id, </a:t>
            </a:r>
            <a:r>
              <a:rPr lang="en-US" dirty="0" err="1"/>
              <a:t>prio</a:t>
            </a:r>
            <a:r>
              <a:rPr lang="en-US" dirty="0"/>
              <a:t>) </a:t>
            </a:r>
          </a:p>
          <a:p>
            <a:pPr lvl="1"/>
            <a:r>
              <a:rPr lang="en-US" dirty="0" err="1"/>
              <a:t>osThreadYield</a:t>
            </a:r>
            <a:r>
              <a:rPr lang="en-US" dirty="0"/>
              <a:t>()</a:t>
            </a:r>
            <a:endParaRPr lang="en-GB" dirty="0"/>
          </a:p>
          <a:p>
            <a:endParaRPr lang="en-GB" dirty="0"/>
          </a:p>
          <a:p>
            <a:endParaRPr lang="en-US" dirty="0"/>
          </a:p>
        </p:txBody>
      </p:sp>
    </p:spTree>
    <p:extLst>
      <p:ext uri="{BB962C8B-B14F-4D97-AF65-F5344CB8AC3E}">
        <p14:creationId xmlns:p14="http://schemas.microsoft.com/office/powerpoint/2010/main" val="3081250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413C4-EE48-E1DE-1C21-BEC9D326C16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8FFE920-2949-DA4E-8DD1-8187DF3F4D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165" y="319279"/>
            <a:ext cx="6245225" cy="30749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a:extLst>
              <a:ext uri="{FF2B5EF4-FFF2-40B4-BE49-F238E27FC236}">
                <a16:creationId xmlns:a16="http://schemas.microsoft.com/office/drawing/2014/main" id="{CFD0C4C8-6958-059A-6129-2071B5924D6B}"/>
              </a:ext>
            </a:extLst>
          </p:cNvPr>
          <p:cNvSpPr>
            <a:spLocks noGrp="1"/>
          </p:cNvSpPr>
          <p:nvPr>
            <p:ph type="title"/>
          </p:nvPr>
        </p:nvSpPr>
        <p:spPr/>
        <p:txBody>
          <a:bodyPr>
            <a:normAutofit/>
          </a:bodyPr>
          <a:lstStyle/>
          <a:p>
            <a:r>
              <a:rPr lang="en-GB" dirty="0"/>
              <a:t>Thread States</a:t>
            </a:r>
            <a:endParaRPr lang="en-US" dirty="0"/>
          </a:p>
        </p:txBody>
      </p:sp>
      <p:sp>
        <p:nvSpPr>
          <p:cNvPr id="2" name="Content Placeholder 1">
            <a:extLst>
              <a:ext uri="{FF2B5EF4-FFF2-40B4-BE49-F238E27FC236}">
                <a16:creationId xmlns:a16="http://schemas.microsoft.com/office/drawing/2014/main" id="{CB869885-7DC1-6272-C26E-E76FA60762A4}"/>
              </a:ext>
            </a:extLst>
          </p:cNvPr>
          <p:cNvSpPr>
            <a:spLocks noGrp="1"/>
          </p:cNvSpPr>
          <p:nvPr>
            <p:ph idx="1"/>
          </p:nvPr>
        </p:nvSpPr>
        <p:spPr>
          <a:xfrm>
            <a:off x="483133" y="1733551"/>
            <a:ext cx="10218693" cy="4644277"/>
          </a:xfrm>
        </p:spPr>
        <p:txBody>
          <a:bodyPr/>
          <a:lstStyle/>
          <a:p>
            <a:r>
              <a:rPr lang="en-US" sz="1800" dirty="0"/>
              <a:t>// CMSIS-RTOS2 thread states from </a:t>
            </a:r>
            <a:r>
              <a:rPr lang="en-US" sz="1800" dirty="0" err="1"/>
              <a:t>osThreadGetState</a:t>
            </a:r>
            <a:r>
              <a:rPr lang="en-US" sz="1800" dirty="0"/>
              <a:t>()</a:t>
            </a:r>
          </a:p>
          <a:p>
            <a:r>
              <a:rPr lang="en-US" sz="1800" dirty="0" err="1"/>
              <a:t>osThreadInactive</a:t>
            </a:r>
            <a:r>
              <a:rPr lang="en-US" sz="1800" dirty="0"/>
              <a:t>   – Thread terminated or not started</a:t>
            </a:r>
          </a:p>
          <a:p>
            <a:r>
              <a:rPr lang="en-US" sz="1800" dirty="0" err="1"/>
              <a:t>osThreadReady</a:t>
            </a:r>
            <a:r>
              <a:rPr lang="en-US" sz="1800" dirty="0"/>
              <a:t>      – Thread is ready to run (waiting in queue)</a:t>
            </a:r>
          </a:p>
          <a:p>
            <a:r>
              <a:rPr lang="en-US" sz="1800" dirty="0" err="1"/>
              <a:t>osThreadRunning</a:t>
            </a:r>
            <a:r>
              <a:rPr lang="en-US" sz="1800" dirty="0"/>
              <a:t>    – Currently running thread</a:t>
            </a:r>
          </a:p>
          <a:p>
            <a:r>
              <a:rPr lang="en-US" sz="1800" dirty="0" err="1"/>
              <a:t>osThreadBlocked</a:t>
            </a:r>
            <a:r>
              <a:rPr lang="en-US" sz="1800" dirty="0"/>
              <a:t>    – Waiting (e.g. </a:t>
            </a:r>
            <a:r>
              <a:rPr lang="en-US" sz="1800" dirty="0" err="1"/>
              <a:t>osDelay</a:t>
            </a:r>
            <a:r>
              <a:rPr lang="en-US" sz="1800" dirty="0"/>
              <a:t>, </a:t>
            </a:r>
            <a:r>
              <a:rPr lang="en-US" sz="1800" dirty="0" err="1"/>
              <a:t>osSemaphoreAcquire</a:t>
            </a:r>
            <a:r>
              <a:rPr lang="en-US" sz="1800" dirty="0"/>
              <a:t>)</a:t>
            </a:r>
          </a:p>
          <a:p>
            <a:r>
              <a:rPr lang="en-US" sz="1800" dirty="0" err="1"/>
              <a:t>osThreadTerminated</a:t>
            </a:r>
            <a:r>
              <a:rPr lang="en-US" sz="1800" dirty="0"/>
              <a:t> – Thread has exited or was killed</a:t>
            </a:r>
          </a:p>
          <a:p>
            <a:r>
              <a:rPr lang="en-US" sz="1800" dirty="0" err="1"/>
              <a:t>osThreadError</a:t>
            </a:r>
            <a:r>
              <a:rPr lang="en-US" sz="1800" dirty="0"/>
              <a:t>      – Invalid thread ID or kernel error</a:t>
            </a:r>
          </a:p>
          <a:p>
            <a:r>
              <a:rPr lang="en-US" sz="1800" dirty="0"/>
              <a:t>Blocked due to:</a:t>
            </a:r>
          </a:p>
          <a:p>
            <a:r>
              <a:rPr lang="en-US" sz="1800" dirty="0"/>
              <a:t>- </a:t>
            </a:r>
            <a:r>
              <a:rPr lang="en-US" sz="1800" dirty="0" err="1"/>
              <a:t>osDelay</a:t>
            </a:r>
            <a:r>
              <a:rPr lang="en-US" sz="1800" dirty="0"/>
              <a:t>()</a:t>
            </a:r>
          </a:p>
          <a:p>
            <a:r>
              <a:rPr lang="en-US" sz="1800" dirty="0"/>
              <a:t>- </a:t>
            </a:r>
            <a:r>
              <a:rPr lang="en-US" sz="1800" dirty="0" err="1"/>
              <a:t>osSemaphoreAcquire</a:t>
            </a:r>
            <a:r>
              <a:rPr lang="en-US" sz="1800" dirty="0"/>
              <a:t>()</a:t>
            </a:r>
          </a:p>
          <a:p>
            <a:r>
              <a:rPr lang="en-US" sz="1800" dirty="0"/>
              <a:t>- </a:t>
            </a:r>
            <a:r>
              <a:rPr lang="en-US" sz="1800" dirty="0" err="1"/>
              <a:t>osMutexAcquire</a:t>
            </a:r>
            <a:r>
              <a:rPr lang="en-US" sz="1800" dirty="0"/>
              <a:t>()</a:t>
            </a:r>
          </a:p>
          <a:p>
            <a:r>
              <a:rPr lang="en-US" sz="1800" dirty="0"/>
              <a:t>- </a:t>
            </a:r>
            <a:r>
              <a:rPr lang="en-US" sz="1800" dirty="0" err="1"/>
              <a:t>osMessageQueueGet</a:t>
            </a:r>
            <a:r>
              <a:rPr lang="en-US" sz="1800" dirty="0"/>
              <a:t>()</a:t>
            </a:r>
          </a:p>
          <a:p>
            <a:endParaRPr lang="en-US" sz="1800" dirty="0"/>
          </a:p>
          <a:p>
            <a:endParaRPr lang="en-US" sz="1800" dirty="0"/>
          </a:p>
        </p:txBody>
      </p:sp>
      <p:sp>
        <p:nvSpPr>
          <p:cNvPr id="6" name="Right Brace 5">
            <a:extLst>
              <a:ext uri="{FF2B5EF4-FFF2-40B4-BE49-F238E27FC236}">
                <a16:creationId xmlns:a16="http://schemas.microsoft.com/office/drawing/2014/main" id="{7833A600-86AE-4A8A-FAB0-A01A639A81F5}"/>
              </a:ext>
            </a:extLst>
          </p:cNvPr>
          <p:cNvSpPr/>
          <p:nvPr/>
        </p:nvSpPr>
        <p:spPr>
          <a:xfrm>
            <a:off x="4092426" y="4177812"/>
            <a:ext cx="783988" cy="224203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D6780D1F-10C4-89E0-C602-BAE0EB155AE9}"/>
              </a:ext>
            </a:extLst>
          </p:cNvPr>
          <p:cNvSpPr txBox="1"/>
          <p:nvPr/>
        </p:nvSpPr>
        <p:spPr>
          <a:xfrm>
            <a:off x="5045655" y="5118588"/>
            <a:ext cx="835269" cy="290147"/>
          </a:xfrm>
          <a:prstGeom prst="rect">
            <a:avLst/>
          </a:prstGeom>
        </p:spPr>
        <p:txBody>
          <a:bodyPr vert="horz" wrap="square" lIns="0" tIns="0" rIns="0" bIns="0" rtlCol="0" anchor="t">
            <a:normAutofit/>
          </a:bodyPr>
          <a:lstStyle/>
          <a:p>
            <a:r>
              <a:rPr lang="en-GB" dirty="0"/>
              <a:t>Blocked</a:t>
            </a:r>
            <a:endParaRPr lang="en-US" dirty="0"/>
          </a:p>
        </p:txBody>
      </p:sp>
    </p:spTree>
    <p:extLst>
      <p:ext uri="{BB962C8B-B14F-4D97-AF65-F5344CB8AC3E}">
        <p14:creationId xmlns:p14="http://schemas.microsoft.com/office/powerpoint/2010/main" val="3308254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B0994-FB53-56DA-800E-2AFF10B6063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4AECB6E-D560-6301-C3D8-80ADD077D052}"/>
              </a:ext>
            </a:extLst>
          </p:cNvPr>
          <p:cNvSpPr>
            <a:spLocks noGrp="1"/>
          </p:cNvSpPr>
          <p:nvPr>
            <p:ph type="title"/>
          </p:nvPr>
        </p:nvSpPr>
        <p:spPr/>
        <p:txBody>
          <a:bodyPr>
            <a:normAutofit/>
          </a:bodyPr>
          <a:lstStyle/>
          <a:p>
            <a:r>
              <a:rPr lang="en-GB" dirty="0"/>
              <a:t>Thread Creation and Deletion</a:t>
            </a:r>
            <a:endParaRPr lang="en-US" dirty="0"/>
          </a:p>
        </p:txBody>
      </p:sp>
      <p:sp>
        <p:nvSpPr>
          <p:cNvPr id="2" name="Content Placeholder 1">
            <a:extLst>
              <a:ext uri="{FF2B5EF4-FFF2-40B4-BE49-F238E27FC236}">
                <a16:creationId xmlns:a16="http://schemas.microsoft.com/office/drawing/2014/main" id="{CB20C91C-1A1A-ECD7-2BFA-479F8B53DD50}"/>
              </a:ext>
            </a:extLst>
          </p:cNvPr>
          <p:cNvSpPr>
            <a:spLocks noGrp="1"/>
          </p:cNvSpPr>
          <p:nvPr>
            <p:ph idx="1"/>
          </p:nvPr>
        </p:nvSpPr>
        <p:spPr>
          <a:xfrm>
            <a:off x="465549" y="1123476"/>
            <a:ext cx="7222714" cy="5057518"/>
          </a:xfrm>
        </p:spPr>
        <p:txBody>
          <a:bodyPr/>
          <a:lstStyle/>
          <a:p>
            <a:r>
              <a:rPr lang="en-GB" dirty="0"/>
              <a:t>Related functions</a:t>
            </a:r>
            <a:endParaRPr lang="en-US" dirty="0"/>
          </a:p>
          <a:p>
            <a:pPr marL="538162" lvl="1" indent="0">
              <a:buNone/>
            </a:pPr>
            <a:r>
              <a:rPr lang="en-US" sz="1600" dirty="0"/>
              <a:t>Thread creation:</a:t>
            </a:r>
          </a:p>
          <a:p>
            <a:pPr marL="1225359" lvl="5" indent="0">
              <a:buNone/>
            </a:pPr>
            <a:r>
              <a:rPr lang="en-US" i="1" dirty="0" err="1"/>
              <a:t>osThreadId_t</a:t>
            </a:r>
            <a:r>
              <a:rPr lang="en-US" i="1" dirty="0"/>
              <a:t> </a:t>
            </a:r>
            <a:r>
              <a:rPr lang="en-US" i="1" dirty="0" err="1"/>
              <a:t>thread_id</a:t>
            </a:r>
            <a:r>
              <a:rPr lang="en-US" i="1" dirty="0"/>
              <a:t>;</a:t>
            </a:r>
          </a:p>
          <a:p>
            <a:pPr marL="1225359" lvl="5" indent="0">
              <a:buNone/>
            </a:pPr>
            <a:r>
              <a:rPr lang="en-US" i="1" dirty="0" err="1"/>
              <a:t>thread_id</a:t>
            </a:r>
            <a:r>
              <a:rPr lang="en-US" i="1" dirty="0"/>
              <a:t> = </a:t>
            </a:r>
            <a:r>
              <a:rPr lang="en-US" i="1" dirty="0" err="1"/>
              <a:t>osThreadNew</a:t>
            </a:r>
            <a:r>
              <a:rPr lang="en-US" i="1" dirty="0"/>
              <a:t>(</a:t>
            </a:r>
            <a:r>
              <a:rPr lang="en-US" i="1" dirty="0" err="1"/>
              <a:t>MyThread</a:t>
            </a:r>
            <a:r>
              <a:rPr lang="en-US" i="1" dirty="0"/>
              <a:t>, NULL, NULL);</a:t>
            </a:r>
          </a:p>
          <a:p>
            <a:pPr marL="538162" lvl="1" indent="0">
              <a:buNone/>
            </a:pPr>
            <a:r>
              <a:rPr lang="en-GB" sz="1600" dirty="0"/>
              <a:t>Thread deletion:</a:t>
            </a:r>
          </a:p>
          <a:p>
            <a:pPr marL="1225359" lvl="5" indent="0">
              <a:buNone/>
            </a:pPr>
            <a:r>
              <a:rPr lang="en-US" i="1" dirty="0" err="1"/>
              <a:t>osThreadTerminate</a:t>
            </a:r>
            <a:r>
              <a:rPr lang="en-US" i="1" dirty="0"/>
              <a:t>(</a:t>
            </a:r>
            <a:r>
              <a:rPr lang="en-US" i="1" dirty="0" err="1"/>
              <a:t>thread_id</a:t>
            </a:r>
            <a:r>
              <a:rPr lang="en-US" i="1" dirty="0"/>
              <a:t>);  // Terminates another thread</a:t>
            </a:r>
          </a:p>
          <a:p>
            <a:pPr marL="1225359" lvl="5" indent="0">
              <a:buNone/>
            </a:pPr>
            <a:r>
              <a:rPr lang="en-US" i="1" dirty="0" err="1"/>
              <a:t>osThreadExit</a:t>
            </a:r>
            <a:r>
              <a:rPr lang="en-US" i="1" dirty="0"/>
              <a:t>();                // Terminates the calling thread</a:t>
            </a:r>
          </a:p>
          <a:p>
            <a:r>
              <a:rPr lang="en-GB" dirty="0"/>
              <a:t>Priority</a:t>
            </a:r>
          </a:p>
          <a:p>
            <a:pPr lvl="1"/>
            <a:r>
              <a:rPr lang="en-GB" dirty="0"/>
              <a:t>Defined in </a:t>
            </a:r>
            <a:r>
              <a:rPr lang="en-GB" dirty="0" err="1"/>
              <a:t>osThreadAttr_t</a:t>
            </a:r>
            <a:r>
              <a:rPr lang="en-GB" dirty="0"/>
              <a:t> via .priority = </a:t>
            </a:r>
            <a:r>
              <a:rPr lang="en-GB" dirty="0" err="1"/>
              <a:t>osPriorityNormal</a:t>
            </a:r>
            <a:endParaRPr lang="en-GB" dirty="0"/>
          </a:p>
          <a:p>
            <a:pPr lvl="1"/>
            <a:r>
              <a:rPr lang="en-GB" dirty="0"/>
              <a:t>Priorities range from:</a:t>
            </a:r>
          </a:p>
          <a:p>
            <a:pPr lvl="2"/>
            <a:r>
              <a:rPr lang="en-GB" dirty="0" err="1"/>
              <a:t>osPriorityIdle</a:t>
            </a:r>
            <a:r>
              <a:rPr lang="en-GB" dirty="0"/>
              <a:t> (lowest)</a:t>
            </a:r>
          </a:p>
          <a:p>
            <a:pPr lvl="2"/>
            <a:r>
              <a:rPr lang="en-GB" dirty="0"/>
              <a:t>to </a:t>
            </a:r>
            <a:r>
              <a:rPr lang="en-GB" dirty="0" err="1"/>
              <a:t>osPriorityISR</a:t>
            </a:r>
            <a:r>
              <a:rPr lang="en-GB" dirty="0"/>
              <a:t> (highest)</a:t>
            </a:r>
          </a:p>
          <a:p>
            <a:r>
              <a:rPr lang="en-GB" dirty="0"/>
              <a:t>Stack size</a:t>
            </a:r>
          </a:p>
          <a:p>
            <a:pPr lvl="1"/>
            <a:r>
              <a:rPr lang="en-US" dirty="0"/>
              <a:t>Set in </a:t>
            </a:r>
            <a:r>
              <a:rPr lang="en-US" dirty="0" err="1"/>
              <a:t>osThreadAttr_t</a:t>
            </a:r>
            <a:r>
              <a:rPr lang="en-US" dirty="0"/>
              <a:t> when creating the thread:</a:t>
            </a:r>
          </a:p>
          <a:p>
            <a:pPr lvl="2"/>
            <a:r>
              <a:rPr lang="en-US" dirty="0" err="1"/>
              <a:t>ThreadAttr_t</a:t>
            </a:r>
            <a:r>
              <a:rPr lang="en-US" dirty="0"/>
              <a:t> </a:t>
            </a:r>
            <a:r>
              <a:rPr lang="en-US" dirty="0" err="1"/>
              <a:t>attr</a:t>
            </a:r>
            <a:r>
              <a:rPr lang="en-US" dirty="0"/>
              <a:t> = {  .</a:t>
            </a:r>
            <a:r>
              <a:rPr lang="en-US" dirty="0" err="1"/>
              <a:t>stack_size</a:t>
            </a:r>
            <a:r>
              <a:rPr lang="en-US" dirty="0"/>
              <a:t> = 512 * 4};</a:t>
            </a:r>
            <a:endParaRPr lang="en-GB" dirty="0"/>
          </a:p>
          <a:p>
            <a:endParaRPr lang="en-US" dirty="0"/>
          </a:p>
        </p:txBody>
      </p:sp>
      <p:pic>
        <p:nvPicPr>
          <p:cNvPr id="6" name="Рисунок 5">
            <a:extLst>
              <a:ext uri="{FF2B5EF4-FFF2-40B4-BE49-F238E27FC236}">
                <a16:creationId xmlns:a16="http://schemas.microsoft.com/office/drawing/2014/main" id="{5A614D88-010B-206E-07BC-4E373CF8751E}"/>
              </a:ext>
            </a:extLst>
          </p:cNvPr>
          <p:cNvPicPr>
            <a:picLocks noChangeAspect="1"/>
          </p:cNvPicPr>
          <p:nvPr/>
        </p:nvPicPr>
        <p:blipFill>
          <a:blip r:embed="rId3"/>
          <a:stretch>
            <a:fillRect/>
          </a:stretch>
        </p:blipFill>
        <p:spPr>
          <a:xfrm>
            <a:off x="7248402" y="789964"/>
            <a:ext cx="4880224" cy="3034612"/>
          </a:xfrm>
          <a:prstGeom prst="rect">
            <a:avLst/>
          </a:prstGeom>
        </p:spPr>
      </p:pic>
    </p:spTree>
    <p:extLst>
      <p:ext uri="{BB962C8B-B14F-4D97-AF65-F5344CB8AC3E}">
        <p14:creationId xmlns:p14="http://schemas.microsoft.com/office/powerpoint/2010/main" val="3850085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061AC-A977-3265-6D58-CB72BEDBCA4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723358-BC52-7D12-CEEF-F558E8968757}"/>
              </a:ext>
            </a:extLst>
          </p:cNvPr>
          <p:cNvSpPr>
            <a:spLocks noGrp="1"/>
          </p:cNvSpPr>
          <p:nvPr>
            <p:ph type="title"/>
          </p:nvPr>
        </p:nvSpPr>
        <p:spPr/>
        <p:txBody>
          <a:bodyPr>
            <a:normAutofit/>
          </a:bodyPr>
          <a:lstStyle/>
          <a:p>
            <a:r>
              <a:rPr lang="en-GB" dirty="0"/>
              <a:t>Thread Creation and Deletion</a:t>
            </a:r>
            <a:endParaRPr lang="en-US" dirty="0"/>
          </a:p>
        </p:txBody>
      </p:sp>
      <p:sp>
        <p:nvSpPr>
          <p:cNvPr id="2" name="Content Placeholder 1">
            <a:extLst>
              <a:ext uri="{FF2B5EF4-FFF2-40B4-BE49-F238E27FC236}">
                <a16:creationId xmlns:a16="http://schemas.microsoft.com/office/drawing/2014/main" id="{BE8DD1A1-CC96-B847-B068-9136D475187E}"/>
              </a:ext>
            </a:extLst>
          </p:cNvPr>
          <p:cNvSpPr>
            <a:spLocks noGrp="1"/>
          </p:cNvSpPr>
          <p:nvPr>
            <p:ph idx="1"/>
          </p:nvPr>
        </p:nvSpPr>
        <p:spPr>
          <a:xfrm>
            <a:off x="439175" y="1009176"/>
            <a:ext cx="6406559" cy="5658325"/>
          </a:xfrm>
        </p:spPr>
        <p:txBody>
          <a:bodyPr/>
          <a:lstStyle/>
          <a:p>
            <a:endParaRPr lang="en-GB" dirty="0"/>
          </a:p>
          <a:p>
            <a:r>
              <a:rPr lang="en-GB" dirty="0"/>
              <a:t>Passing Parameters to Threads</a:t>
            </a:r>
          </a:p>
          <a:p>
            <a:pPr lvl="1"/>
            <a:r>
              <a:rPr lang="en-US" dirty="0"/>
              <a:t>CMSIS-RTOS2 allows passing a parameter to a thread at creation time:</a:t>
            </a:r>
            <a:endParaRPr lang="en-GB" dirty="0"/>
          </a:p>
          <a:p>
            <a:pPr marL="538162" lvl="4" indent="0">
              <a:buNone/>
            </a:pPr>
            <a:r>
              <a:rPr lang="en-GB" sz="1800" i="1" dirty="0"/>
              <a:t>	</a:t>
            </a:r>
            <a:r>
              <a:rPr lang="en-US" i="1" dirty="0"/>
              <a:t>void </a:t>
            </a:r>
            <a:r>
              <a:rPr lang="en-US" i="1" dirty="0" err="1"/>
              <a:t>led_on_off</a:t>
            </a:r>
            <a:r>
              <a:rPr lang="en-US" i="1" dirty="0"/>
              <a:t>(void *argument) {</a:t>
            </a:r>
          </a:p>
          <a:p>
            <a:pPr marL="538162" lvl="4" indent="0">
              <a:buNone/>
            </a:pPr>
            <a:r>
              <a:rPr lang="en-US" i="1" dirty="0"/>
              <a:t>    	    uint32_t pin = (uint32_t)argument;</a:t>
            </a:r>
          </a:p>
          <a:p>
            <a:pPr marL="538162" lvl="4" indent="0">
              <a:buNone/>
            </a:pPr>
            <a:r>
              <a:rPr lang="en-US" i="1" dirty="0"/>
              <a:t>            ...</a:t>
            </a:r>
          </a:p>
          <a:p>
            <a:pPr marL="538162" lvl="4" indent="0">
              <a:buNone/>
            </a:pPr>
            <a:r>
              <a:rPr lang="en-US" i="1" dirty="0"/>
              <a:t>	}</a:t>
            </a:r>
          </a:p>
          <a:p>
            <a:pPr marL="538162" lvl="4" indent="0">
              <a:buNone/>
            </a:pPr>
            <a:r>
              <a:rPr lang="en-US" i="1" dirty="0"/>
              <a:t>	</a:t>
            </a:r>
            <a:r>
              <a:rPr lang="en-US" i="1" dirty="0" err="1"/>
              <a:t>osThreadNew</a:t>
            </a:r>
            <a:r>
              <a:rPr lang="en-US" i="1" dirty="0"/>
              <a:t>(</a:t>
            </a:r>
            <a:r>
              <a:rPr lang="en-US" i="1" dirty="0" err="1"/>
              <a:t>led_on_off</a:t>
            </a:r>
            <a:r>
              <a:rPr lang="en-US" i="1" dirty="0"/>
              <a:t>, (void *)LED1, NULL);</a:t>
            </a:r>
          </a:p>
          <a:p>
            <a:pPr marL="538162" lvl="4" indent="0">
              <a:buNone/>
            </a:pPr>
            <a:r>
              <a:rPr lang="en-US" i="1" dirty="0"/>
              <a:t>	</a:t>
            </a:r>
            <a:r>
              <a:rPr lang="en-US" i="1" dirty="0" err="1"/>
              <a:t>osThreadNew</a:t>
            </a:r>
            <a:r>
              <a:rPr lang="en-US" i="1" dirty="0"/>
              <a:t>(</a:t>
            </a:r>
            <a:r>
              <a:rPr lang="en-US" i="1" dirty="0" err="1"/>
              <a:t>led_on_off</a:t>
            </a:r>
            <a:r>
              <a:rPr lang="en-US" i="1" dirty="0"/>
              <a:t>, (void *)LED2, NULL);</a:t>
            </a:r>
          </a:p>
          <a:p>
            <a:pPr marL="538162" lvl="4" indent="0">
              <a:buNone/>
            </a:pPr>
            <a:endParaRPr lang="en-GB" i="1" dirty="0"/>
          </a:p>
          <a:p>
            <a:pPr lvl="1"/>
            <a:endParaRPr lang="en-US" i="1" dirty="0"/>
          </a:p>
        </p:txBody>
      </p:sp>
      <p:pic>
        <p:nvPicPr>
          <p:cNvPr id="6" name="Рисунок 5">
            <a:extLst>
              <a:ext uri="{FF2B5EF4-FFF2-40B4-BE49-F238E27FC236}">
                <a16:creationId xmlns:a16="http://schemas.microsoft.com/office/drawing/2014/main" id="{CD89128B-4669-2A22-D738-30E25BBB1622}"/>
              </a:ext>
            </a:extLst>
          </p:cNvPr>
          <p:cNvPicPr>
            <a:picLocks noChangeAspect="1"/>
          </p:cNvPicPr>
          <p:nvPr/>
        </p:nvPicPr>
        <p:blipFill>
          <a:blip r:embed="rId3"/>
          <a:stretch>
            <a:fillRect/>
          </a:stretch>
        </p:blipFill>
        <p:spPr>
          <a:xfrm>
            <a:off x="6845734" y="2048292"/>
            <a:ext cx="4880224" cy="3034612"/>
          </a:xfrm>
          <a:prstGeom prst="rect">
            <a:avLst/>
          </a:prstGeom>
        </p:spPr>
      </p:pic>
    </p:spTree>
    <p:extLst>
      <p:ext uri="{BB962C8B-B14F-4D97-AF65-F5344CB8AC3E}">
        <p14:creationId xmlns:p14="http://schemas.microsoft.com/office/powerpoint/2010/main" val="2468272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Advanced Real-time Scheduling</a:t>
            </a:r>
            <a:endParaRPr lang="en-US" dirty="0"/>
          </a:p>
        </p:txBody>
      </p:sp>
      <p:sp>
        <p:nvSpPr>
          <p:cNvPr id="2" name="Content Placeholder 1"/>
          <p:cNvSpPr>
            <a:spLocks noGrp="1"/>
          </p:cNvSpPr>
          <p:nvPr>
            <p:ph idx="1"/>
          </p:nvPr>
        </p:nvSpPr>
        <p:spPr/>
        <p:txBody>
          <a:bodyPr/>
          <a:lstStyle/>
          <a:p>
            <a:endParaRPr lang="en-GB" dirty="0"/>
          </a:p>
          <a:p>
            <a:r>
              <a:rPr lang="en-GB" dirty="0"/>
              <a:t>Recall the aperiodic real-time scheduling policies introduced previously</a:t>
            </a:r>
          </a:p>
          <a:p>
            <a:pPr lvl="1"/>
            <a:r>
              <a:rPr lang="en-GB" dirty="0"/>
              <a:t>EDD, EDF and LL</a:t>
            </a:r>
          </a:p>
          <a:p>
            <a:pPr lvl="1"/>
            <a:r>
              <a:rPr lang="en-GB" dirty="0"/>
              <a:t>Same priority</a:t>
            </a:r>
          </a:p>
          <a:p>
            <a:pPr lvl="1"/>
            <a:r>
              <a:rPr lang="en-GB" dirty="0"/>
              <a:t>No inter-Thread dependency</a:t>
            </a:r>
          </a:p>
          <a:p>
            <a:pPr lvl="1"/>
            <a:r>
              <a:rPr lang="en-GB" dirty="0"/>
              <a:t>Aperiodic</a:t>
            </a:r>
          </a:p>
          <a:p>
            <a:r>
              <a:rPr lang="en-GB" dirty="0"/>
              <a:t>Before introducing the CMSIS-RTOS2 scheduler, we will discuss two more real-time scheduling scenarios</a:t>
            </a:r>
          </a:p>
          <a:p>
            <a:pPr lvl="1"/>
            <a:r>
              <a:rPr lang="en-GB" b="1" dirty="0"/>
              <a:t>Periodic</a:t>
            </a:r>
          </a:p>
          <a:p>
            <a:pPr lvl="1"/>
            <a:r>
              <a:rPr lang="en-GB" b="1" dirty="0"/>
              <a:t>Prioritized</a:t>
            </a:r>
          </a:p>
        </p:txBody>
      </p:sp>
    </p:spTree>
    <p:extLst>
      <p:ext uri="{BB962C8B-B14F-4D97-AF65-F5344CB8AC3E}">
        <p14:creationId xmlns:p14="http://schemas.microsoft.com/office/powerpoint/2010/main" val="2589602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30"/>
          <p:cNvSpPr>
            <a:spLocks noChangeArrowheads="1"/>
          </p:cNvSpPr>
          <p:nvPr/>
        </p:nvSpPr>
        <p:spPr bwMode="auto">
          <a:xfrm>
            <a:off x="10294566" y="1042989"/>
            <a:ext cx="914162" cy="381000"/>
          </a:xfrm>
          <a:prstGeom prst="rect">
            <a:avLst/>
          </a:prstGeom>
          <a:solidFill>
            <a:schemeClr val="accent2"/>
          </a:solidFill>
          <a:ln w="9525">
            <a:solidFill>
              <a:schemeClr val="tx1"/>
            </a:solidFill>
            <a:miter lim="800000"/>
            <a:headEnd/>
            <a:tailEnd/>
          </a:ln>
          <a:effectLst/>
        </p:spPr>
        <p:txBody>
          <a:bodyPr wrap="none" anchor="ctr"/>
          <a:lstStyle/>
          <a:p>
            <a:pPr algn="ctr" eaLnBrk="1" hangingPunct="1"/>
            <a:r>
              <a:rPr lang="en-US" sz="2000" dirty="0">
                <a:solidFill>
                  <a:schemeClr val="bg1"/>
                </a:solidFill>
                <a:latin typeface="Arial" charset="0"/>
              </a:rPr>
              <a:t>P1</a:t>
            </a:r>
          </a:p>
        </p:txBody>
      </p:sp>
      <p:sp>
        <p:nvSpPr>
          <p:cNvPr id="65" name="Rectangle 33"/>
          <p:cNvSpPr>
            <a:spLocks noChangeArrowheads="1"/>
          </p:cNvSpPr>
          <p:nvPr/>
        </p:nvSpPr>
        <p:spPr bwMode="auto">
          <a:xfrm>
            <a:off x="10294567" y="1538289"/>
            <a:ext cx="1625177" cy="381000"/>
          </a:xfrm>
          <a:prstGeom prst="rect">
            <a:avLst/>
          </a:prstGeom>
          <a:solidFill>
            <a:srgbClr val="009999"/>
          </a:solidFill>
          <a:ln w="9525">
            <a:solidFill>
              <a:schemeClr val="tx1"/>
            </a:solidFill>
            <a:miter lim="800000"/>
            <a:headEnd/>
            <a:tailEnd/>
          </a:ln>
          <a:effectLst/>
        </p:spPr>
        <p:txBody>
          <a:bodyPr wrap="none" anchor="ctr"/>
          <a:lstStyle/>
          <a:p>
            <a:pPr algn="ctr" eaLnBrk="1" hangingPunct="1"/>
            <a:r>
              <a:rPr lang="en-US" sz="2000">
                <a:solidFill>
                  <a:schemeClr val="bg1"/>
                </a:solidFill>
                <a:latin typeface="Arial" charset="0"/>
              </a:rPr>
              <a:t>P2</a:t>
            </a:r>
          </a:p>
        </p:txBody>
      </p:sp>
      <p:sp>
        <p:nvSpPr>
          <p:cNvPr id="66" name="Rectangle 35"/>
          <p:cNvSpPr>
            <a:spLocks noChangeArrowheads="1"/>
          </p:cNvSpPr>
          <p:nvPr/>
        </p:nvSpPr>
        <p:spPr bwMode="auto">
          <a:xfrm>
            <a:off x="10294567" y="2099982"/>
            <a:ext cx="2539339" cy="381000"/>
          </a:xfrm>
          <a:prstGeom prst="rect">
            <a:avLst/>
          </a:prstGeom>
          <a:solidFill>
            <a:srgbClr val="FF9999"/>
          </a:solidFill>
          <a:ln w="9525">
            <a:solidFill>
              <a:schemeClr val="tx1"/>
            </a:solidFill>
            <a:miter lim="800000"/>
            <a:headEnd/>
            <a:tailEnd/>
          </a:ln>
          <a:effectLst/>
        </p:spPr>
        <p:txBody>
          <a:bodyPr wrap="none" anchor="ctr"/>
          <a:lstStyle/>
          <a:p>
            <a:pPr algn="ctr" eaLnBrk="1" hangingPunct="1"/>
            <a:r>
              <a:rPr lang="en-US" sz="2000">
                <a:solidFill>
                  <a:schemeClr val="bg1"/>
                </a:solidFill>
                <a:latin typeface="Arial" charset="0"/>
              </a:rPr>
              <a:t>P3</a:t>
            </a:r>
          </a:p>
        </p:txBody>
      </p:sp>
      <p:sp>
        <p:nvSpPr>
          <p:cNvPr id="330754" name="Rectangle 2"/>
          <p:cNvSpPr>
            <a:spLocks noGrp="1" noChangeArrowheads="1"/>
          </p:cNvSpPr>
          <p:nvPr>
            <p:ph type="title"/>
          </p:nvPr>
        </p:nvSpPr>
        <p:spPr/>
        <p:txBody>
          <a:bodyPr>
            <a:normAutofit/>
          </a:bodyPr>
          <a:lstStyle/>
          <a:p>
            <a:r>
              <a:rPr lang="en-US" dirty="0"/>
              <a:t>Periodic Thread Model</a:t>
            </a:r>
          </a:p>
        </p:txBody>
      </p:sp>
      <p:graphicFrame>
        <p:nvGraphicFramePr>
          <p:cNvPr id="49" name="Group 32"/>
          <p:cNvGraphicFramePr>
            <a:graphicFrameLocks noGrp="1"/>
          </p:cNvGraphicFramePr>
          <p:nvPr>
            <p:ph idx="1"/>
            <p:extLst>
              <p:ext uri="{D42A27DB-BD31-4B8C-83A1-F6EECF244321}">
                <p14:modId xmlns:p14="http://schemas.microsoft.com/office/powerpoint/2010/main" val="4289104504"/>
              </p:ext>
            </p:extLst>
          </p:nvPr>
        </p:nvGraphicFramePr>
        <p:xfrm>
          <a:off x="6667961" y="3842386"/>
          <a:ext cx="5319305" cy="1764031"/>
        </p:xfrm>
        <a:graphic>
          <a:graphicData uri="http://schemas.openxmlformats.org/drawingml/2006/table">
            <a:tbl>
              <a:tblPr/>
              <a:tblGrid>
                <a:gridCol w="1122125">
                  <a:extLst>
                    <a:ext uri="{9D8B030D-6E8A-4147-A177-3AD203B41FA5}">
                      <a16:colId xmlns:a16="http://schemas.microsoft.com/office/drawing/2014/main" val="20000"/>
                    </a:ext>
                  </a:extLst>
                </a:gridCol>
                <a:gridCol w="1353122">
                  <a:extLst>
                    <a:ext uri="{9D8B030D-6E8A-4147-A177-3AD203B41FA5}">
                      <a16:colId xmlns:a16="http://schemas.microsoft.com/office/drawing/2014/main" val="20001"/>
                    </a:ext>
                  </a:extLst>
                </a:gridCol>
                <a:gridCol w="1320456">
                  <a:extLst>
                    <a:ext uri="{9D8B030D-6E8A-4147-A177-3AD203B41FA5}">
                      <a16:colId xmlns:a16="http://schemas.microsoft.com/office/drawing/2014/main" val="20002"/>
                    </a:ext>
                  </a:extLst>
                </a:gridCol>
                <a:gridCol w="1523602">
                  <a:extLst>
                    <a:ext uri="{9D8B030D-6E8A-4147-A177-3AD203B41FA5}">
                      <a16:colId xmlns:a16="http://schemas.microsoft.com/office/drawing/2014/main" val="20003"/>
                    </a:ext>
                  </a:extLst>
                </a:gridCol>
              </a:tblGrid>
              <a:tr h="4000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mn-lt"/>
                        </a:rPr>
                        <a:t>Thread</a:t>
                      </a:r>
                    </a:p>
                  </a:txBody>
                  <a:tcPr marL="121888" marR="1218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mn-lt"/>
                        </a:rPr>
                        <a:t>Exec. Time </a:t>
                      </a:r>
                      <a:r>
                        <a:rPr kumimoji="0" lang="en-US" sz="1800" b="1" i="1" u="none" strike="noStrike" cap="none" normalizeH="0" baseline="0" dirty="0" err="1">
                          <a:ln>
                            <a:noFill/>
                          </a:ln>
                          <a:solidFill>
                            <a:schemeClr val="tx1"/>
                          </a:solidFill>
                          <a:effectLst/>
                          <a:latin typeface="+mn-lt"/>
                        </a:rPr>
                        <a:t>C</a:t>
                      </a:r>
                      <a:r>
                        <a:rPr kumimoji="0" lang="en-US" sz="1800" b="1" i="1" u="none" strike="noStrike" cap="none" normalizeH="0" baseline="-25000" dirty="0" err="1">
                          <a:ln>
                            <a:noFill/>
                          </a:ln>
                          <a:solidFill>
                            <a:schemeClr val="tx1"/>
                          </a:solidFill>
                          <a:effectLst/>
                          <a:latin typeface="+mn-lt"/>
                        </a:rPr>
                        <a:t>i</a:t>
                      </a:r>
                      <a:endParaRPr kumimoji="0" lang="en-US" sz="1800" b="1" i="1" u="none" strike="noStrike" cap="none" normalizeH="0" baseline="-25000" dirty="0">
                        <a:ln>
                          <a:noFill/>
                        </a:ln>
                        <a:solidFill>
                          <a:schemeClr val="tx1"/>
                        </a:solidFill>
                        <a:effectLst/>
                        <a:latin typeface="+mn-lt"/>
                      </a:endParaRPr>
                    </a:p>
                  </a:txBody>
                  <a:tcPr marL="121888" marR="1218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mn-lt"/>
                        </a:rPr>
                        <a:t>Period </a:t>
                      </a:r>
                      <a:r>
                        <a:rPr kumimoji="0" lang="en-US" sz="1800" b="1" i="1" u="none" strike="noStrike" cap="none" normalizeH="0" baseline="0" dirty="0">
                          <a:ln>
                            <a:noFill/>
                          </a:ln>
                          <a:solidFill>
                            <a:schemeClr val="tx1"/>
                          </a:solidFill>
                          <a:effectLst/>
                          <a:latin typeface="+mn-lt"/>
                        </a:rPr>
                        <a:t>T</a:t>
                      </a:r>
                      <a:r>
                        <a:rPr kumimoji="0" lang="en-US" sz="1800" b="1" i="1" u="none" strike="noStrike" cap="none" normalizeH="0" baseline="-25000" dirty="0">
                          <a:ln>
                            <a:noFill/>
                          </a:ln>
                          <a:solidFill>
                            <a:schemeClr val="tx1"/>
                          </a:solidFill>
                          <a:effectLst/>
                          <a:latin typeface="+mn-lt"/>
                        </a:rPr>
                        <a:t>i</a:t>
                      </a:r>
                      <a:endParaRPr kumimoji="0" lang="en-US" sz="1800" b="1" i="0" u="none" strike="noStrike" cap="none" normalizeH="0" baseline="-25000" dirty="0">
                        <a:ln>
                          <a:noFill/>
                        </a:ln>
                        <a:solidFill>
                          <a:schemeClr val="tx1"/>
                        </a:solidFill>
                        <a:effectLst/>
                        <a:latin typeface="+mn-lt"/>
                      </a:endParaRPr>
                    </a:p>
                  </a:txBody>
                  <a:tcPr marL="121888" marR="1218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1"/>
                          </a:solidFill>
                          <a:effectLst/>
                          <a:latin typeface="+mn-lt"/>
                        </a:rPr>
                        <a:t>Deadline </a:t>
                      </a:r>
                      <a:r>
                        <a:rPr kumimoji="0" lang="en-US" sz="1800" b="1" i="1" u="none" strike="noStrike" cap="none" normalizeH="0" baseline="0" dirty="0">
                          <a:ln>
                            <a:noFill/>
                          </a:ln>
                          <a:solidFill>
                            <a:schemeClr val="tx1"/>
                          </a:solidFill>
                          <a:effectLst/>
                          <a:latin typeface="+mn-lt"/>
                        </a:rPr>
                        <a:t>D</a:t>
                      </a:r>
                      <a:r>
                        <a:rPr kumimoji="0" lang="en-US" sz="1800" b="1" i="1" u="none" strike="noStrike" cap="none" normalizeH="0" baseline="-25000" dirty="0">
                          <a:ln>
                            <a:noFill/>
                          </a:ln>
                          <a:solidFill>
                            <a:schemeClr val="tx1"/>
                          </a:solidFill>
                          <a:effectLst/>
                          <a:latin typeface="+mn-lt"/>
                        </a:rPr>
                        <a:t>i</a:t>
                      </a:r>
                    </a:p>
                  </a:txBody>
                  <a:tcPr marL="121888" marR="1218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P1</a:t>
                      </a:r>
                    </a:p>
                  </a:txBody>
                  <a:tcPr marL="121888" marR="1218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a:t>
                      </a:r>
                    </a:p>
                  </a:txBody>
                  <a:tcPr marL="121888" marR="1218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mn-lt"/>
                        </a:rPr>
                        <a:t>4</a:t>
                      </a:r>
                    </a:p>
                  </a:txBody>
                  <a:tcPr marL="121888" marR="1218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4</a:t>
                      </a:r>
                    </a:p>
                  </a:txBody>
                  <a:tcPr marL="121888" marR="1218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mn-lt"/>
                        </a:rPr>
                        <a:t>P2</a:t>
                      </a:r>
                      <a:endParaRPr kumimoji="0" lang="en-US" sz="1800" b="0" i="0" u="none" strike="noStrike" cap="none" normalizeH="0" baseline="0" dirty="0">
                        <a:ln>
                          <a:noFill/>
                        </a:ln>
                        <a:solidFill>
                          <a:schemeClr val="tx1"/>
                        </a:solidFill>
                        <a:effectLst/>
                        <a:latin typeface="+mn-lt"/>
                      </a:endParaRPr>
                    </a:p>
                  </a:txBody>
                  <a:tcPr marL="121888" marR="1218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2</a:t>
                      </a:r>
                    </a:p>
                  </a:txBody>
                  <a:tcPr marL="121888" marR="1218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6</a:t>
                      </a:r>
                    </a:p>
                  </a:txBody>
                  <a:tcPr marL="121888" marR="1218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6</a:t>
                      </a:r>
                    </a:p>
                  </a:txBody>
                  <a:tcPr marL="121888" marR="1218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P3</a:t>
                      </a:r>
                    </a:p>
                  </a:txBody>
                  <a:tcPr marL="121888" marR="1218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3</a:t>
                      </a:r>
                    </a:p>
                  </a:txBody>
                  <a:tcPr marL="121888" marR="1218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12</a:t>
                      </a:r>
                    </a:p>
                  </a:txBody>
                  <a:tcPr marL="121888" marR="1218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n-lt"/>
                        </a:rPr>
                        <a:t>12</a:t>
                      </a:r>
                    </a:p>
                  </a:txBody>
                  <a:tcPr marL="121888" marR="1218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330755" name="Group 3"/>
          <p:cNvGrpSpPr>
            <a:grpSpLocks/>
          </p:cNvGrpSpPr>
          <p:nvPr/>
        </p:nvGrpSpPr>
        <p:grpSpPr bwMode="auto">
          <a:xfrm>
            <a:off x="14478" y="2582864"/>
            <a:ext cx="10925504" cy="795338"/>
            <a:chOff x="374" y="3561"/>
            <a:chExt cx="5163" cy="501"/>
          </a:xfrm>
        </p:grpSpPr>
        <p:grpSp>
          <p:nvGrpSpPr>
            <p:cNvPr id="330756" name="Group 4"/>
            <p:cNvGrpSpPr>
              <a:grpSpLocks/>
            </p:cNvGrpSpPr>
            <p:nvPr/>
          </p:nvGrpSpPr>
          <p:grpSpPr bwMode="auto">
            <a:xfrm>
              <a:off x="374" y="3561"/>
              <a:ext cx="5163" cy="330"/>
              <a:chOff x="374" y="3181"/>
              <a:chExt cx="5163" cy="330"/>
            </a:xfrm>
          </p:grpSpPr>
          <p:sp>
            <p:nvSpPr>
              <p:cNvPr id="330757" name="Line 5"/>
              <p:cNvSpPr>
                <a:spLocks noChangeShapeType="1"/>
              </p:cNvSpPr>
              <p:nvPr/>
            </p:nvSpPr>
            <p:spPr bwMode="auto">
              <a:xfrm>
                <a:off x="432" y="3216"/>
                <a:ext cx="4992" cy="0"/>
              </a:xfrm>
              <a:prstGeom prst="line">
                <a:avLst/>
              </a:prstGeom>
              <a:noFill/>
              <a:ln w="28575">
                <a:solidFill>
                  <a:schemeClr val="tx1"/>
                </a:solidFill>
                <a:round/>
                <a:headEnd/>
                <a:tailEnd/>
              </a:ln>
              <a:effectLst/>
            </p:spPr>
            <p:txBody>
              <a:bodyPr/>
              <a:lstStyle/>
              <a:p>
                <a:endParaRPr lang="en-US"/>
              </a:p>
            </p:txBody>
          </p:sp>
          <p:sp>
            <p:nvSpPr>
              <p:cNvPr id="330758" name="Text Box 6"/>
              <p:cNvSpPr txBox="1">
                <a:spLocks noChangeArrowheads="1"/>
              </p:cNvSpPr>
              <p:nvPr/>
            </p:nvSpPr>
            <p:spPr bwMode="auto">
              <a:xfrm>
                <a:off x="374" y="3181"/>
                <a:ext cx="5163" cy="330"/>
              </a:xfrm>
              <a:prstGeom prst="rect">
                <a:avLst/>
              </a:prstGeom>
              <a:noFill/>
              <a:ln w="9525">
                <a:noFill/>
                <a:miter lim="800000"/>
                <a:headEnd/>
                <a:tailEnd/>
              </a:ln>
              <a:effectLst/>
            </p:spPr>
            <p:txBody>
              <a:bodyPr wrap="none">
                <a:spAutoFit/>
              </a:bodyPr>
              <a:lstStyle/>
              <a:p>
                <a:pPr eaLnBrk="1" hangingPunct="1"/>
                <a:r>
                  <a:rPr lang="en-US" sz="2800" b="1" dirty="0">
                    <a:latin typeface="Courier New" pitchFamily="49" charset="0"/>
                  </a:rPr>
                  <a:t>0    1  2   3   4   5   6   7    8  9  10   11  12</a:t>
                </a:r>
              </a:p>
            </p:txBody>
          </p:sp>
        </p:grpSp>
        <p:sp>
          <p:nvSpPr>
            <p:cNvPr id="330759" name="Text Box 7"/>
            <p:cNvSpPr txBox="1">
              <a:spLocks noChangeArrowheads="1"/>
            </p:cNvSpPr>
            <p:nvPr/>
          </p:nvSpPr>
          <p:spPr bwMode="auto">
            <a:xfrm>
              <a:off x="2486" y="3752"/>
              <a:ext cx="436" cy="310"/>
            </a:xfrm>
            <a:prstGeom prst="rect">
              <a:avLst/>
            </a:prstGeom>
            <a:noFill/>
            <a:ln w="9525">
              <a:noFill/>
              <a:miter lim="800000"/>
              <a:headEnd/>
              <a:tailEnd/>
            </a:ln>
            <a:effectLst/>
          </p:spPr>
          <p:txBody>
            <a:bodyPr wrap="none">
              <a:spAutoFit/>
            </a:bodyPr>
            <a:lstStyle/>
            <a:p>
              <a:pPr eaLnBrk="1" hangingPunct="1"/>
              <a:r>
                <a:rPr lang="en-US" sz="2600" i="1" dirty="0">
                  <a:latin typeface="Arial" charset="0"/>
                </a:rPr>
                <a:t>Time</a:t>
              </a:r>
            </a:p>
          </p:txBody>
        </p:sp>
      </p:grpSp>
      <p:sp>
        <p:nvSpPr>
          <p:cNvPr id="330769" name="Line 17"/>
          <p:cNvSpPr>
            <a:spLocks noChangeShapeType="1"/>
          </p:cNvSpPr>
          <p:nvPr/>
        </p:nvSpPr>
        <p:spPr bwMode="auto">
          <a:xfrm>
            <a:off x="238785" y="906463"/>
            <a:ext cx="0" cy="1676400"/>
          </a:xfrm>
          <a:prstGeom prst="line">
            <a:avLst/>
          </a:prstGeom>
          <a:noFill/>
          <a:ln w="9525">
            <a:solidFill>
              <a:schemeClr val="folHlink"/>
            </a:solidFill>
            <a:round/>
            <a:headEnd/>
            <a:tailEnd/>
          </a:ln>
          <a:effectLst/>
        </p:spPr>
        <p:txBody>
          <a:bodyPr/>
          <a:lstStyle/>
          <a:p>
            <a:endParaRPr lang="en-US"/>
          </a:p>
        </p:txBody>
      </p:sp>
      <p:sp>
        <p:nvSpPr>
          <p:cNvPr id="330770" name="Line 18"/>
          <p:cNvSpPr>
            <a:spLocks noChangeShapeType="1"/>
          </p:cNvSpPr>
          <p:nvPr/>
        </p:nvSpPr>
        <p:spPr bwMode="auto">
          <a:xfrm>
            <a:off x="1152947" y="906463"/>
            <a:ext cx="0" cy="1676400"/>
          </a:xfrm>
          <a:prstGeom prst="line">
            <a:avLst/>
          </a:prstGeom>
          <a:noFill/>
          <a:ln w="9525">
            <a:solidFill>
              <a:schemeClr val="folHlink"/>
            </a:solidFill>
            <a:round/>
            <a:headEnd/>
            <a:tailEnd/>
          </a:ln>
          <a:effectLst/>
        </p:spPr>
        <p:txBody>
          <a:bodyPr/>
          <a:lstStyle/>
          <a:p>
            <a:endParaRPr lang="en-US"/>
          </a:p>
        </p:txBody>
      </p:sp>
      <p:sp>
        <p:nvSpPr>
          <p:cNvPr id="330771" name="Line 19"/>
          <p:cNvSpPr>
            <a:spLocks noChangeShapeType="1"/>
          </p:cNvSpPr>
          <p:nvPr/>
        </p:nvSpPr>
        <p:spPr bwMode="auto">
          <a:xfrm>
            <a:off x="1965536" y="906463"/>
            <a:ext cx="0" cy="1676400"/>
          </a:xfrm>
          <a:prstGeom prst="line">
            <a:avLst/>
          </a:prstGeom>
          <a:noFill/>
          <a:ln w="9525">
            <a:solidFill>
              <a:schemeClr val="folHlink"/>
            </a:solidFill>
            <a:round/>
            <a:headEnd/>
            <a:tailEnd/>
          </a:ln>
          <a:effectLst/>
        </p:spPr>
        <p:txBody>
          <a:bodyPr/>
          <a:lstStyle/>
          <a:p>
            <a:endParaRPr lang="en-US"/>
          </a:p>
        </p:txBody>
      </p:sp>
      <p:sp>
        <p:nvSpPr>
          <p:cNvPr id="330772" name="Line 20"/>
          <p:cNvSpPr>
            <a:spLocks noChangeShapeType="1"/>
          </p:cNvSpPr>
          <p:nvPr/>
        </p:nvSpPr>
        <p:spPr bwMode="auto">
          <a:xfrm>
            <a:off x="2778124" y="906463"/>
            <a:ext cx="0" cy="1676400"/>
          </a:xfrm>
          <a:prstGeom prst="line">
            <a:avLst/>
          </a:prstGeom>
          <a:noFill/>
          <a:ln w="9525">
            <a:solidFill>
              <a:schemeClr val="folHlink"/>
            </a:solidFill>
            <a:round/>
            <a:headEnd/>
            <a:tailEnd/>
          </a:ln>
          <a:effectLst/>
        </p:spPr>
        <p:txBody>
          <a:bodyPr/>
          <a:lstStyle/>
          <a:p>
            <a:endParaRPr lang="en-US"/>
          </a:p>
        </p:txBody>
      </p:sp>
      <p:sp>
        <p:nvSpPr>
          <p:cNvPr id="330773" name="Line 21"/>
          <p:cNvSpPr>
            <a:spLocks noChangeShapeType="1"/>
          </p:cNvSpPr>
          <p:nvPr/>
        </p:nvSpPr>
        <p:spPr bwMode="auto">
          <a:xfrm>
            <a:off x="3692286" y="906463"/>
            <a:ext cx="0" cy="1676400"/>
          </a:xfrm>
          <a:prstGeom prst="line">
            <a:avLst/>
          </a:prstGeom>
          <a:noFill/>
          <a:ln w="9525">
            <a:solidFill>
              <a:schemeClr val="folHlink"/>
            </a:solidFill>
            <a:round/>
            <a:headEnd/>
            <a:tailEnd/>
          </a:ln>
          <a:effectLst/>
        </p:spPr>
        <p:txBody>
          <a:bodyPr/>
          <a:lstStyle/>
          <a:p>
            <a:endParaRPr lang="en-US"/>
          </a:p>
        </p:txBody>
      </p:sp>
      <p:sp>
        <p:nvSpPr>
          <p:cNvPr id="330774" name="Line 22"/>
          <p:cNvSpPr>
            <a:spLocks noChangeShapeType="1"/>
          </p:cNvSpPr>
          <p:nvPr/>
        </p:nvSpPr>
        <p:spPr bwMode="auto">
          <a:xfrm>
            <a:off x="4504874" y="906463"/>
            <a:ext cx="0" cy="1676400"/>
          </a:xfrm>
          <a:prstGeom prst="line">
            <a:avLst/>
          </a:prstGeom>
          <a:noFill/>
          <a:ln w="9525">
            <a:solidFill>
              <a:schemeClr val="folHlink"/>
            </a:solidFill>
            <a:round/>
            <a:headEnd/>
            <a:tailEnd/>
          </a:ln>
          <a:effectLst/>
        </p:spPr>
        <p:txBody>
          <a:bodyPr/>
          <a:lstStyle/>
          <a:p>
            <a:endParaRPr lang="en-US"/>
          </a:p>
        </p:txBody>
      </p:sp>
      <p:sp>
        <p:nvSpPr>
          <p:cNvPr id="330775" name="Line 23"/>
          <p:cNvSpPr>
            <a:spLocks noChangeShapeType="1"/>
          </p:cNvSpPr>
          <p:nvPr/>
        </p:nvSpPr>
        <p:spPr bwMode="auto">
          <a:xfrm>
            <a:off x="5317463" y="906463"/>
            <a:ext cx="0" cy="1676400"/>
          </a:xfrm>
          <a:prstGeom prst="line">
            <a:avLst/>
          </a:prstGeom>
          <a:noFill/>
          <a:ln w="9525">
            <a:solidFill>
              <a:schemeClr val="folHlink"/>
            </a:solidFill>
            <a:round/>
            <a:headEnd/>
            <a:tailEnd/>
          </a:ln>
          <a:effectLst/>
        </p:spPr>
        <p:txBody>
          <a:bodyPr/>
          <a:lstStyle/>
          <a:p>
            <a:endParaRPr lang="en-US"/>
          </a:p>
        </p:txBody>
      </p:sp>
      <p:sp>
        <p:nvSpPr>
          <p:cNvPr id="330776" name="Line 24"/>
          <p:cNvSpPr>
            <a:spLocks noChangeShapeType="1"/>
          </p:cNvSpPr>
          <p:nvPr/>
        </p:nvSpPr>
        <p:spPr bwMode="auto">
          <a:xfrm>
            <a:off x="6231624" y="906463"/>
            <a:ext cx="0" cy="1676400"/>
          </a:xfrm>
          <a:prstGeom prst="line">
            <a:avLst/>
          </a:prstGeom>
          <a:noFill/>
          <a:ln w="9525">
            <a:solidFill>
              <a:schemeClr val="folHlink"/>
            </a:solidFill>
            <a:round/>
            <a:headEnd/>
            <a:tailEnd/>
          </a:ln>
          <a:effectLst/>
        </p:spPr>
        <p:txBody>
          <a:bodyPr/>
          <a:lstStyle/>
          <a:p>
            <a:endParaRPr lang="en-US"/>
          </a:p>
        </p:txBody>
      </p:sp>
      <p:sp>
        <p:nvSpPr>
          <p:cNvPr id="330777" name="Line 25"/>
          <p:cNvSpPr>
            <a:spLocks noChangeShapeType="1"/>
          </p:cNvSpPr>
          <p:nvPr/>
        </p:nvSpPr>
        <p:spPr bwMode="auto">
          <a:xfrm>
            <a:off x="7145786" y="906463"/>
            <a:ext cx="0" cy="1676400"/>
          </a:xfrm>
          <a:prstGeom prst="line">
            <a:avLst/>
          </a:prstGeom>
          <a:noFill/>
          <a:ln w="9525">
            <a:solidFill>
              <a:schemeClr val="folHlink"/>
            </a:solidFill>
            <a:round/>
            <a:headEnd/>
            <a:tailEnd/>
          </a:ln>
          <a:effectLst/>
        </p:spPr>
        <p:txBody>
          <a:bodyPr/>
          <a:lstStyle/>
          <a:p>
            <a:endParaRPr lang="en-US"/>
          </a:p>
        </p:txBody>
      </p:sp>
      <p:sp>
        <p:nvSpPr>
          <p:cNvPr id="330778" name="Line 26"/>
          <p:cNvSpPr>
            <a:spLocks noChangeShapeType="1"/>
          </p:cNvSpPr>
          <p:nvPr/>
        </p:nvSpPr>
        <p:spPr bwMode="auto">
          <a:xfrm>
            <a:off x="7856801" y="906463"/>
            <a:ext cx="0" cy="1676400"/>
          </a:xfrm>
          <a:prstGeom prst="line">
            <a:avLst/>
          </a:prstGeom>
          <a:noFill/>
          <a:ln w="9525">
            <a:solidFill>
              <a:schemeClr val="folHlink"/>
            </a:solidFill>
            <a:round/>
            <a:headEnd/>
            <a:tailEnd/>
          </a:ln>
          <a:effectLst/>
        </p:spPr>
        <p:txBody>
          <a:bodyPr/>
          <a:lstStyle/>
          <a:p>
            <a:endParaRPr lang="en-US"/>
          </a:p>
        </p:txBody>
      </p:sp>
      <p:sp>
        <p:nvSpPr>
          <p:cNvPr id="330779" name="Line 27"/>
          <p:cNvSpPr>
            <a:spLocks noChangeShapeType="1"/>
          </p:cNvSpPr>
          <p:nvPr/>
        </p:nvSpPr>
        <p:spPr bwMode="auto">
          <a:xfrm>
            <a:off x="8669389" y="906463"/>
            <a:ext cx="0" cy="1676400"/>
          </a:xfrm>
          <a:prstGeom prst="line">
            <a:avLst/>
          </a:prstGeom>
          <a:noFill/>
          <a:ln w="9525">
            <a:solidFill>
              <a:schemeClr val="folHlink"/>
            </a:solidFill>
            <a:round/>
            <a:headEnd/>
            <a:tailEnd/>
          </a:ln>
          <a:effectLst/>
        </p:spPr>
        <p:txBody>
          <a:bodyPr/>
          <a:lstStyle/>
          <a:p>
            <a:endParaRPr lang="en-US"/>
          </a:p>
        </p:txBody>
      </p:sp>
      <p:sp>
        <p:nvSpPr>
          <p:cNvPr id="330780" name="Line 28"/>
          <p:cNvSpPr>
            <a:spLocks noChangeShapeType="1"/>
          </p:cNvSpPr>
          <p:nvPr/>
        </p:nvSpPr>
        <p:spPr bwMode="auto">
          <a:xfrm>
            <a:off x="9481978" y="906463"/>
            <a:ext cx="0" cy="1676400"/>
          </a:xfrm>
          <a:prstGeom prst="line">
            <a:avLst/>
          </a:prstGeom>
          <a:noFill/>
          <a:ln w="9525">
            <a:solidFill>
              <a:schemeClr val="folHlink"/>
            </a:solidFill>
            <a:round/>
            <a:headEnd/>
            <a:tailEnd/>
          </a:ln>
          <a:effectLst/>
        </p:spPr>
        <p:txBody>
          <a:bodyPr/>
          <a:lstStyle/>
          <a:p>
            <a:endParaRPr lang="en-US"/>
          </a:p>
        </p:txBody>
      </p:sp>
      <p:sp>
        <p:nvSpPr>
          <p:cNvPr id="330781" name="Line 29"/>
          <p:cNvSpPr>
            <a:spLocks noChangeShapeType="1"/>
          </p:cNvSpPr>
          <p:nvPr/>
        </p:nvSpPr>
        <p:spPr bwMode="auto">
          <a:xfrm>
            <a:off x="10294566" y="860426"/>
            <a:ext cx="0" cy="1676400"/>
          </a:xfrm>
          <a:prstGeom prst="line">
            <a:avLst/>
          </a:prstGeom>
          <a:noFill/>
          <a:ln w="9525">
            <a:solidFill>
              <a:schemeClr val="folHlink"/>
            </a:solidFill>
            <a:round/>
            <a:headEnd/>
            <a:tailEnd/>
          </a:ln>
          <a:effectLst/>
        </p:spPr>
        <p:txBody>
          <a:bodyPr/>
          <a:lstStyle/>
          <a:p>
            <a:endParaRPr lang="en-US"/>
          </a:p>
        </p:txBody>
      </p:sp>
      <p:sp>
        <p:nvSpPr>
          <p:cNvPr id="330782" name="Rectangle 30"/>
          <p:cNvSpPr>
            <a:spLocks noChangeArrowheads="1"/>
          </p:cNvSpPr>
          <p:nvPr/>
        </p:nvSpPr>
        <p:spPr bwMode="auto">
          <a:xfrm>
            <a:off x="238785" y="1058863"/>
            <a:ext cx="914162" cy="381000"/>
          </a:xfrm>
          <a:prstGeom prst="rect">
            <a:avLst/>
          </a:prstGeom>
          <a:solidFill>
            <a:schemeClr val="accent2"/>
          </a:solidFill>
          <a:ln w="9525">
            <a:solidFill>
              <a:schemeClr val="tx1"/>
            </a:solidFill>
            <a:miter lim="800000"/>
            <a:headEnd/>
            <a:tailEnd/>
          </a:ln>
          <a:effectLst/>
        </p:spPr>
        <p:txBody>
          <a:bodyPr wrap="none" anchor="ctr"/>
          <a:lstStyle/>
          <a:p>
            <a:pPr algn="ctr" eaLnBrk="1" hangingPunct="1"/>
            <a:r>
              <a:rPr lang="en-US" sz="2000" dirty="0">
                <a:solidFill>
                  <a:schemeClr val="bg1"/>
                </a:solidFill>
                <a:latin typeface="Arial" charset="0"/>
              </a:rPr>
              <a:t>P1</a:t>
            </a:r>
          </a:p>
        </p:txBody>
      </p:sp>
      <p:sp>
        <p:nvSpPr>
          <p:cNvPr id="330783" name="Rectangle 31"/>
          <p:cNvSpPr>
            <a:spLocks noChangeArrowheads="1"/>
          </p:cNvSpPr>
          <p:nvPr/>
        </p:nvSpPr>
        <p:spPr bwMode="auto">
          <a:xfrm>
            <a:off x="3692286" y="1058863"/>
            <a:ext cx="812588" cy="381000"/>
          </a:xfrm>
          <a:prstGeom prst="rect">
            <a:avLst/>
          </a:prstGeom>
          <a:solidFill>
            <a:schemeClr val="accent2"/>
          </a:solidFill>
          <a:ln w="9525">
            <a:solidFill>
              <a:schemeClr val="tx1"/>
            </a:solidFill>
            <a:miter lim="800000"/>
            <a:headEnd/>
            <a:tailEnd/>
          </a:ln>
          <a:effectLst/>
        </p:spPr>
        <p:txBody>
          <a:bodyPr wrap="none" anchor="ctr"/>
          <a:lstStyle/>
          <a:p>
            <a:pPr algn="ctr" eaLnBrk="1" hangingPunct="1"/>
            <a:r>
              <a:rPr lang="en-US" sz="2000" dirty="0">
                <a:solidFill>
                  <a:schemeClr val="bg1"/>
                </a:solidFill>
                <a:latin typeface="Arial" charset="0"/>
              </a:rPr>
              <a:t>P1</a:t>
            </a:r>
          </a:p>
        </p:txBody>
      </p:sp>
      <p:sp>
        <p:nvSpPr>
          <p:cNvPr id="330784" name="Rectangle 32"/>
          <p:cNvSpPr>
            <a:spLocks noChangeArrowheads="1"/>
          </p:cNvSpPr>
          <p:nvPr/>
        </p:nvSpPr>
        <p:spPr bwMode="auto">
          <a:xfrm>
            <a:off x="7155944" y="1058863"/>
            <a:ext cx="812588" cy="381000"/>
          </a:xfrm>
          <a:prstGeom prst="rect">
            <a:avLst/>
          </a:prstGeom>
          <a:solidFill>
            <a:schemeClr val="accent2"/>
          </a:solidFill>
          <a:ln w="9525">
            <a:solidFill>
              <a:schemeClr val="tx1"/>
            </a:solidFill>
            <a:miter lim="800000"/>
            <a:headEnd/>
            <a:tailEnd/>
          </a:ln>
          <a:effectLst/>
        </p:spPr>
        <p:txBody>
          <a:bodyPr wrap="none" anchor="ctr"/>
          <a:lstStyle/>
          <a:p>
            <a:pPr algn="ctr" eaLnBrk="1" hangingPunct="1"/>
            <a:r>
              <a:rPr lang="en-US" sz="2000" dirty="0">
                <a:solidFill>
                  <a:schemeClr val="bg1"/>
                </a:solidFill>
                <a:latin typeface="Arial" charset="0"/>
              </a:rPr>
              <a:t>P1</a:t>
            </a:r>
          </a:p>
        </p:txBody>
      </p:sp>
      <p:sp>
        <p:nvSpPr>
          <p:cNvPr id="330785" name="Rectangle 33"/>
          <p:cNvSpPr>
            <a:spLocks noChangeArrowheads="1"/>
          </p:cNvSpPr>
          <p:nvPr/>
        </p:nvSpPr>
        <p:spPr bwMode="auto">
          <a:xfrm>
            <a:off x="238786" y="1554163"/>
            <a:ext cx="1625177" cy="381000"/>
          </a:xfrm>
          <a:prstGeom prst="rect">
            <a:avLst/>
          </a:prstGeom>
          <a:solidFill>
            <a:srgbClr val="009999"/>
          </a:solidFill>
          <a:ln w="9525">
            <a:solidFill>
              <a:schemeClr val="tx1"/>
            </a:solidFill>
            <a:miter lim="800000"/>
            <a:headEnd/>
            <a:tailEnd/>
          </a:ln>
          <a:effectLst/>
        </p:spPr>
        <p:txBody>
          <a:bodyPr wrap="none" anchor="ctr"/>
          <a:lstStyle/>
          <a:p>
            <a:pPr algn="ctr" eaLnBrk="1" hangingPunct="1"/>
            <a:r>
              <a:rPr lang="en-US" sz="2000">
                <a:solidFill>
                  <a:schemeClr val="bg1"/>
                </a:solidFill>
                <a:latin typeface="Arial" charset="0"/>
              </a:rPr>
              <a:t>P2</a:t>
            </a:r>
          </a:p>
        </p:txBody>
      </p:sp>
      <p:sp>
        <p:nvSpPr>
          <p:cNvPr id="330786" name="Rectangle 34"/>
          <p:cNvSpPr>
            <a:spLocks noChangeArrowheads="1"/>
          </p:cNvSpPr>
          <p:nvPr/>
        </p:nvSpPr>
        <p:spPr bwMode="auto">
          <a:xfrm>
            <a:off x="5317463" y="1516063"/>
            <a:ext cx="1726750" cy="381000"/>
          </a:xfrm>
          <a:prstGeom prst="rect">
            <a:avLst/>
          </a:prstGeom>
          <a:solidFill>
            <a:srgbClr val="009999"/>
          </a:solidFill>
          <a:ln w="9525">
            <a:solidFill>
              <a:schemeClr val="tx1"/>
            </a:solidFill>
            <a:miter lim="800000"/>
            <a:headEnd/>
            <a:tailEnd/>
          </a:ln>
          <a:effectLst/>
        </p:spPr>
        <p:txBody>
          <a:bodyPr wrap="none" anchor="ctr"/>
          <a:lstStyle/>
          <a:p>
            <a:pPr algn="ctr" eaLnBrk="1" hangingPunct="1"/>
            <a:r>
              <a:rPr lang="en-US" sz="2000">
                <a:solidFill>
                  <a:schemeClr val="bg1"/>
                </a:solidFill>
                <a:latin typeface="Arial" charset="0"/>
              </a:rPr>
              <a:t>P2</a:t>
            </a:r>
          </a:p>
        </p:txBody>
      </p:sp>
      <p:sp>
        <p:nvSpPr>
          <p:cNvPr id="330787" name="Rectangle 35"/>
          <p:cNvSpPr>
            <a:spLocks noChangeArrowheads="1"/>
          </p:cNvSpPr>
          <p:nvPr/>
        </p:nvSpPr>
        <p:spPr bwMode="auto">
          <a:xfrm>
            <a:off x="238786" y="2065338"/>
            <a:ext cx="2539339" cy="381000"/>
          </a:xfrm>
          <a:prstGeom prst="rect">
            <a:avLst/>
          </a:prstGeom>
          <a:solidFill>
            <a:srgbClr val="FF9999"/>
          </a:solidFill>
          <a:ln w="9525">
            <a:solidFill>
              <a:schemeClr val="tx1"/>
            </a:solidFill>
            <a:miter lim="800000"/>
            <a:headEnd/>
            <a:tailEnd/>
          </a:ln>
          <a:effectLst/>
        </p:spPr>
        <p:txBody>
          <a:bodyPr wrap="none" anchor="ctr"/>
          <a:lstStyle/>
          <a:p>
            <a:pPr algn="ctr" eaLnBrk="1" hangingPunct="1"/>
            <a:r>
              <a:rPr lang="en-US" sz="2000">
                <a:solidFill>
                  <a:schemeClr val="bg1"/>
                </a:solidFill>
                <a:latin typeface="Arial" charset="0"/>
              </a:rPr>
              <a:t>P3</a:t>
            </a:r>
          </a:p>
        </p:txBody>
      </p:sp>
      <p:cxnSp>
        <p:nvCxnSpPr>
          <p:cNvPr id="4" name="Straight Arrow Connector 3"/>
          <p:cNvCxnSpPr/>
          <p:nvPr/>
        </p:nvCxnSpPr>
        <p:spPr bwMode="auto">
          <a:xfrm flipV="1">
            <a:off x="238785" y="1089026"/>
            <a:ext cx="0" cy="38100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53" name="Straight Arrow Connector 52"/>
          <p:cNvCxnSpPr/>
          <p:nvPr/>
        </p:nvCxnSpPr>
        <p:spPr bwMode="auto">
          <a:xfrm flipV="1">
            <a:off x="238785" y="1546226"/>
            <a:ext cx="0" cy="38100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54" name="Straight Arrow Connector 53"/>
          <p:cNvCxnSpPr/>
          <p:nvPr/>
        </p:nvCxnSpPr>
        <p:spPr bwMode="auto">
          <a:xfrm flipV="1">
            <a:off x="238785" y="2079626"/>
            <a:ext cx="0" cy="38100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55" name="Straight Arrow Connector 54"/>
          <p:cNvCxnSpPr/>
          <p:nvPr/>
        </p:nvCxnSpPr>
        <p:spPr bwMode="auto">
          <a:xfrm flipV="1">
            <a:off x="10294566" y="2079626"/>
            <a:ext cx="0" cy="381000"/>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cxnSp>
        <p:nvCxnSpPr>
          <p:cNvPr id="56" name="Straight Arrow Connector 55"/>
          <p:cNvCxnSpPr/>
          <p:nvPr/>
        </p:nvCxnSpPr>
        <p:spPr bwMode="auto">
          <a:xfrm flipV="1">
            <a:off x="5317463" y="1546226"/>
            <a:ext cx="0" cy="381000"/>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cxnSp>
        <p:nvCxnSpPr>
          <p:cNvPr id="57" name="Straight Arrow Connector 56"/>
          <p:cNvCxnSpPr/>
          <p:nvPr/>
        </p:nvCxnSpPr>
        <p:spPr bwMode="auto">
          <a:xfrm flipV="1">
            <a:off x="7145786" y="1089026"/>
            <a:ext cx="0" cy="381000"/>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cxnSp>
        <p:nvCxnSpPr>
          <p:cNvPr id="58" name="Straight Arrow Connector 57"/>
          <p:cNvCxnSpPr/>
          <p:nvPr/>
        </p:nvCxnSpPr>
        <p:spPr bwMode="auto">
          <a:xfrm flipV="1">
            <a:off x="3692286" y="1089026"/>
            <a:ext cx="0" cy="381000"/>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cxnSp>
        <p:nvCxnSpPr>
          <p:cNvPr id="59" name="Straight Arrow Connector 58"/>
          <p:cNvCxnSpPr/>
          <p:nvPr/>
        </p:nvCxnSpPr>
        <p:spPr bwMode="auto">
          <a:xfrm flipV="1">
            <a:off x="10294566" y="1576389"/>
            <a:ext cx="0" cy="381000"/>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cxnSp>
        <p:nvCxnSpPr>
          <p:cNvPr id="60" name="Straight Arrow Connector 59"/>
          <p:cNvCxnSpPr/>
          <p:nvPr/>
        </p:nvCxnSpPr>
        <p:spPr bwMode="auto">
          <a:xfrm flipV="1">
            <a:off x="10294566" y="1042989"/>
            <a:ext cx="0" cy="381000"/>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p:sp>
        <p:nvSpPr>
          <p:cNvPr id="63" name="Content Placeholder 1"/>
          <p:cNvSpPr txBox="1">
            <a:spLocks/>
          </p:cNvSpPr>
          <p:nvPr/>
        </p:nvSpPr>
        <p:spPr>
          <a:xfrm>
            <a:off x="287592" y="3476016"/>
            <a:ext cx="6114797" cy="2951162"/>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a:spcBef>
                <a:spcPct val="0"/>
              </a:spcBef>
              <a:buFont typeface="Arial" panose="020B0604020202020204" pitchFamily="34" charset="0"/>
              <a:buChar char="•"/>
            </a:pPr>
            <a:r>
              <a:rPr lang="en-US" sz="1800" kern="0" dirty="0">
                <a:latin typeface="+mn-lt"/>
              </a:rPr>
              <a:t>Describes real-time computational requirements</a:t>
            </a:r>
          </a:p>
          <a:p>
            <a:pPr>
              <a:spcBef>
                <a:spcPct val="0"/>
              </a:spcBef>
              <a:buFont typeface="Arial" panose="020B0604020202020204" pitchFamily="34" charset="0"/>
              <a:buChar char="•"/>
            </a:pPr>
            <a:r>
              <a:rPr lang="en-US" sz="1800" kern="0" dirty="0">
                <a:latin typeface="+mn-lt"/>
              </a:rPr>
              <a:t>Constant process execution time C</a:t>
            </a:r>
            <a:r>
              <a:rPr lang="en-US" sz="1800" kern="0" baseline="-25000" dirty="0">
                <a:latin typeface="+mn-lt"/>
              </a:rPr>
              <a:t>i</a:t>
            </a:r>
          </a:p>
          <a:p>
            <a:pPr>
              <a:spcBef>
                <a:spcPct val="0"/>
              </a:spcBef>
              <a:buFont typeface="Arial" panose="020B0604020202020204" pitchFamily="34" charset="0"/>
              <a:buChar char="•"/>
            </a:pPr>
            <a:r>
              <a:rPr lang="en-US" sz="1800" kern="0" dirty="0">
                <a:latin typeface="+mn-lt"/>
              </a:rPr>
              <a:t>Threads are periodic with period T</a:t>
            </a:r>
            <a:r>
              <a:rPr lang="en-US" sz="1800" kern="0" baseline="-25000" dirty="0">
                <a:latin typeface="+mn-lt"/>
              </a:rPr>
              <a:t>i</a:t>
            </a:r>
          </a:p>
          <a:p>
            <a:pPr>
              <a:spcBef>
                <a:spcPct val="0"/>
              </a:spcBef>
              <a:buFont typeface="Arial" panose="020B0604020202020204" pitchFamily="34" charset="0"/>
              <a:buChar char="•"/>
            </a:pPr>
            <a:r>
              <a:rPr lang="en-US" sz="1800" kern="0" dirty="0">
                <a:latin typeface="+mn-lt"/>
              </a:rPr>
              <a:t>Release time </a:t>
            </a:r>
          </a:p>
          <a:p>
            <a:pPr lvl="1">
              <a:spcBef>
                <a:spcPct val="0"/>
              </a:spcBef>
              <a:buFont typeface="Arial" panose="020B0604020202020204" pitchFamily="34" charset="0"/>
              <a:buChar char="•"/>
            </a:pPr>
            <a:r>
              <a:rPr lang="en-US" sz="1600" kern="0" dirty="0">
                <a:latin typeface="+mn-lt"/>
              </a:rPr>
              <a:t>Thread is released every T</a:t>
            </a:r>
            <a:r>
              <a:rPr lang="en-US" sz="1600" kern="0" baseline="-25000" dirty="0">
                <a:latin typeface="+mn-lt"/>
              </a:rPr>
              <a:t>i</a:t>
            </a:r>
            <a:r>
              <a:rPr lang="en-US" sz="1600" kern="0" dirty="0">
                <a:latin typeface="+mn-lt"/>
              </a:rPr>
              <a:t> time units</a:t>
            </a:r>
            <a:r>
              <a:rPr lang="en-US" sz="1600" kern="0" baseline="30000" dirty="0">
                <a:latin typeface="+mn-lt"/>
              </a:rPr>
              <a:t> </a:t>
            </a:r>
            <a:r>
              <a:rPr lang="en-US" sz="1600" kern="0" dirty="0">
                <a:latin typeface="+mn-lt"/>
              </a:rPr>
              <a:t>and is ready to run</a:t>
            </a:r>
            <a:endParaRPr lang="en-US" sz="1600" kern="0" baseline="-25000" dirty="0">
              <a:latin typeface="+mn-lt"/>
            </a:endParaRPr>
          </a:p>
          <a:p>
            <a:pPr>
              <a:spcBef>
                <a:spcPct val="0"/>
              </a:spcBef>
              <a:buFont typeface="Arial" panose="020B0604020202020204" pitchFamily="34" charset="0"/>
              <a:buChar char="•"/>
            </a:pPr>
            <a:r>
              <a:rPr lang="en-US" sz="1800" kern="0" dirty="0">
                <a:latin typeface="+mn-lt"/>
              </a:rPr>
              <a:t>Deadline D</a:t>
            </a:r>
            <a:r>
              <a:rPr lang="en-US" sz="1800" kern="0" baseline="-25000" dirty="0">
                <a:latin typeface="+mn-lt"/>
              </a:rPr>
              <a:t>i </a:t>
            </a:r>
            <a:r>
              <a:rPr lang="en-US" sz="1800" kern="0" dirty="0">
                <a:latin typeface="+mn-lt"/>
              </a:rPr>
              <a:t>. </a:t>
            </a:r>
          </a:p>
          <a:p>
            <a:pPr lvl="1">
              <a:spcBef>
                <a:spcPct val="0"/>
              </a:spcBef>
              <a:buFont typeface="Arial" panose="020B0604020202020204" pitchFamily="34" charset="0"/>
              <a:buChar char="•"/>
            </a:pPr>
            <a:r>
              <a:rPr lang="en-US" sz="1600" kern="0" dirty="0">
                <a:latin typeface="+mn-lt"/>
              </a:rPr>
              <a:t>Might be related to period T</a:t>
            </a:r>
            <a:r>
              <a:rPr lang="en-US" sz="1600" kern="0" baseline="-25000" dirty="0">
                <a:latin typeface="+mn-lt"/>
              </a:rPr>
              <a:t>i  </a:t>
            </a:r>
            <a:r>
              <a:rPr lang="en-US" sz="1600" kern="0" dirty="0">
                <a:latin typeface="+mn-lt"/>
              </a:rPr>
              <a:t>making analysis easier</a:t>
            </a:r>
          </a:p>
          <a:p>
            <a:pPr lvl="1">
              <a:spcBef>
                <a:spcPct val="0"/>
              </a:spcBef>
              <a:buFont typeface="Arial" panose="020B0604020202020204" pitchFamily="34" charset="0"/>
              <a:buChar char="•"/>
            </a:pPr>
            <a:r>
              <a:rPr lang="en-GB" sz="1600" kern="0" dirty="0">
                <a:latin typeface="+mn-lt"/>
              </a:rPr>
              <a:t>Can also be earlier than the end of a period!</a:t>
            </a:r>
            <a:endParaRPr lang="en-US" sz="1600" kern="0" dirty="0">
              <a:latin typeface="+mn-lt"/>
            </a:endParaRPr>
          </a:p>
        </p:txBody>
      </p:sp>
    </p:spTree>
    <p:extLst>
      <p:ext uri="{BB962C8B-B14F-4D97-AF65-F5344CB8AC3E}">
        <p14:creationId xmlns:p14="http://schemas.microsoft.com/office/powerpoint/2010/main" val="27505487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Periodic Scheduling</a:t>
            </a:r>
            <a:endParaRPr lang="en-US" dirty="0"/>
          </a:p>
        </p:txBody>
      </p:sp>
      <p:sp>
        <p:nvSpPr>
          <p:cNvPr id="2" name="Content Placeholder 1"/>
          <p:cNvSpPr>
            <a:spLocks noGrp="1"/>
          </p:cNvSpPr>
          <p:nvPr>
            <p:ph idx="1"/>
          </p:nvPr>
        </p:nvSpPr>
        <p:spPr>
          <a:xfrm>
            <a:off x="449997" y="1044346"/>
            <a:ext cx="11171307" cy="4943215"/>
          </a:xfrm>
        </p:spPr>
        <p:txBody>
          <a:bodyPr/>
          <a:lstStyle/>
          <a:p>
            <a:endParaRPr lang="en-GB" dirty="0"/>
          </a:p>
          <a:p>
            <a:r>
              <a:rPr lang="en-GB" dirty="0"/>
              <a:t>Goals</a:t>
            </a:r>
          </a:p>
          <a:p>
            <a:pPr lvl="1"/>
            <a:r>
              <a:rPr lang="en-GB" dirty="0"/>
              <a:t>Meet all Thread deadlines!</a:t>
            </a:r>
          </a:p>
          <a:p>
            <a:pPr lvl="5"/>
            <a:r>
              <a:rPr lang="en-GB" dirty="0"/>
              <a:t>Not always </a:t>
            </a:r>
            <a:r>
              <a:rPr lang="en-GB" b="1" dirty="0"/>
              <a:t>schedulable</a:t>
            </a:r>
            <a:r>
              <a:rPr lang="en-GB" dirty="0"/>
              <a:t> to meet all deadlines!</a:t>
            </a:r>
          </a:p>
          <a:p>
            <a:pPr lvl="1"/>
            <a:r>
              <a:rPr lang="en-GB" dirty="0"/>
              <a:t>Maximize processor utilization </a:t>
            </a:r>
            <a:r>
              <a:rPr lang="en-GB" i="1" dirty="0"/>
              <a:t>(U)</a:t>
            </a:r>
          </a:p>
          <a:p>
            <a:pPr lvl="5"/>
            <a:r>
              <a:rPr lang="en-GB" dirty="0"/>
              <a:t>The fraction of time CPU performs useful work</a:t>
            </a:r>
          </a:p>
          <a:p>
            <a:pPr lvl="5"/>
            <a:r>
              <a:rPr lang="en-GB" dirty="0"/>
              <a:t>Limit scheduling overhead</a:t>
            </a:r>
          </a:p>
          <a:p>
            <a:pPr lvl="5"/>
            <a:r>
              <a:rPr lang="en-GB" dirty="0"/>
              <a:t>Limit context switching overhead</a:t>
            </a:r>
          </a:p>
          <a:p>
            <a:r>
              <a:rPr lang="en-GB" dirty="0"/>
              <a:t>Which ready Thread to run?</a:t>
            </a:r>
          </a:p>
          <a:p>
            <a:pPr lvl="1"/>
            <a:r>
              <a:rPr lang="en-GB" dirty="0"/>
              <a:t>Based only on Thread importance?</a:t>
            </a:r>
          </a:p>
          <a:p>
            <a:pPr lvl="2"/>
            <a:r>
              <a:rPr lang="en-GB" dirty="0"/>
              <a:t>Would starve consistently low priority Thread unnecessarily</a:t>
            </a:r>
          </a:p>
          <a:p>
            <a:r>
              <a:rPr lang="en-GB" dirty="0"/>
              <a:t>Some common approaches</a:t>
            </a:r>
          </a:p>
          <a:p>
            <a:pPr lvl="2"/>
            <a:r>
              <a:rPr lang="en-GB" dirty="0"/>
              <a:t>Earliest deadline first (EDF)</a:t>
            </a:r>
          </a:p>
          <a:p>
            <a:pPr lvl="2"/>
            <a:r>
              <a:rPr lang="en-GB" dirty="0"/>
              <a:t>Rate monotonic (RM)</a:t>
            </a:r>
          </a:p>
          <a:p>
            <a:pPr lvl="2"/>
            <a:r>
              <a:rPr lang="en-GB" dirty="0"/>
              <a:t>Deadline monotonic (DM) (</a:t>
            </a:r>
            <a:r>
              <a:rPr lang="en-GB" i="1" dirty="0" err="1"/>
              <a:t>D</a:t>
            </a:r>
            <a:r>
              <a:rPr lang="en-GB" i="1" baseline="-25000" dirty="0" err="1"/>
              <a:t>i</a:t>
            </a:r>
            <a:r>
              <a:rPr lang="en-GB" dirty="0" err="1"/>
              <a:t>≤</a:t>
            </a:r>
            <a:r>
              <a:rPr lang="en-GB" i="1" dirty="0" err="1"/>
              <a:t>T</a:t>
            </a:r>
            <a:r>
              <a:rPr lang="en-GB" i="1" baseline="-25000" dirty="0" err="1"/>
              <a:t>i</a:t>
            </a:r>
            <a:r>
              <a:rPr lang="en-GB" dirty="0"/>
              <a:t>)</a:t>
            </a:r>
          </a:p>
        </p:txBody>
      </p:sp>
      <p:graphicFrame>
        <p:nvGraphicFramePr>
          <p:cNvPr id="4" name="Object 3"/>
          <p:cNvGraphicFramePr>
            <a:graphicFrameLocks noChangeAspect="1"/>
          </p:cNvGraphicFramePr>
          <p:nvPr>
            <p:extLst>
              <p:ext uri="{D42A27DB-BD31-4B8C-83A1-F6EECF244321}">
                <p14:modId xmlns:p14="http://schemas.microsoft.com/office/powerpoint/2010/main" val="2453690773"/>
              </p:ext>
            </p:extLst>
          </p:nvPr>
        </p:nvGraphicFramePr>
        <p:xfrm>
          <a:off x="8639421" y="1564562"/>
          <a:ext cx="2455862" cy="1654175"/>
        </p:xfrm>
        <a:graphic>
          <a:graphicData uri="http://schemas.openxmlformats.org/presentationml/2006/ole">
            <mc:AlternateContent xmlns:mc="http://schemas.openxmlformats.org/markup-compatibility/2006">
              <mc:Choice xmlns:v="urn:schemas-microsoft-com:vml" Requires="v">
                <p:oleObj name="Equation" r:id="rId3" imgW="660240" imgH="444240" progId="Equation.3">
                  <p:embed/>
                </p:oleObj>
              </mc:Choice>
              <mc:Fallback>
                <p:oleObj name="Equation" r:id="rId3" imgW="660240" imgH="444240" progId="Equation.3">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9421" y="1564562"/>
                        <a:ext cx="2455862"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48161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Earliest Deadline First</a:t>
            </a:r>
            <a:endParaRPr lang="en-US" dirty="0"/>
          </a:p>
        </p:txBody>
      </p:sp>
      <p:sp>
        <p:nvSpPr>
          <p:cNvPr id="2" name="Content Placeholder 1"/>
          <p:cNvSpPr>
            <a:spLocks noGrp="1"/>
          </p:cNvSpPr>
          <p:nvPr>
            <p:ph idx="1"/>
          </p:nvPr>
        </p:nvSpPr>
        <p:spPr/>
        <p:txBody>
          <a:bodyPr/>
          <a:lstStyle/>
          <a:p>
            <a:endParaRPr lang="en-GB" dirty="0"/>
          </a:p>
          <a:p>
            <a:r>
              <a:rPr lang="en-GB" dirty="0"/>
              <a:t>Run the job with the earliest deadline first</a:t>
            </a:r>
          </a:p>
          <a:p>
            <a:r>
              <a:rPr lang="en-US" dirty="0"/>
              <a:t>Utilization-based schedulability test depends on deadline constraints</a:t>
            </a:r>
          </a:p>
          <a:p>
            <a:pPr lvl="1"/>
            <a:r>
              <a:rPr lang="en-GB" dirty="0"/>
              <a:t>Di = Ti : Schedulable if utilization ≤ 100% </a:t>
            </a:r>
          </a:p>
          <a:p>
            <a:pPr lvl="1"/>
            <a:r>
              <a:rPr lang="en-GB" dirty="0"/>
              <a:t>Di &gt; Ti : Schedulable if utilization ≤ 100% </a:t>
            </a:r>
          </a:p>
          <a:p>
            <a:pPr lvl="1"/>
            <a:r>
              <a:rPr lang="en-GB" dirty="0"/>
              <a:t>Di &lt; Ti : Have to use a more complicated test</a:t>
            </a:r>
          </a:p>
          <a:p>
            <a:r>
              <a:rPr lang="en-GB" dirty="0"/>
              <a:t>Hard to implement such dynamic policy</a:t>
            </a:r>
            <a:endParaRPr lang="en-US" dirty="0"/>
          </a:p>
          <a:p>
            <a:pPr lvl="1"/>
            <a:r>
              <a:rPr lang="en-GB" dirty="0"/>
              <a:t>Run-time scheduler has to keep track of all deadlines, which also depends on Threads’ release time</a:t>
            </a:r>
          </a:p>
          <a:p>
            <a:pPr lvl="1"/>
            <a:r>
              <a:rPr lang="en-GB" dirty="0"/>
              <a:t>Sorting by deadline, time complexity: </a:t>
            </a:r>
            <a:r>
              <a:rPr lang="en-GB" i="1" dirty="0"/>
              <a:t>O(n)</a:t>
            </a:r>
            <a:endParaRPr lang="en-US" i="1" dirty="0"/>
          </a:p>
          <a:p>
            <a:r>
              <a:rPr lang="en-GB" dirty="0"/>
              <a:t>Periodic Threads only? Will repeat every hyper-period, the least common multiple of all Thread periods</a:t>
            </a:r>
          </a:p>
          <a:p>
            <a:endParaRPr lang="en-US" dirty="0"/>
          </a:p>
        </p:txBody>
      </p:sp>
    </p:spTree>
    <p:extLst>
      <p:ext uri="{BB962C8B-B14F-4D97-AF65-F5344CB8AC3E}">
        <p14:creationId xmlns:p14="http://schemas.microsoft.com/office/powerpoint/2010/main" val="438943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Rate Monotonic</a:t>
            </a:r>
            <a:endParaRPr lang="en-US" dirty="0"/>
          </a:p>
        </p:txBody>
      </p:sp>
      <p:sp>
        <p:nvSpPr>
          <p:cNvPr id="2" name="Content Placeholder 1"/>
          <p:cNvSpPr>
            <a:spLocks noGrp="1"/>
          </p:cNvSpPr>
          <p:nvPr>
            <p:ph idx="1"/>
          </p:nvPr>
        </p:nvSpPr>
        <p:spPr>
          <a:xfrm>
            <a:off x="467581" y="868501"/>
            <a:ext cx="11171306" cy="5268530"/>
          </a:xfrm>
        </p:spPr>
        <p:txBody>
          <a:bodyPr/>
          <a:lstStyle/>
          <a:p>
            <a:r>
              <a:rPr lang="en-GB" dirty="0"/>
              <a:t>Shortest period first, preemptive</a:t>
            </a:r>
          </a:p>
          <a:p>
            <a:r>
              <a:rPr lang="en-GB" dirty="0"/>
              <a:t>Optimal for workload where deadline = the end of period, i.e., </a:t>
            </a:r>
            <a:r>
              <a:rPr lang="en-GB" i="1" dirty="0"/>
              <a:t>D</a:t>
            </a:r>
            <a:r>
              <a:rPr lang="en-GB" i="1" baseline="-25000" dirty="0"/>
              <a:t>i</a:t>
            </a:r>
            <a:r>
              <a:rPr lang="en-GB" dirty="0"/>
              <a:t>=</a:t>
            </a:r>
            <a:r>
              <a:rPr lang="en-GB" i="1" dirty="0"/>
              <a:t>T</a:t>
            </a:r>
            <a:r>
              <a:rPr lang="en-GB" i="1" baseline="-25000" dirty="0"/>
              <a:t>i </a:t>
            </a:r>
            <a:r>
              <a:rPr lang="en-GB" dirty="0"/>
              <a:t>.</a:t>
            </a:r>
          </a:p>
          <a:p>
            <a:r>
              <a:rPr lang="en-GB" dirty="0"/>
              <a:t>Assume </a:t>
            </a:r>
            <a:r>
              <a:rPr lang="en-GB" i="1" dirty="0"/>
              <a:t>D</a:t>
            </a:r>
            <a:r>
              <a:rPr lang="en-GB" i="1" baseline="-25000" dirty="0"/>
              <a:t>i</a:t>
            </a:r>
            <a:r>
              <a:rPr lang="en-GB" dirty="0"/>
              <a:t>=</a:t>
            </a:r>
            <a:r>
              <a:rPr lang="en-GB" i="1" dirty="0"/>
              <a:t>T</a:t>
            </a:r>
            <a:r>
              <a:rPr lang="en-GB" i="1" baseline="-25000" dirty="0"/>
              <a:t>i </a:t>
            </a:r>
            <a:r>
              <a:rPr lang="en-GB" dirty="0"/>
              <a:t>, the utilization bound for RM: </a:t>
            </a:r>
            <a:r>
              <a:rPr lang="en-US" i="1" dirty="0" err="1"/>
              <a:t>U</a:t>
            </a:r>
            <a:r>
              <a:rPr lang="en-US" i="1" baseline="-25000" dirty="0" err="1"/>
              <a:t>max</a:t>
            </a:r>
            <a:r>
              <a:rPr lang="en-US" i="1" baseline="-25000" dirty="0"/>
              <a:t> </a:t>
            </a:r>
            <a:r>
              <a:rPr lang="en-US" dirty="0"/>
              <a:t> is* </a:t>
            </a:r>
          </a:p>
          <a:p>
            <a:pPr marL="0" indent="0">
              <a:buNone/>
            </a:pPr>
            <a:endParaRPr lang="en-GB" dirty="0"/>
          </a:p>
          <a:p>
            <a:pPr marL="0" indent="0">
              <a:buNone/>
            </a:pPr>
            <a:endParaRPr lang="en-GB" dirty="0"/>
          </a:p>
          <a:p>
            <a:r>
              <a:rPr lang="en-US" i="1" dirty="0" err="1"/>
              <a:t>U</a:t>
            </a:r>
            <a:r>
              <a:rPr lang="en-US" i="1" baseline="-25000" dirty="0" err="1"/>
              <a:t>max</a:t>
            </a:r>
            <a:r>
              <a:rPr lang="en-US" i="1" dirty="0"/>
              <a:t> </a:t>
            </a:r>
            <a:r>
              <a:rPr lang="en-US" dirty="0"/>
              <a:t>approaches ln2 (around 0.693) as n approaches positive infinity.</a:t>
            </a:r>
          </a:p>
          <a:p>
            <a:r>
              <a:rPr lang="en-GB" dirty="0"/>
              <a:t>If </a:t>
            </a:r>
            <a:r>
              <a:rPr lang="en-GB" i="1" dirty="0"/>
              <a:t>U</a:t>
            </a:r>
            <a:r>
              <a:rPr lang="en-GB" dirty="0"/>
              <a:t>&lt;</a:t>
            </a:r>
            <a:r>
              <a:rPr lang="en-US" i="1" dirty="0" err="1"/>
              <a:t>U</a:t>
            </a:r>
            <a:r>
              <a:rPr lang="en-US" i="1" baseline="-25000" dirty="0" err="1"/>
              <a:t>max</a:t>
            </a:r>
            <a:r>
              <a:rPr lang="en-US" i="1" baseline="-25000" dirty="0"/>
              <a:t> </a:t>
            </a:r>
            <a:r>
              <a:rPr lang="en-US" dirty="0"/>
              <a:t>, 100% schedulable, otherwise, maybe schedulable.  An example:</a:t>
            </a:r>
          </a:p>
          <a:p>
            <a:endParaRPr lang="en-GB" dirty="0"/>
          </a:p>
          <a:p>
            <a:endParaRPr lang="en-GB" dirty="0"/>
          </a:p>
          <a:p>
            <a:endParaRPr lang="en-GB" dirty="0"/>
          </a:p>
          <a:p>
            <a:endParaRPr lang="en-GB" dirty="0"/>
          </a:p>
          <a:p>
            <a:endParaRPr lang="en-GB" dirty="0"/>
          </a:p>
          <a:p>
            <a:r>
              <a:rPr lang="en-GB" dirty="0"/>
              <a:t>A modified approach: harmonic RM – Thread period can evenly divide every longer Thread period for example, periods of 10, 20, 40, 80… Bound is 100%</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1379870541"/>
              </p:ext>
            </p:extLst>
          </p:nvPr>
        </p:nvGraphicFramePr>
        <p:xfrm>
          <a:off x="4608758" y="2168893"/>
          <a:ext cx="2998177" cy="696087"/>
        </p:xfrm>
        <a:graphic>
          <a:graphicData uri="http://schemas.openxmlformats.org/presentationml/2006/ole">
            <mc:AlternateContent xmlns:mc="http://schemas.openxmlformats.org/markup-compatibility/2006">
              <mc:Choice xmlns:v="urn:schemas-microsoft-com:vml" Requires="v">
                <p:oleObj name="Equation" r:id="rId3" imgW="1041120" imgH="241200" progId="Equation.3">
                  <p:embed/>
                </p:oleObj>
              </mc:Choice>
              <mc:Fallback>
                <p:oleObj name="Equation" r:id="rId3" imgW="1041120" imgH="241200" progId="Equation.3">
                  <p:embed/>
                  <p:pic>
                    <p:nvPicPr>
                      <p:cNvPr id="4" name="Object 3"/>
                      <p:cNvPicPr>
                        <a:picLocks noChangeAspect="1" noChangeArrowheads="1"/>
                      </p:cNvPicPr>
                      <p:nvPr/>
                    </p:nvPicPr>
                    <p:blipFill>
                      <a:blip r:embed="rId4"/>
                      <a:srcRect/>
                      <a:stretch>
                        <a:fillRect/>
                      </a:stretch>
                    </p:blipFill>
                    <p:spPr bwMode="auto">
                      <a:xfrm>
                        <a:off x="4608758" y="2168893"/>
                        <a:ext cx="2998177" cy="696087"/>
                      </a:xfrm>
                      <a:prstGeom prst="rect">
                        <a:avLst/>
                      </a:prstGeom>
                      <a:noFill/>
                      <a:ln>
                        <a:noFill/>
                      </a:ln>
                    </p:spPr>
                  </p:pic>
                </p:oleObj>
              </mc:Fallback>
            </mc:AlternateContent>
          </a:graphicData>
        </a:graphic>
      </p:graphicFrame>
      <p:sp>
        <p:nvSpPr>
          <p:cNvPr id="5" name="TextBox 4"/>
          <p:cNvSpPr txBox="1"/>
          <p:nvPr/>
        </p:nvSpPr>
        <p:spPr>
          <a:xfrm>
            <a:off x="4936690" y="6352876"/>
            <a:ext cx="6920345" cy="284069"/>
          </a:xfrm>
          <a:prstGeom prst="rect">
            <a:avLst/>
          </a:prstGeom>
        </p:spPr>
        <p:txBody>
          <a:bodyPr vert="horz" wrap="none" lIns="0" tIns="0" rIns="0" bIns="0" rtlCol="0" anchor="t">
            <a:normAutofit/>
          </a:bodyPr>
          <a:lstStyle/>
          <a:p>
            <a:pPr algn="ctr"/>
            <a:r>
              <a:rPr lang="en-GB" sz="1000" dirty="0"/>
              <a:t>*Originally proved by </a:t>
            </a:r>
            <a:r>
              <a:rPr lang="en-US" sz="1000" dirty="0"/>
              <a:t>CL Liu and JW </a:t>
            </a:r>
            <a:r>
              <a:rPr lang="en-US" sz="1000" dirty="0" err="1"/>
              <a:t>Layland</a:t>
            </a:r>
            <a:r>
              <a:rPr lang="en-US" sz="1000" dirty="0"/>
              <a:t> in 1973. </a:t>
            </a:r>
            <a:r>
              <a:rPr lang="en-GB" sz="1000" dirty="0"/>
              <a:t>"Scheduling algorithms for multiprogramming in a hard-real-time environment."</a:t>
            </a:r>
            <a:endParaRPr lang="en-US" sz="1000" dirty="0"/>
          </a:p>
        </p:txBody>
      </p:sp>
      <p:graphicFrame>
        <p:nvGraphicFramePr>
          <p:cNvPr id="6" name="Group 4"/>
          <p:cNvGraphicFramePr>
            <a:graphicFrameLocks noGrp="1"/>
          </p:cNvGraphicFramePr>
          <p:nvPr>
            <p:extLst>
              <p:ext uri="{D42A27DB-BD31-4B8C-83A1-F6EECF244321}">
                <p14:modId xmlns:p14="http://schemas.microsoft.com/office/powerpoint/2010/main" val="792686063"/>
              </p:ext>
            </p:extLst>
          </p:nvPr>
        </p:nvGraphicFramePr>
        <p:xfrm>
          <a:off x="1115281" y="3877408"/>
          <a:ext cx="9815147" cy="1463040"/>
        </p:xfrm>
        <a:graphic>
          <a:graphicData uri="http://schemas.openxmlformats.org/drawingml/2006/table">
            <a:tbl>
              <a:tblPr>
                <a:tableStyleId>{BDBED569-4797-4DF1-A0F4-6AAB3CD982D8}</a:tableStyleId>
              </a:tblPr>
              <a:tblGrid>
                <a:gridCol w="2101623">
                  <a:extLst>
                    <a:ext uri="{9D8B030D-6E8A-4147-A177-3AD203B41FA5}">
                      <a16:colId xmlns:a16="http://schemas.microsoft.com/office/drawing/2014/main" val="20000"/>
                    </a:ext>
                  </a:extLst>
                </a:gridCol>
                <a:gridCol w="3392890">
                  <a:extLst>
                    <a:ext uri="{9D8B030D-6E8A-4147-A177-3AD203B41FA5}">
                      <a16:colId xmlns:a16="http://schemas.microsoft.com/office/drawing/2014/main" val="20001"/>
                    </a:ext>
                  </a:extLst>
                </a:gridCol>
                <a:gridCol w="2230371">
                  <a:extLst>
                    <a:ext uri="{9D8B030D-6E8A-4147-A177-3AD203B41FA5}">
                      <a16:colId xmlns:a16="http://schemas.microsoft.com/office/drawing/2014/main" val="20002"/>
                    </a:ext>
                  </a:extLst>
                </a:gridCol>
                <a:gridCol w="2090263">
                  <a:extLst>
                    <a:ext uri="{9D8B030D-6E8A-4147-A177-3AD203B41FA5}">
                      <a16:colId xmlns:a16="http://schemas.microsoft.com/office/drawing/2014/main" val="20003"/>
                    </a:ext>
                  </a:extLst>
                </a:gridCol>
              </a:tblGrid>
              <a:tr h="33112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dirty="0">
                          <a:ln>
                            <a:noFill/>
                          </a:ln>
                          <a:effectLst/>
                        </a:rPr>
                        <a:t>Thread</a:t>
                      </a:r>
                      <a:endParaRPr kumimoji="0" lang="en-US" sz="1800" b="0" i="0" u="none" strike="noStrike" cap="none" normalizeH="0" baseline="0" dirty="0">
                        <a:ln>
                          <a:noFill/>
                        </a:ln>
                        <a:solidFill>
                          <a:schemeClr val="tx1"/>
                        </a:solidFill>
                        <a:effectLst/>
                        <a:latin typeface="Times New Roman" pitchFamily="18"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dirty="0">
                          <a:ln>
                            <a:noFill/>
                          </a:ln>
                          <a:effectLst/>
                        </a:rPr>
                        <a:t>Execution Time C</a:t>
                      </a:r>
                      <a:endParaRPr kumimoji="0" lang="en-US" sz="1800" b="0" i="0" u="none" strike="noStrike" cap="none" normalizeH="0" baseline="0" dirty="0">
                        <a:ln>
                          <a:noFill/>
                        </a:ln>
                        <a:solidFill>
                          <a:schemeClr val="tx1"/>
                        </a:solidFill>
                        <a:effectLst/>
                        <a:latin typeface="Times New Roman" pitchFamily="18"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dirty="0">
                          <a:ln>
                            <a:noFill/>
                          </a:ln>
                          <a:effectLst/>
                        </a:rPr>
                        <a:t>Period T</a:t>
                      </a:r>
                      <a:endParaRPr kumimoji="0" lang="en-US" sz="1800" b="0" i="0" u="none" strike="noStrike" cap="none" normalizeH="0" baseline="0" dirty="0">
                        <a:ln>
                          <a:noFill/>
                        </a:ln>
                        <a:solidFill>
                          <a:schemeClr val="tx1"/>
                        </a:solidFill>
                        <a:effectLst/>
                        <a:latin typeface="Symbol" pitchFamily="18" charset="2"/>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dirty="0">
                          <a:ln>
                            <a:noFill/>
                          </a:ln>
                          <a:effectLst/>
                        </a:rPr>
                        <a:t>RM Dispatch</a:t>
                      </a:r>
                      <a:endParaRPr kumimoji="0" lang="en-US" sz="1800" b="0" i="0" u="none" strike="noStrike" cap="none" normalizeH="0" baseline="0" dirty="0">
                        <a:ln>
                          <a:noFill/>
                        </a:ln>
                        <a:solidFill>
                          <a:schemeClr val="tx1"/>
                        </a:solidFill>
                        <a:effectLst/>
                        <a:latin typeface="Times New Roman" pitchFamily="18" charset="0"/>
                      </a:endParaRPr>
                    </a:p>
                  </a:txBody>
                  <a:tcPr horzOverflow="overflow"/>
                </a:tc>
                <a:extLst>
                  <a:ext uri="{0D108BD9-81ED-4DB2-BD59-A6C34878D82A}">
                    <a16:rowId xmlns:a16="http://schemas.microsoft.com/office/drawing/2014/main" val="10000"/>
                  </a:ext>
                </a:extLst>
              </a:tr>
              <a:tr h="2940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a:ln>
                            <a:noFill/>
                          </a:ln>
                          <a:effectLst/>
                        </a:rPr>
                        <a:t>P1</a:t>
                      </a:r>
                      <a:endParaRPr kumimoji="0" lang="en-US" sz="1800" b="0" i="0" u="none" strike="noStrike" cap="none" normalizeH="0" baseline="0">
                        <a:ln>
                          <a:noFill/>
                        </a:ln>
                        <a:solidFill>
                          <a:schemeClr val="tx1"/>
                        </a:solidFill>
                        <a:effectLst/>
                        <a:latin typeface="Times New Roman" pitchFamily="18"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dirty="0">
                          <a:ln>
                            <a:noFill/>
                          </a:ln>
                          <a:effectLst/>
                        </a:rPr>
                        <a:t>1</a:t>
                      </a:r>
                      <a:endParaRPr kumimoji="0" lang="en-US" sz="1800" b="0" i="0" u="none" strike="noStrike" cap="none" normalizeH="0" baseline="0" dirty="0">
                        <a:ln>
                          <a:noFill/>
                        </a:ln>
                        <a:solidFill>
                          <a:schemeClr val="tx1"/>
                        </a:solidFill>
                        <a:effectLst/>
                        <a:latin typeface="Times New Roman" pitchFamily="18"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a:ln>
                            <a:noFill/>
                          </a:ln>
                          <a:effectLst/>
                        </a:rPr>
                        <a:t>8</a:t>
                      </a:r>
                      <a:endParaRPr kumimoji="0" lang="en-US" sz="1800" b="0" i="0" u="none" strike="noStrike" cap="none" normalizeH="0" baseline="0">
                        <a:ln>
                          <a:noFill/>
                        </a:ln>
                        <a:solidFill>
                          <a:schemeClr val="tx1"/>
                        </a:solidFill>
                        <a:effectLst/>
                        <a:latin typeface="Times New Roman" pitchFamily="18"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dirty="0">
                          <a:ln>
                            <a:noFill/>
                          </a:ln>
                          <a:effectLst/>
                        </a:rPr>
                        <a:t>First</a:t>
                      </a:r>
                      <a:endParaRPr kumimoji="0" lang="en-US" sz="1800" b="0" i="0" u="none" strike="noStrike" cap="none" normalizeH="0" baseline="0" dirty="0">
                        <a:ln>
                          <a:noFill/>
                        </a:ln>
                        <a:solidFill>
                          <a:schemeClr val="tx1"/>
                        </a:solidFill>
                        <a:effectLst/>
                        <a:latin typeface="Times New Roman" pitchFamily="18" charset="0"/>
                      </a:endParaRPr>
                    </a:p>
                  </a:txBody>
                  <a:tcPr horzOverflow="overflow"/>
                </a:tc>
                <a:extLst>
                  <a:ext uri="{0D108BD9-81ED-4DB2-BD59-A6C34878D82A}">
                    <a16:rowId xmlns:a16="http://schemas.microsoft.com/office/drawing/2014/main" val="10001"/>
                  </a:ext>
                </a:extLst>
              </a:tr>
              <a:tr h="2940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a:ln>
                            <a:noFill/>
                          </a:ln>
                          <a:effectLst/>
                        </a:rPr>
                        <a:t>P2</a:t>
                      </a:r>
                      <a:endParaRPr kumimoji="0" lang="en-US" sz="1800" b="0" i="0" u="none" strike="noStrike" cap="none" normalizeH="0" baseline="0">
                        <a:ln>
                          <a:noFill/>
                        </a:ln>
                        <a:solidFill>
                          <a:schemeClr val="tx1"/>
                        </a:solidFill>
                        <a:effectLst/>
                        <a:latin typeface="Times New Roman" pitchFamily="18"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a:ln>
                            <a:noFill/>
                          </a:ln>
                          <a:effectLst/>
                        </a:rPr>
                        <a:t>1</a:t>
                      </a:r>
                      <a:endParaRPr kumimoji="0" lang="en-US" sz="1800" b="0" i="0" u="none" strike="noStrike" cap="none" normalizeH="0" baseline="0">
                        <a:ln>
                          <a:noFill/>
                        </a:ln>
                        <a:solidFill>
                          <a:schemeClr val="tx1"/>
                        </a:solidFill>
                        <a:effectLst/>
                        <a:latin typeface="Times New Roman" pitchFamily="18"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a:ln>
                            <a:noFill/>
                          </a:ln>
                          <a:effectLst/>
                        </a:rPr>
                        <a:t>9</a:t>
                      </a:r>
                      <a:endParaRPr kumimoji="0" lang="en-US" sz="1800" b="0" i="0" u="none" strike="noStrike" cap="none" normalizeH="0" baseline="0">
                        <a:ln>
                          <a:noFill/>
                        </a:ln>
                        <a:solidFill>
                          <a:schemeClr val="tx1"/>
                        </a:solidFill>
                        <a:effectLst/>
                        <a:latin typeface="Times New Roman" pitchFamily="18"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dirty="0">
                          <a:ln>
                            <a:noFill/>
                          </a:ln>
                          <a:effectLst/>
                        </a:rPr>
                        <a:t>Second</a:t>
                      </a:r>
                      <a:endParaRPr kumimoji="0" lang="en-US" sz="1800" b="0" i="0" u="none" strike="noStrike" cap="none" normalizeH="0" baseline="0" dirty="0">
                        <a:ln>
                          <a:noFill/>
                        </a:ln>
                        <a:solidFill>
                          <a:schemeClr val="tx1"/>
                        </a:solidFill>
                        <a:effectLst/>
                        <a:latin typeface="Times New Roman" pitchFamily="18" charset="0"/>
                      </a:endParaRPr>
                    </a:p>
                  </a:txBody>
                  <a:tcPr horzOverflow="overflow"/>
                </a:tc>
                <a:extLst>
                  <a:ext uri="{0D108BD9-81ED-4DB2-BD59-A6C34878D82A}">
                    <a16:rowId xmlns:a16="http://schemas.microsoft.com/office/drawing/2014/main" val="10002"/>
                  </a:ext>
                </a:extLst>
              </a:tr>
              <a:tr h="2940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a:ln>
                            <a:noFill/>
                          </a:ln>
                          <a:effectLst/>
                        </a:rPr>
                        <a:t>P3</a:t>
                      </a:r>
                      <a:endParaRPr kumimoji="0" lang="en-US" sz="1800" b="0" i="0" u="none" strike="noStrike" cap="none" normalizeH="0" baseline="0">
                        <a:ln>
                          <a:noFill/>
                        </a:ln>
                        <a:solidFill>
                          <a:schemeClr val="tx1"/>
                        </a:solidFill>
                        <a:effectLst/>
                        <a:latin typeface="Times New Roman" pitchFamily="18"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dirty="0">
                          <a:ln>
                            <a:noFill/>
                          </a:ln>
                          <a:effectLst/>
                        </a:rPr>
                        <a:t>9</a:t>
                      </a:r>
                      <a:endParaRPr kumimoji="0" lang="en-US" sz="1800" b="0" i="0" u="none" strike="noStrike" cap="none" normalizeH="0" baseline="0" dirty="0">
                        <a:ln>
                          <a:noFill/>
                        </a:ln>
                        <a:solidFill>
                          <a:schemeClr val="tx1"/>
                        </a:solidFill>
                        <a:effectLst/>
                        <a:latin typeface="Times New Roman" pitchFamily="18"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dirty="0">
                          <a:ln>
                            <a:noFill/>
                          </a:ln>
                          <a:effectLst/>
                        </a:rPr>
                        <a:t>12</a:t>
                      </a:r>
                      <a:endParaRPr kumimoji="0" lang="en-US" sz="1800" b="0" i="0" u="none" strike="noStrike" cap="none" normalizeH="0" baseline="0" dirty="0">
                        <a:ln>
                          <a:noFill/>
                        </a:ln>
                        <a:solidFill>
                          <a:schemeClr val="tx1"/>
                        </a:solidFill>
                        <a:effectLst/>
                        <a:latin typeface="Times New Roman" pitchFamily="18"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u="none" strike="noStrike" cap="none" normalizeH="0" baseline="0" dirty="0">
                          <a:ln>
                            <a:noFill/>
                          </a:ln>
                          <a:effectLst/>
                        </a:rPr>
                        <a:t>Third</a:t>
                      </a:r>
                      <a:endParaRPr kumimoji="0" lang="en-US" sz="1800" b="0" i="0" u="none" strike="noStrike" cap="none" normalizeH="0" baseline="0" dirty="0">
                        <a:ln>
                          <a:noFill/>
                        </a:ln>
                        <a:solidFill>
                          <a:schemeClr val="tx1"/>
                        </a:solidFill>
                        <a:effectLst/>
                        <a:latin typeface="Times New Roman" pitchFamily="18" charset="0"/>
                      </a:endParaRPr>
                    </a:p>
                  </a:txBody>
                  <a:tcPr horzOverflow="overflow"/>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66351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p:txBody>
          <a:bodyPr>
            <a:normAutofit/>
          </a:bodyPr>
          <a:lstStyle/>
          <a:p>
            <a:r>
              <a:rPr lang="en-US" sz="3400" dirty="0"/>
              <a:t>System Performance During Transient Overload</a:t>
            </a:r>
          </a:p>
        </p:txBody>
      </p:sp>
      <p:sp>
        <p:nvSpPr>
          <p:cNvPr id="4" name="Rectangle 3"/>
          <p:cNvSpPr>
            <a:spLocks noGrp="1" noChangeArrowheads="1"/>
          </p:cNvSpPr>
          <p:nvPr>
            <p:ph idx="1"/>
          </p:nvPr>
        </p:nvSpPr>
        <p:spPr/>
        <p:txBody>
          <a:bodyPr/>
          <a:lstStyle/>
          <a:p>
            <a:endParaRPr lang="en-US" dirty="0"/>
          </a:p>
          <a:p>
            <a:r>
              <a:rPr lang="en-US" dirty="0"/>
              <a:t>RM, DM – Each Thread has fixed priority. </a:t>
            </a:r>
            <a:r>
              <a:rPr lang="en-US" i="1" dirty="0">
                <a:solidFill>
                  <a:schemeClr val="accent1"/>
                </a:solidFill>
              </a:rPr>
              <a:t>So?</a:t>
            </a:r>
            <a:r>
              <a:rPr lang="en-US" i="1" dirty="0">
                <a:solidFill>
                  <a:schemeClr val="accent1"/>
                </a:solidFill>
                <a:hlinkClick r:id="rId3"/>
              </a:rPr>
              <a:t> </a:t>
            </a:r>
            <a:endParaRPr lang="en-US" dirty="0"/>
          </a:p>
          <a:p>
            <a:pPr lvl="1"/>
            <a:r>
              <a:rPr lang="en-US" dirty="0"/>
              <a:t>This priority determines that Threads will be scheduled consistently</a:t>
            </a:r>
          </a:p>
          <a:p>
            <a:pPr lvl="2"/>
            <a:r>
              <a:rPr lang="en-US" dirty="0"/>
              <a:t>Thread A will always preempt Thread B if needed</a:t>
            </a:r>
          </a:p>
          <a:p>
            <a:pPr lvl="2"/>
            <a:r>
              <a:rPr lang="en-US" dirty="0"/>
              <a:t>Thread B will be forced to miss its deadline to help Thread A meet its deadline</a:t>
            </a:r>
          </a:p>
          <a:p>
            <a:endParaRPr lang="en-US" dirty="0"/>
          </a:p>
          <a:p>
            <a:r>
              <a:rPr lang="en-US" dirty="0"/>
              <a:t>EDF – Each Thread has varying priority. </a:t>
            </a:r>
            <a:r>
              <a:rPr lang="en-US" i="1" dirty="0">
                <a:solidFill>
                  <a:schemeClr val="accent1"/>
                </a:solidFill>
              </a:rPr>
              <a:t>So?</a:t>
            </a:r>
          </a:p>
          <a:p>
            <a:pPr lvl="1"/>
            <a:r>
              <a:rPr lang="en-US" dirty="0"/>
              <a:t>This priority depends upon when the Thread’s deadline is, and hence when the Thread becomes ready to run (</a:t>
            </a:r>
            <a:r>
              <a:rPr lang="en-US" i="1" dirty="0"/>
              <a:t>release time</a:t>
            </a:r>
            <a:r>
              <a:rPr lang="en-US" dirty="0"/>
              <a:t>)</a:t>
            </a:r>
          </a:p>
          <a:p>
            <a:pPr lvl="2"/>
            <a:r>
              <a:rPr lang="en-US" dirty="0"/>
              <a:t>Thread B may have higher priority than A depending on release times</a:t>
            </a:r>
          </a:p>
          <a:p>
            <a:pPr lvl="2"/>
            <a:r>
              <a:rPr lang="en-US" dirty="0"/>
              <a:t>To determine whether Thread A or B will miss its deadline we need to know their release times</a:t>
            </a:r>
          </a:p>
          <a:p>
            <a:pPr lvl="2"/>
            <a:r>
              <a:rPr lang="en-GB" dirty="0"/>
              <a:t>Can theoretically harness up to 100% of the CPU performance</a:t>
            </a:r>
            <a:endParaRPr lang="en-US" dirty="0"/>
          </a:p>
        </p:txBody>
      </p:sp>
    </p:spTree>
    <p:extLst>
      <p:ext uri="{BB962C8B-B14F-4D97-AF65-F5344CB8AC3E}">
        <p14:creationId xmlns:p14="http://schemas.microsoft.com/office/powerpoint/2010/main" val="4244560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Our Assumptions</a:t>
            </a:r>
            <a:endParaRPr lang="en-US" dirty="0"/>
          </a:p>
        </p:txBody>
      </p:sp>
      <p:sp>
        <p:nvSpPr>
          <p:cNvPr id="4" name="Rectangle 3"/>
          <p:cNvSpPr>
            <a:spLocks noGrp="1" noChangeArrowheads="1"/>
          </p:cNvSpPr>
          <p:nvPr>
            <p:ph idx="1"/>
          </p:nvPr>
        </p:nvSpPr>
        <p:spPr>
          <a:xfrm>
            <a:off x="476374" y="1026762"/>
            <a:ext cx="11162515" cy="4855293"/>
          </a:xfrm>
        </p:spPr>
        <p:txBody>
          <a:bodyPr/>
          <a:lstStyle/>
          <a:p>
            <a:pPr>
              <a:spcBef>
                <a:spcPts val="400"/>
              </a:spcBef>
            </a:pPr>
            <a:endParaRPr lang="en-US" dirty="0"/>
          </a:p>
          <a:p>
            <a:pPr>
              <a:spcBef>
                <a:spcPts val="400"/>
              </a:spcBef>
            </a:pPr>
            <a:r>
              <a:rPr lang="en-US" dirty="0"/>
              <a:t>Threads are periodic with period </a:t>
            </a:r>
            <a:r>
              <a:rPr lang="en-US" i="1" dirty="0">
                <a:latin typeface="Symbol" pitchFamily="18" charset="2"/>
              </a:rPr>
              <a:t>T</a:t>
            </a:r>
            <a:r>
              <a:rPr lang="en-US" i="1" baseline="-25000" dirty="0"/>
              <a:t>i</a:t>
            </a:r>
          </a:p>
          <a:p>
            <a:pPr lvl="1">
              <a:spcBef>
                <a:spcPts val="400"/>
              </a:spcBef>
            </a:pPr>
            <a:r>
              <a:rPr lang="en-US" dirty="0"/>
              <a:t>Extension 1: Support aperiodic Threads by setting </a:t>
            </a:r>
            <a:r>
              <a:rPr lang="en-US" i="1" dirty="0">
                <a:latin typeface="Symbol" pitchFamily="18" charset="2"/>
              </a:rPr>
              <a:t>T</a:t>
            </a:r>
            <a:r>
              <a:rPr lang="en-US" i="1" baseline="-25000" dirty="0"/>
              <a:t>i</a:t>
            </a:r>
            <a:r>
              <a:rPr lang="en-US" dirty="0"/>
              <a:t>  = </a:t>
            </a:r>
            <a:r>
              <a:rPr lang="en-US" i="1" dirty="0"/>
              <a:t>min(</a:t>
            </a:r>
            <a:r>
              <a:rPr lang="en-US" i="1" dirty="0" err="1">
                <a:latin typeface="Symbol" pitchFamily="18" charset="2"/>
              </a:rPr>
              <a:t>T</a:t>
            </a:r>
            <a:r>
              <a:rPr lang="en-US" i="1" baseline="-25000" dirty="0" err="1"/>
              <a:t>Interarrival</a:t>
            </a:r>
            <a:r>
              <a:rPr lang="en-US" i="1" baseline="-25000" dirty="0"/>
              <a:t> i</a:t>
            </a:r>
            <a:r>
              <a:rPr lang="en-US" i="1" dirty="0"/>
              <a:t>)</a:t>
            </a:r>
          </a:p>
          <a:p>
            <a:pPr>
              <a:spcBef>
                <a:spcPts val="400"/>
              </a:spcBef>
            </a:pPr>
            <a:r>
              <a:rPr lang="en-US" dirty="0"/>
              <a:t>Single CPU</a:t>
            </a:r>
          </a:p>
          <a:p>
            <a:pPr lvl="1">
              <a:spcBef>
                <a:spcPts val="400"/>
              </a:spcBef>
            </a:pPr>
            <a:r>
              <a:rPr lang="en-US" dirty="0"/>
              <a:t>OK for some systems, but not all</a:t>
            </a:r>
          </a:p>
          <a:p>
            <a:pPr>
              <a:spcBef>
                <a:spcPts val="400"/>
              </a:spcBef>
            </a:pPr>
            <a:r>
              <a:rPr lang="en-US" i="1" dirty="0" err="1"/>
              <a:t>C</a:t>
            </a:r>
            <a:r>
              <a:rPr lang="en-US" i="1" baseline="-25000" dirty="0" err="1"/>
              <a:t>ContextSwitch</a:t>
            </a:r>
            <a:r>
              <a:rPr lang="en-US" dirty="0"/>
              <a:t> = 0</a:t>
            </a:r>
          </a:p>
          <a:p>
            <a:pPr lvl="1">
              <a:spcBef>
                <a:spcPts val="400"/>
              </a:spcBef>
            </a:pPr>
            <a:r>
              <a:rPr lang="en-US" dirty="0"/>
              <a:t>Scheduler speed. EDF requires ordered list of ready Threads.</a:t>
            </a:r>
          </a:p>
          <a:p>
            <a:pPr lvl="1">
              <a:spcBef>
                <a:spcPts val="400"/>
              </a:spcBef>
            </a:pPr>
            <a:r>
              <a:rPr lang="en-US" dirty="0"/>
              <a:t>Thread state information needs to be swapped</a:t>
            </a:r>
          </a:p>
          <a:p>
            <a:pPr>
              <a:spcBef>
                <a:spcPts val="400"/>
              </a:spcBef>
            </a:pPr>
            <a:r>
              <a:rPr lang="en-US" dirty="0"/>
              <a:t>Constant process execution time </a:t>
            </a:r>
            <a:r>
              <a:rPr lang="en-US" i="1" dirty="0" err="1"/>
              <a:t>C</a:t>
            </a:r>
            <a:r>
              <a:rPr lang="en-US" i="1" baseline="-25000" dirty="0" err="1"/>
              <a:t>i</a:t>
            </a:r>
            <a:endParaRPr lang="en-US" i="1" baseline="-25000" dirty="0"/>
          </a:p>
          <a:p>
            <a:pPr lvl="1">
              <a:spcBef>
                <a:spcPts val="400"/>
              </a:spcBef>
            </a:pPr>
            <a:r>
              <a:rPr lang="en-US" dirty="0"/>
              <a:t>What if the worst-case time is much slower than average?</a:t>
            </a:r>
          </a:p>
          <a:p>
            <a:pPr lvl="2">
              <a:spcBef>
                <a:spcPts val="400"/>
              </a:spcBef>
            </a:pPr>
            <a:r>
              <a:rPr lang="en-US" dirty="0"/>
              <a:t>Then need a processor fast enough to handle the worst case</a:t>
            </a:r>
          </a:p>
          <a:p>
            <a:pPr lvl="2">
              <a:spcBef>
                <a:spcPts val="400"/>
              </a:spcBef>
            </a:pPr>
            <a:r>
              <a:rPr lang="en-US" dirty="0"/>
              <a:t>Most of the time the processor will be wasting resources</a:t>
            </a:r>
          </a:p>
          <a:p>
            <a:pPr>
              <a:spcBef>
                <a:spcPts val="400"/>
              </a:spcBef>
            </a:pPr>
            <a:r>
              <a:rPr lang="en-US" dirty="0"/>
              <a:t>No data dependencies between Threads</a:t>
            </a:r>
          </a:p>
          <a:p>
            <a:pPr lvl="1">
              <a:spcBef>
                <a:spcPts val="400"/>
              </a:spcBef>
            </a:pPr>
            <a:r>
              <a:rPr lang="en-US" dirty="0"/>
              <a:t>Not all Threads are ready to run simultaneously</a:t>
            </a:r>
          </a:p>
          <a:p>
            <a:pPr lvl="1">
              <a:spcBef>
                <a:spcPts val="400"/>
              </a:spcBef>
            </a:pPr>
            <a:r>
              <a:rPr lang="en-US" dirty="0"/>
              <a:t>Some Threads block on other Threads</a:t>
            </a:r>
          </a:p>
        </p:txBody>
      </p:sp>
    </p:spTree>
    <p:extLst>
      <p:ext uri="{BB962C8B-B14F-4D97-AF65-F5344CB8AC3E}">
        <p14:creationId xmlns:p14="http://schemas.microsoft.com/office/powerpoint/2010/main" val="148494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Prioritized Scheduling</a:t>
            </a:r>
            <a:endParaRPr lang="en-US" dirty="0"/>
          </a:p>
        </p:txBody>
      </p:sp>
      <p:sp>
        <p:nvSpPr>
          <p:cNvPr id="2" name="Content Placeholder 1"/>
          <p:cNvSpPr>
            <a:spLocks noGrp="1"/>
          </p:cNvSpPr>
          <p:nvPr>
            <p:ph idx="1"/>
          </p:nvPr>
        </p:nvSpPr>
        <p:spPr/>
        <p:txBody>
          <a:bodyPr/>
          <a:lstStyle/>
          <a:p>
            <a:endParaRPr lang="en-US" i="1" dirty="0"/>
          </a:p>
          <a:p>
            <a:r>
              <a:rPr lang="en-US" i="1" dirty="0" err="1"/>
              <a:t>osThreadAttr_t</a:t>
            </a:r>
            <a:r>
              <a:rPr lang="en-US" i="1" dirty="0"/>
              <a:t> </a:t>
            </a:r>
            <a:r>
              <a:rPr lang="en-US" i="1" dirty="0" err="1"/>
              <a:t>attr</a:t>
            </a:r>
            <a:r>
              <a:rPr lang="en-US" i="1" dirty="0"/>
              <a:t> = {</a:t>
            </a:r>
          </a:p>
          <a:p>
            <a:r>
              <a:rPr lang="en-US" i="1" dirty="0"/>
              <a:t>  .priority = </a:t>
            </a:r>
            <a:r>
              <a:rPr lang="en-US" i="1" dirty="0" err="1"/>
              <a:t>osPriorityAboveNormal</a:t>
            </a:r>
            <a:endParaRPr lang="en-US" i="1" dirty="0"/>
          </a:p>
          <a:p>
            <a:r>
              <a:rPr lang="en-US" i="1" dirty="0"/>
              <a:t>};</a:t>
            </a:r>
          </a:p>
          <a:p>
            <a:r>
              <a:rPr lang="en-US" i="1" dirty="0" err="1"/>
              <a:t>osThreadId_t</a:t>
            </a:r>
            <a:r>
              <a:rPr lang="en-US" i="1" dirty="0"/>
              <a:t> id = </a:t>
            </a:r>
            <a:r>
              <a:rPr lang="en-US" i="1" dirty="0" err="1"/>
              <a:t>osThreadNew</a:t>
            </a:r>
            <a:r>
              <a:rPr lang="en-US" i="1" dirty="0"/>
              <a:t>(</a:t>
            </a:r>
            <a:r>
              <a:rPr lang="en-US" i="1" dirty="0" err="1"/>
              <a:t>MyThread</a:t>
            </a:r>
            <a:r>
              <a:rPr lang="en-US" i="1" dirty="0"/>
              <a:t>, NULL, &amp;</a:t>
            </a:r>
            <a:r>
              <a:rPr lang="en-US" i="1" dirty="0" err="1"/>
              <a:t>attr</a:t>
            </a:r>
            <a:r>
              <a:rPr lang="en-US" i="1" dirty="0"/>
              <a:t>);</a:t>
            </a:r>
          </a:p>
          <a:p>
            <a:r>
              <a:rPr lang="en-GB" dirty="0"/>
              <a:t>Prioritized Scheduling means that thread with higher priority should be dispatched and can preempt lower priority threads</a:t>
            </a:r>
          </a:p>
          <a:p>
            <a:r>
              <a:rPr lang="en-GB" dirty="0"/>
              <a:t>The problem is dependency. For instance, can a thread in its critical section be preempted?</a:t>
            </a:r>
          </a:p>
          <a:p>
            <a:pPr lvl="1"/>
            <a:r>
              <a:rPr lang="en-GB" dirty="0"/>
              <a:t>If no, any problem?</a:t>
            </a:r>
          </a:p>
          <a:p>
            <a:pPr lvl="1"/>
            <a:r>
              <a:rPr lang="en-GB" dirty="0"/>
              <a:t>If yes, any problem?</a:t>
            </a:r>
          </a:p>
          <a:p>
            <a:pPr lvl="1"/>
            <a:r>
              <a:rPr lang="en-GB" dirty="0"/>
              <a:t>The point of prioritized scheduling is based on the emergency level of the thread, instead of whether it’s in a critical section. But you have to pay extra attention to critical sections as otherwise they may cause conflict between Threads.</a:t>
            </a:r>
          </a:p>
          <a:p>
            <a:r>
              <a:rPr lang="en-GB" b="1" dirty="0"/>
              <a:t>Priority inversion</a:t>
            </a:r>
            <a:endParaRPr lang="en-GB" dirty="0"/>
          </a:p>
        </p:txBody>
      </p:sp>
    </p:spTree>
    <p:extLst>
      <p:ext uri="{BB962C8B-B14F-4D97-AF65-F5344CB8AC3E}">
        <p14:creationId xmlns:p14="http://schemas.microsoft.com/office/powerpoint/2010/main" val="2151469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Preemptive Critical Section</a:t>
            </a:r>
            <a:endParaRPr lang="en-US" dirty="0"/>
          </a:p>
        </p:txBody>
      </p:sp>
      <p:sp>
        <p:nvSpPr>
          <p:cNvPr id="2" name="Content Placeholder 1"/>
          <p:cNvSpPr>
            <a:spLocks noGrp="1"/>
          </p:cNvSpPr>
          <p:nvPr>
            <p:ph idx="1"/>
          </p:nvPr>
        </p:nvSpPr>
        <p:spPr>
          <a:xfrm>
            <a:off x="483135" y="1162909"/>
            <a:ext cx="6187108" cy="5114962"/>
          </a:xfrm>
        </p:spPr>
        <p:txBody>
          <a:bodyPr/>
          <a:lstStyle/>
          <a:p>
            <a:r>
              <a:rPr lang="en-GB" dirty="0"/>
              <a:t>Priority(T</a:t>
            </a:r>
            <a:r>
              <a:rPr lang="en-GB" baseline="-25000" dirty="0"/>
              <a:t>N</a:t>
            </a:r>
            <a:r>
              <a:rPr lang="en-GB" dirty="0"/>
              <a:t>)&gt;Priority(T</a:t>
            </a:r>
            <a:r>
              <a:rPr lang="en-GB" baseline="-25000" dirty="0"/>
              <a:t>M</a:t>
            </a:r>
            <a:r>
              <a:rPr lang="en-GB" dirty="0"/>
              <a:t>),if N&gt;M</a:t>
            </a:r>
          </a:p>
          <a:p>
            <a:r>
              <a:rPr lang="en-GB" dirty="0"/>
              <a:t>Seems okay?</a:t>
            </a:r>
          </a:p>
          <a:p>
            <a:r>
              <a:rPr lang="en-GB" dirty="0"/>
              <a:t>But what if a higher priority Thread would like to enter the same critical section? P(R) blocks thread 2 if thread 1 has the mutex (recall the requirements for mutex). Still acceptable as contaminating CS may cause even worse disaster, better avoid that and let Thread 1 finish first.</a:t>
            </a:r>
          </a:p>
          <a:p>
            <a:r>
              <a:rPr lang="en-GB" dirty="0"/>
              <a:t>Blocking time seems to be bounded by the maximum length of critical section of lower priority threads. But no. </a:t>
            </a:r>
            <a:r>
              <a:rPr lang="en-US" dirty="0"/>
              <a:t>See the second example.</a:t>
            </a:r>
          </a:p>
          <a:p>
            <a:r>
              <a:rPr lang="en-GB" dirty="0"/>
              <a:t>Priority inversion: even though thread 2 is not requesting R, it blocks thread 3!</a:t>
            </a:r>
          </a:p>
        </p:txBody>
      </p:sp>
      <p:sp>
        <p:nvSpPr>
          <p:cNvPr id="8" name="Rectangle 7"/>
          <p:cNvSpPr/>
          <p:nvPr/>
        </p:nvSpPr>
        <p:spPr>
          <a:xfrm>
            <a:off x="9559855" y="2955636"/>
            <a:ext cx="1177011" cy="1288473"/>
          </a:xfrm>
          <a:prstGeom prst="rect">
            <a:avLst/>
          </a:prstGeom>
          <a:noFill/>
          <a:ln w="571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Рисунок 9">
            <a:extLst>
              <a:ext uri="{FF2B5EF4-FFF2-40B4-BE49-F238E27FC236}">
                <a16:creationId xmlns:a16="http://schemas.microsoft.com/office/drawing/2014/main" id="{DC961744-700B-1FE5-7AF2-9E7E1381218B}"/>
              </a:ext>
            </a:extLst>
          </p:cNvPr>
          <p:cNvPicPr>
            <a:picLocks noChangeAspect="1"/>
          </p:cNvPicPr>
          <p:nvPr/>
        </p:nvPicPr>
        <p:blipFill>
          <a:blip r:embed="rId3"/>
          <a:stretch>
            <a:fillRect/>
          </a:stretch>
        </p:blipFill>
        <p:spPr>
          <a:xfrm>
            <a:off x="7059346" y="2908593"/>
            <a:ext cx="4797689" cy="3441431"/>
          </a:xfrm>
          <a:prstGeom prst="rect">
            <a:avLst/>
          </a:prstGeom>
        </p:spPr>
      </p:pic>
      <p:pic>
        <p:nvPicPr>
          <p:cNvPr id="14" name="Рисунок 13">
            <a:extLst>
              <a:ext uri="{FF2B5EF4-FFF2-40B4-BE49-F238E27FC236}">
                <a16:creationId xmlns:a16="http://schemas.microsoft.com/office/drawing/2014/main" id="{27428B7D-2A97-C2FF-7521-33BDE7773BE6}"/>
              </a:ext>
            </a:extLst>
          </p:cNvPr>
          <p:cNvPicPr>
            <a:picLocks noChangeAspect="1"/>
          </p:cNvPicPr>
          <p:nvPr/>
        </p:nvPicPr>
        <p:blipFill>
          <a:blip r:embed="rId4"/>
          <a:stretch>
            <a:fillRect/>
          </a:stretch>
        </p:blipFill>
        <p:spPr>
          <a:xfrm>
            <a:off x="6670243" y="336845"/>
            <a:ext cx="5287438" cy="2019069"/>
          </a:xfrm>
          <a:prstGeom prst="rect">
            <a:avLst/>
          </a:prstGeom>
        </p:spPr>
      </p:pic>
    </p:spTree>
    <p:extLst>
      <p:ext uri="{BB962C8B-B14F-4D97-AF65-F5344CB8AC3E}">
        <p14:creationId xmlns:p14="http://schemas.microsoft.com/office/powerpoint/2010/main" val="1945388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48009BFE-104D-55CA-80E2-728E95B62FF9}"/>
              </a:ext>
            </a:extLst>
          </p:cNvPr>
          <p:cNvPicPr>
            <a:picLocks noChangeAspect="1"/>
          </p:cNvPicPr>
          <p:nvPr/>
        </p:nvPicPr>
        <p:blipFill>
          <a:blip r:embed="rId3"/>
          <a:stretch>
            <a:fillRect/>
          </a:stretch>
        </p:blipFill>
        <p:spPr>
          <a:xfrm>
            <a:off x="6095998" y="1533484"/>
            <a:ext cx="5836686" cy="3791031"/>
          </a:xfrm>
          <a:prstGeom prst="rect">
            <a:avLst/>
          </a:prstGeom>
        </p:spPr>
      </p:pic>
      <p:sp>
        <p:nvSpPr>
          <p:cNvPr id="3" name="Title 2"/>
          <p:cNvSpPr>
            <a:spLocks noGrp="1"/>
          </p:cNvSpPr>
          <p:nvPr>
            <p:ph type="title"/>
          </p:nvPr>
        </p:nvSpPr>
        <p:spPr/>
        <p:txBody>
          <a:bodyPr>
            <a:normAutofit/>
          </a:bodyPr>
          <a:lstStyle/>
          <a:p>
            <a:r>
              <a:rPr lang="en-GB" dirty="0"/>
              <a:t>Non-</a:t>
            </a:r>
            <a:r>
              <a:rPr lang="en-GB" dirty="0" err="1"/>
              <a:t>Preemptive</a:t>
            </a:r>
            <a:r>
              <a:rPr lang="en-GB" dirty="0"/>
              <a:t> Critical Section</a:t>
            </a:r>
            <a:endParaRPr lang="en-US" dirty="0"/>
          </a:p>
        </p:txBody>
      </p:sp>
      <p:sp>
        <p:nvSpPr>
          <p:cNvPr id="2" name="Content Placeholder 1"/>
          <p:cNvSpPr>
            <a:spLocks noGrp="1"/>
          </p:cNvSpPr>
          <p:nvPr>
            <p:ph idx="1"/>
          </p:nvPr>
        </p:nvSpPr>
        <p:spPr>
          <a:xfrm>
            <a:off x="483135" y="1440001"/>
            <a:ext cx="4302890" cy="4674473"/>
          </a:xfrm>
        </p:spPr>
        <p:txBody>
          <a:bodyPr/>
          <a:lstStyle/>
          <a:p>
            <a:r>
              <a:rPr lang="en-GB" dirty="0"/>
              <a:t>Plausible? Can solve previous problem. But…</a:t>
            </a:r>
          </a:p>
          <a:p>
            <a:r>
              <a:rPr lang="en-GB" dirty="0"/>
              <a:t>Thread 3 and 2 are on fire!</a:t>
            </a:r>
          </a:p>
          <a:p>
            <a:endParaRPr lang="en-US" dirty="0"/>
          </a:p>
        </p:txBody>
      </p:sp>
      <p:sp>
        <p:nvSpPr>
          <p:cNvPr id="4" name="Rectangle 3"/>
          <p:cNvSpPr/>
          <p:nvPr/>
        </p:nvSpPr>
        <p:spPr>
          <a:xfrm>
            <a:off x="8021370" y="1440001"/>
            <a:ext cx="3001029" cy="163817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4711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DBA18824-4DD3-77DD-85F5-5C698EF920A3}"/>
              </a:ext>
            </a:extLst>
          </p:cNvPr>
          <p:cNvPicPr>
            <a:picLocks noChangeAspect="1"/>
          </p:cNvPicPr>
          <p:nvPr/>
        </p:nvPicPr>
        <p:blipFill>
          <a:blip r:embed="rId3"/>
          <a:stretch>
            <a:fillRect/>
          </a:stretch>
        </p:blipFill>
        <p:spPr>
          <a:xfrm>
            <a:off x="3098077" y="3643666"/>
            <a:ext cx="6135253" cy="3191347"/>
          </a:xfrm>
          <a:prstGeom prst="rect">
            <a:avLst/>
          </a:prstGeom>
        </p:spPr>
      </p:pic>
      <p:sp>
        <p:nvSpPr>
          <p:cNvPr id="3" name="Title 2"/>
          <p:cNvSpPr>
            <a:spLocks noGrp="1"/>
          </p:cNvSpPr>
          <p:nvPr>
            <p:ph type="title"/>
          </p:nvPr>
        </p:nvSpPr>
        <p:spPr/>
        <p:txBody>
          <a:bodyPr>
            <a:normAutofit/>
          </a:bodyPr>
          <a:lstStyle/>
          <a:p>
            <a:r>
              <a:rPr lang="en-GB" dirty="0"/>
              <a:t>Priority Inheritance</a:t>
            </a:r>
            <a:endParaRPr lang="en-US" dirty="0"/>
          </a:p>
        </p:txBody>
      </p:sp>
      <p:sp>
        <p:nvSpPr>
          <p:cNvPr id="2" name="Content Placeholder 1"/>
          <p:cNvSpPr>
            <a:spLocks noGrp="1"/>
          </p:cNvSpPr>
          <p:nvPr>
            <p:ph idx="1"/>
          </p:nvPr>
        </p:nvSpPr>
        <p:spPr>
          <a:xfrm>
            <a:off x="483135" y="1440000"/>
            <a:ext cx="11239399" cy="2513164"/>
          </a:xfrm>
        </p:spPr>
        <p:txBody>
          <a:bodyPr/>
          <a:lstStyle/>
          <a:p>
            <a:r>
              <a:rPr lang="en-GB" dirty="0"/>
              <a:t>Applied in many RTOS.</a:t>
            </a:r>
          </a:p>
          <a:p>
            <a:r>
              <a:rPr lang="en-GB" dirty="0"/>
              <a:t>Blocking time is now bounded by the maximum (sum) length of critical section of lower priority threads.</a:t>
            </a:r>
          </a:p>
          <a:p>
            <a:r>
              <a:rPr lang="en-GB" dirty="0"/>
              <a:t>The idea is to elevate the priority of low priority thread (if it blocks high priority thread) to the highest priority of threads blocked by it.</a:t>
            </a:r>
          </a:p>
          <a:p>
            <a:r>
              <a:rPr lang="en-GB" dirty="0"/>
              <a:t>And resume its original priority when it exits the critical section.</a:t>
            </a:r>
            <a:endParaRPr lang="en-US" dirty="0"/>
          </a:p>
        </p:txBody>
      </p:sp>
      <p:sp>
        <p:nvSpPr>
          <p:cNvPr id="5" name="Rectangle 4"/>
          <p:cNvSpPr/>
          <p:nvPr/>
        </p:nvSpPr>
        <p:spPr>
          <a:xfrm>
            <a:off x="6315055" y="3863223"/>
            <a:ext cx="239654" cy="2937157"/>
          </a:xfrm>
          <a:prstGeom prst="rect">
            <a:avLst/>
          </a:prstGeom>
          <a:noFill/>
          <a:ln w="571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3636434" y="4701309"/>
            <a:ext cx="2669310" cy="1570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82606" y="4417402"/>
            <a:ext cx="914400" cy="914400"/>
          </a:xfrm>
          <a:prstGeom prst="rect">
            <a:avLst/>
          </a:prstGeom>
        </p:spPr>
        <p:txBody>
          <a:bodyPr vert="horz" wrap="none" lIns="0" tIns="0" rIns="0" bIns="0" rtlCol="0" anchor="t">
            <a:normAutofit/>
          </a:bodyPr>
          <a:lstStyle/>
          <a:p>
            <a:endParaRPr lang="en-US" dirty="0"/>
          </a:p>
        </p:txBody>
      </p:sp>
      <p:sp>
        <p:nvSpPr>
          <p:cNvPr id="9" name="TextBox 8"/>
          <p:cNvSpPr txBox="1"/>
          <p:nvPr/>
        </p:nvSpPr>
        <p:spPr>
          <a:xfrm>
            <a:off x="1751878" y="4509654"/>
            <a:ext cx="914400" cy="914400"/>
          </a:xfrm>
          <a:prstGeom prst="rect">
            <a:avLst/>
          </a:prstGeom>
        </p:spPr>
        <p:txBody>
          <a:bodyPr vert="horz" wrap="none" lIns="0" tIns="0" rIns="0" bIns="0" rtlCol="0" anchor="t">
            <a:normAutofit/>
          </a:bodyPr>
          <a:lstStyle/>
          <a:p>
            <a:endParaRPr lang="en-US" dirty="0"/>
          </a:p>
        </p:txBody>
      </p:sp>
      <p:sp>
        <p:nvSpPr>
          <p:cNvPr id="10" name="TextBox 9"/>
          <p:cNvSpPr txBox="1"/>
          <p:nvPr/>
        </p:nvSpPr>
        <p:spPr>
          <a:xfrm>
            <a:off x="458786" y="4518891"/>
            <a:ext cx="2978729" cy="364837"/>
          </a:xfrm>
          <a:prstGeom prst="rect">
            <a:avLst/>
          </a:prstGeom>
        </p:spPr>
        <p:txBody>
          <a:bodyPr vert="horz" wrap="none" lIns="0" tIns="0" rIns="0" bIns="0" rtlCol="0" anchor="t">
            <a:normAutofit/>
          </a:bodyPr>
          <a:lstStyle/>
          <a:p>
            <a:r>
              <a:rPr lang="en-GB" dirty="0"/>
              <a:t>Thread 1 inherits Thread 3’s priority </a:t>
            </a:r>
            <a:endParaRPr lang="en-US" dirty="0"/>
          </a:p>
        </p:txBody>
      </p:sp>
    </p:spTree>
    <p:extLst>
      <p:ext uri="{BB962C8B-B14F-4D97-AF65-F5344CB8AC3E}">
        <p14:creationId xmlns:p14="http://schemas.microsoft.com/office/powerpoint/2010/main" val="1563181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Priority Inheritance</a:t>
            </a:r>
            <a:endParaRPr lang="en-US" dirty="0"/>
          </a:p>
        </p:txBody>
      </p:sp>
      <p:sp>
        <p:nvSpPr>
          <p:cNvPr id="2" name="Content Placeholder 1"/>
          <p:cNvSpPr>
            <a:spLocks noGrp="1"/>
          </p:cNvSpPr>
          <p:nvPr>
            <p:ph idx="1"/>
          </p:nvPr>
        </p:nvSpPr>
        <p:spPr>
          <a:xfrm>
            <a:off x="278679" y="836241"/>
            <a:ext cx="11911734" cy="5712341"/>
          </a:xfrm>
        </p:spPr>
        <p:txBody>
          <a:bodyPr/>
          <a:lstStyle/>
          <a:p>
            <a:r>
              <a:rPr lang="en-GB" dirty="0"/>
              <a:t>If same priority, then FIFO</a:t>
            </a:r>
          </a:p>
          <a:p>
            <a:r>
              <a:rPr lang="en-GB" dirty="0"/>
              <a:t>Another example:</a:t>
            </a:r>
          </a:p>
          <a:p>
            <a:endParaRPr lang="en-GB" dirty="0"/>
          </a:p>
          <a:p>
            <a:endParaRPr lang="en-GB" dirty="0"/>
          </a:p>
          <a:p>
            <a:endParaRPr lang="en-GB" dirty="0"/>
          </a:p>
          <a:p>
            <a:endParaRPr lang="en-GB" dirty="0"/>
          </a:p>
          <a:p>
            <a:endParaRPr lang="en-GB" dirty="0"/>
          </a:p>
          <a:p>
            <a:pPr marL="0" indent="0">
              <a:buNone/>
            </a:pPr>
            <a:endParaRPr lang="en-GB" dirty="0"/>
          </a:p>
          <a:p>
            <a:r>
              <a:rPr lang="en-GB" dirty="0"/>
              <a:t>Thread 2 blocked by thread 1, hence Priority(T</a:t>
            </a:r>
            <a:r>
              <a:rPr lang="en-GB" baseline="-25000" dirty="0"/>
              <a:t>1</a:t>
            </a:r>
            <a:r>
              <a:rPr lang="en-GB" dirty="0"/>
              <a:t>) = Priority(T</a:t>
            </a:r>
            <a:r>
              <a:rPr lang="en-GB" baseline="-25000" dirty="0"/>
              <a:t>2</a:t>
            </a:r>
            <a:r>
              <a:rPr lang="en-GB" dirty="0"/>
              <a:t>)</a:t>
            </a:r>
          </a:p>
          <a:p>
            <a:r>
              <a:rPr lang="en-GB" dirty="0"/>
              <a:t>Then, thread 3 is blocked by thread 1, hence Priority(T1) = Priority(T</a:t>
            </a:r>
            <a:r>
              <a:rPr lang="en-GB" baseline="-25000" dirty="0"/>
              <a:t>3</a:t>
            </a:r>
            <a:r>
              <a:rPr lang="en-GB" dirty="0"/>
              <a:t>), also Priority(T</a:t>
            </a:r>
            <a:r>
              <a:rPr lang="en-GB" baseline="-25000" dirty="0"/>
              <a:t>1</a:t>
            </a:r>
            <a:r>
              <a:rPr lang="en-GB" dirty="0"/>
              <a:t>)=Priority(T</a:t>
            </a:r>
            <a:r>
              <a:rPr lang="en-GB" baseline="-25000" dirty="0"/>
              <a:t>2</a:t>
            </a:r>
            <a:r>
              <a:rPr lang="en-GB" dirty="0"/>
              <a:t>)=Priority(T</a:t>
            </a:r>
            <a:r>
              <a:rPr lang="en-GB" baseline="-25000" dirty="0"/>
              <a:t>3</a:t>
            </a:r>
            <a:r>
              <a:rPr lang="en-GB" dirty="0"/>
              <a:t>) as thread 2 is blocked by thread 1. So, Thread 1 continues(FIFO)</a:t>
            </a:r>
          </a:p>
          <a:p>
            <a:r>
              <a:rPr lang="en-GB" dirty="0"/>
              <a:t>After thread 1 releases A, its priority will be resumed. Thread 2 continues.</a:t>
            </a:r>
          </a:p>
          <a:p>
            <a:r>
              <a:rPr lang="en-GB" dirty="0"/>
              <a:t>Similarly, after thread 2 releases B, its priority will be downgraded and thread 3 continues.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pic>
        <p:nvPicPr>
          <p:cNvPr id="14" name="Рисунок 13">
            <a:extLst>
              <a:ext uri="{FF2B5EF4-FFF2-40B4-BE49-F238E27FC236}">
                <a16:creationId xmlns:a16="http://schemas.microsoft.com/office/drawing/2014/main" id="{C5B01B9C-1CF9-C4A5-752D-0DD90FA8692D}"/>
              </a:ext>
            </a:extLst>
          </p:cNvPr>
          <p:cNvPicPr>
            <a:picLocks noChangeAspect="1"/>
          </p:cNvPicPr>
          <p:nvPr/>
        </p:nvPicPr>
        <p:blipFill>
          <a:blip r:embed="rId3"/>
          <a:stretch>
            <a:fillRect/>
          </a:stretch>
        </p:blipFill>
        <p:spPr>
          <a:xfrm>
            <a:off x="5560465" y="660981"/>
            <a:ext cx="6296570" cy="3043839"/>
          </a:xfrm>
          <a:prstGeom prst="rect">
            <a:avLst/>
          </a:prstGeom>
        </p:spPr>
      </p:pic>
    </p:spTree>
    <p:extLst>
      <p:ext uri="{BB962C8B-B14F-4D97-AF65-F5344CB8AC3E}">
        <p14:creationId xmlns:p14="http://schemas.microsoft.com/office/powerpoint/2010/main" val="3171602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Deadlock Caused by Priority Inheritance</a:t>
            </a:r>
            <a:endParaRPr lang="en-US" dirty="0"/>
          </a:p>
        </p:txBody>
      </p:sp>
      <p:sp>
        <p:nvSpPr>
          <p:cNvPr id="2" name="Content Placeholder 1"/>
          <p:cNvSpPr>
            <a:spLocks noGrp="1"/>
          </p:cNvSpPr>
          <p:nvPr>
            <p:ph idx="1"/>
          </p:nvPr>
        </p:nvSpPr>
        <p:spPr>
          <a:xfrm>
            <a:off x="483135" y="1107490"/>
            <a:ext cx="11155753" cy="4680000"/>
          </a:xfrm>
        </p:spPr>
        <p:txBody>
          <a:bodyPr/>
          <a:lstStyle/>
          <a:p>
            <a:r>
              <a:rPr lang="en-GB" dirty="0"/>
              <a:t>Unfortunately, priority inheritance is not perfect. Consider the following example:</a:t>
            </a:r>
          </a:p>
          <a:p>
            <a:endParaRPr lang="en-GB" dirty="0"/>
          </a:p>
          <a:p>
            <a:endParaRPr lang="en-GB" dirty="0"/>
          </a:p>
          <a:p>
            <a:endParaRPr lang="en-GB" dirty="0"/>
          </a:p>
          <a:p>
            <a:endParaRPr lang="en-GB" dirty="0"/>
          </a:p>
          <a:p>
            <a:endParaRPr lang="en-GB" dirty="0"/>
          </a:p>
          <a:p>
            <a:endParaRPr lang="en-GB" dirty="0"/>
          </a:p>
          <a:p>
            <a:pPr marL="0" indent="0">
              <a:buNone/>
            </a:pPr>
            <a:endParaRPr lang="en-GB" dirty="0"/>
          </a:p>
          <a:p>
            <a:r>
              <a:rPr lang="en-GB" dirty="0"/>
              <a:t>Recall Coffman conditions for deadlock. Deadlock here! </a:t>
            </a:r>
            <a:endParaRPr lang="en-US" dirty="0"/>
          </a:p>
        </p:txBody>
      </p:sp>
      <p:pic>
        <p:nvPicPr>
          <p:cNvPr id="5" name="Рисунок 4">
            <a:extLst>
              <a:ext uri="{FF2B5EF4-FFF2-40B4-BE49-F238E27FC236}">
                <a16:creationId xmlns:a16="http://schemas.microsoft.com/office/drawing/2014/main" id="{B900B076-59BC-DFDF-E70D-FCB96D56F54E}"/>
              </a:ext>
            </a:extLst>
          </p:cNvPr>
          <p:cNvPicPr>
            <a:picLocks noChangeAspect="1"/>
          </p:cNvPicPr>
          <p:nvPr/>
        </p:nvPicPr>
        <p:blipFill>
          <a:blip r:embed="rId3"/>
          <a:stretch>
            <a:fillRect/>
          </a:stretch>
        </p:blipFill>
        <p:spPr>
          <a:xfrm>
            <a:off x="3313568" y="1517010"/>
            <a:ext cx="6719282" cy="2575156"/>
          </a:xfrm>
          <a:prstGeom prst="rect">
            <a:avLst/>
          </a:prstGeom>
        </p:spPr>
      </p:pic>
    </p:spTree>
    <p:extLst>
      <p:ext uri="{BB962C8B-B14F-4D97-AF65-F5344CB8AC3E}">
        <p14:creationId xmlns:p14="http://schemas.microsoft.com/office/powerpoint/2010/main" val="2105897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Priority Ceiling</a:t>
            </a:r>
            <a:endParaRPr lang="en-US" dirty="0"/>
          </a:p>
        </p:txBody>
      </p:sp>
      <p:sp>
        <p:nvSpPr>
          <p:cNvPr id="2" name="Content Placeholder 1"/>
          <p:cNvSpPr>
            <a:spLocks noGrp="1"/>
          </p:cNvSpPr>
          <p:nvPr>
            <p:ph idx="1"/>
          </p:nvPr>
        </p:nvSpPr>
        <p:spPr>
          <a:xfrm>
            <a:off x="446188" y="839635"/>
            <a:ext cx="11202454" cy="3880146"/>
          </a:xfrm>
        </p:spPr>
        <p:txBody>
          <a:bodyPr/>
          <a:lstStyle/>
          <a:p>
            <a:r>
              <a:rPr lang="en-GB" dirty="0"/>
              <a:t>Improvement on priority inheritance. But </a:t>
            </a:r>
            <a:r>
              <a:rPr lang="en-GB" b="1" dirty="0"/>
              <a:t>not implemented in the CMSIS-RTOS2</a:t>
            </a:r>
            <a:r>
              <a:rPr lang="en-GB" dirty="0"/>
              <a:t>.</a:t>
            </a:r>
          </a:p>
          <a:p>
            <a:r>
              <a:rPr lang="en-GB" dirty="0"/>
              <a:t>Define the priority ceiling for a resource: PC(R) are the highest priority processes that may request mutual exclusive access to R</a:t>
            </a:r>
          </a:p>
          <a:p>
            <a:r>
              <a:rPr lang="en-GB" dirty="0"/>
              <a:t>Priority ceiling accepts requests to enter any critical section only if Thread A’s priority is </a:t>
            </a:r>
            <a:r>
              <a:rPr lang="en-GB" b="1" dirty="0"/>
              <a:t>larger</a:t>
            </a:r>
            <a:r>
              <a:rPr lang="en-GB" dirty="0"/>
              <a:t> than PC (all resources accessed by Threads other than A).  This solves deadlocks by preventing circular wait conditions</a:t>
            </a:r>
          </a:p>
          <a:p>
            <a:r>
              <a:rPr lang="en-GB" dirty="0"/>
              <a:t>If thread A is blocked due to this, then the priority of thread B which is blocking thread A, will be elevated to A’s priority (if A is the highest) as the usual priority inheritance protocol. </a:t>
            </a:r>
          </a:p>
          <a:p>
            <a:r>
              <a:rPr lang="en-GB" dirty="0"/>
              <a:t>Another improvement is that it reduces the blocking time to at most the length of one critical section of a low priority Thread.</a:t>
            </a:r>
          </a:p>
        </p:txBody>
      </p:sp>
      <p:pic>
        <p:nvPicPr>
          <p:cNvPr id="5" name="Рисунок 4">
            <a:extLst>
              <a:ext uri="{FF2B5EF4-FFF2-40B4-BE49-F238E27FC236}">
                <a16:creationId xmlns:a16="http://schemas.microsoft.com/office/drawing/2014/main" id="{C6575449-1AB0-DA72-07E1-FF7480F2BE8F}"/>
              </a:ext>
            </a:extLst>
          </p:cNvPr>
          <p:cNvPicPr>
            <a:picLocks noChangeAspect="1"/>
          </p:cNvPicPr>
          <p:nvPr/>
        </p:nvPicPr>
        <p:blipFill>
          <a:blip r:embed="rId3"/>
          <a:stretch>
            <a:fillRect/>
          </a:stretch>
        </p:blipFill>
        <p:spPr>
          <a:xfrm>
            <a:off x="2881243" y="4299162"/>
            <a:ext cx="6090741" cy="2225463"/>
          </a:xfrm>
          <a:prstGeom prst="rect">
            <a:avLst/>
          </a:prstGeom>
        </p:spPr>
      </p:pic>
    </p:spTree>
    <p:extLst>
      <p:ext uri="{BB962C8B-B14F-4D97-AF65-F5344CB8AC3E}">
        <p14:creationId xmlns:p14="http://schemas.microsoft.com/office/powerpoint/2010/main" val="3650383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FD02E-FB1D-E4F6-7396-EE820B72712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CED1CED-B50D-021C-CAD4-AC115BB6188F}"/>
              </a:ext>
            </a:extLst>
          </p:cNvPr>
          <p:cNvSpPr>
            <a:spLocks noGrp="1"/>
          </p:cNvSpPr>
          <p:nvPr>
            <p:ph type="title"/>
          </p:nvPr>
        </p:nvSpPr>
        <p:spPr/>
        <p:txBody>
          <a:bodyPr>
            <a:normAutofit/>
          </a:bodyPr>
          <a:lstStyle/>
          <a:p>
            <a:r>
              <a:rPr lang="en-GB" dirty="0"/>
              <a:t>Thread Priority Scheme in CMSIS-RTOS2</a:t>
            </a:r>
            <a:endParaRPr lang="en-US" dirty="0"/>
          </a:p>
        </p:txBody>
      </p:sp>
      <p:sp>
        <p:nvSpPr>
          <p:cNvPr id="2" name="Content Placeholder 1">
            <a:extLst>
              <a:ext uri="{FF2B5EF4-FFF2-40B4-BE49-F238E27FC236}">
                <a16:creationId xmlns:a16="http://schemas.microsoft.com/office/drawing/2014/main" id="{1257EF56-8DDC-D21F-BDD2-DC6119F4B3FE}"/>
              </a:ext>
            </a:extLst>
          </p:cNvPr>
          <p:cNvSpPr>
            <a:spLocks noGrp="1"/>
          </p:cNvSpPr>
          <p:nvPr>
            <p:ph idx="1"/>
          </p:nvPr>
        </p:nvSpPr>
        <p:spPr>
          <a:xfrm>
            <a:off x="483135" y="1009694"/>
            <a:ext cx="7335677" cy="5292495"/>
          </a:xfrm>
        </p:spPr>
        <p:txBody>
          <a:bodyPr/>
          <a:lstStyle/>
          <a:p>
            <a:endParaRPr lang="en-GB" dirty="0"/>
          </a:p>
          <a:p>
            <a:r>
              <a:rPr lang="en-GB" dirty="0"/>
              <a:t>CMSIS-RTOS2 supports priority-based </a:t>
            </a:r>
            <a:r>
              <a:rPr lang="en-GB" dirty="0" err="1"/>
              <a:t>preemptive</a:t>
            </a:r>
            <a:r>
              <a:rPr lang="en-GB" dirty="0"/>
              <a:t> scheduling, with built-in support for priority inheritance when using mutexes.</a:t>
            </a:r>
          </a:p>
          <a:p>
            <a:r>
              <a:rPr lang="en-GB" dirty="0"/>
              <a:t>Thread priority is set using </a:t>
            </a:r>
            <a:r>
              <a:rPr lang="en-GB" dirty="0" err="1"/>
              <a:t>osThreadAttr_t</a:t>
            </a:r>
            <a:r>
              <a:rPr lang="en-GB" dirty="0"/>
              <a:t> when creating a thread:</a:t>
            </a:r>
          </a:p>
          <a:p>
            <a:pPr lvl="1"/>
            <a:r>
              <a:rPr lang="en-GB" dirty="0" err="1"/>
              <a:t>osThreadAttr_t</a:t>
            </a:r>
            <a:r>
              <a:rPr lang="en-GB" dirty="0"/>
              <a:t> </a:t>
            </a:r>
            <a:r>
              <a:rPr lang="en-GB" dirty="0" err="1"/>
              <a:t>attr</a:t>
            </a:r>
            <a:r>
              <a:rPr lang="en-GB" dirty="0"/>
              <a:t> = { .priority = </a:t>
            </a:r>
            <a:r>
              <a:rPr lang="en-GB" dirty="0" err="1"/>
              <a:t>osPriorityAboveNormal</a:t>
            </a:r>
            <a:r>
              <a:rPr lang="en-GB" dirty="0"/>
              <a:t> };</a:t>
            </a:r>
          </a:p>
          <a:p>
            <a:pPr lvl="1"/>
            <a:r>
              <a:rPr lang="en-GB" dirty="0" err="1"/>
              <a:t>osThreadNew</a:t>
            </a:r>
            <a:r>
              <a:rPr lang="en-GB" dirty="0"/>
              <a:t>(</a:t>
            </a:r>
            <a:r>
              <a:rPr lang="en-GB" dirty="0" err="1"/>
              <a:t>MyThread</a:t>
            </a:r>
            <a:r>
              <a:rPr lang="en-GB" dirty="0"/>
              <a:t>, NULL, &amp;</a:t>
            </a:r>
            <a:r>
              <a:rPr lang="en-GB" dirty="0" err="1"/>
              <a:t>attr</a:t>
            </a:r>
            <a:r>
              <a:rPr lang="en-GB" dirty="0"/>
              <a:t>);</a:t>
            </a:r>
          </a:p>
          <a:p>
            <a:r>
              <a:rPr lang="en-GB" dirty="0"/>
              <a:t>Priority can also be changed after creation using:</a:t>
            </a:r>
          </a:p>
          <a:p>
            <a:pPr lvl="1"/>
            <a:r>
              <a:rPr lang="en-GB" dirty="0" err="1"/>
              <a:t>osThreadSetPriority</a:t>
            </a:r>
            <a:r>
              <a:rPr lang="en-GB" dirty="0"/>
              <a:t>(</a:t>
            </a:r>
            <a:r>
              <a:rPr lang="en-GB" dirty="0" err="1"/>
              <a:t>thread_id</a:t>
            </a:r>
            <a:r>
              <a:rPr lang="en-GB" dirty="0"/>
              <a:t>, </a:t>
            </a:r>
            <a:r>
              <a:rPr lang="en-GB" dirty="0" err="1"/>
              <a:t>osPriorityHigh</a:t>
            </a:r>
            <a:r>
              <a:rPr lang="en-GB" dirty="0"/>
              <a:t>);</a:t>
            </a:r>
          </a:p>
          <a:p>
            <a:r>
              <a:rPr lang="en-GB" dirty="0"/>
              <a:t>Larger priority </a:t>
            </a:r>
            <a:r>
              <a:rPr lang="en-GB" dirty="0" err="1"/>
              <a:t>enum</a:t>
            </a:r>
            <a:r>
              <a:rPr lang="en-GB" dirty="0"/>
              <a:t> = higher priority</a:t>
            </a:r>
          </a:p>
          <a:p>
            <a:pPr lvl="1"/>
            <a:r>
              <a:rPr lang="en-GB" dirty="0"/>
              <a:t>Enum values like </a:t>
            </a:r>
            <a:r>
              <a:rPr lang="en-GB" dirty="0" err="1"/>
              <a:t>osPriorityLow</a:t>
            </a:r>
            <a:r>
              <a:rPr lang="en-GB" dirty="0"/>
              <a:t>, </a:t>
            </a:r>
            <a:r>
              <a:rPr lang="en-GB" dirty="0" err="1"/>
              <a:t>osPriorityNormal</a:t>
            </a:r>
            <a:r>
              <a:rPr lang="en-GB" dirty="0"/>
              <a:t>, </a:t>
            </a:r>
            <a:r>
              <a:rPr lang="en-GB" dirty="0" err="1"/>
              <a:t>osPriorityHigh</a:t>
            </a:r>
            <a:endParaRPr lang="en-GB" dirty="0"/>
          </a:p>
          <a:p>
            <a:pPr lvl="1"/>
            <a:r>
              <a:rPr lang="en-GB" dirty="0" err="1"/>
              <a:t>osPriorityISR</a:t>
            </a:r>
            <a:r>
              <a:rPr lang="en-GB" dirty="0"/>
              <a:t> is reserved for interrupts</a:t>
            </a:r>
          </a:p>
        </p:txBody>
      </p:sp>
      <p:pic>
        <p:nvPicPr>
          <p:cNvPr id="9218" name="Picture 2">
            <a:extLst>
              <a:ext uri="{FF2B5EF4-FFF2-40B4-BE49-F238E27FC236}">
                <a16:creationId xmlns:a16="http://schemas.microsoft.com/office/drawing/2014/main" id="{A5AACC0C-A92E-8BC1-33A5-E300566A14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857"/>
          <a:stretch/>
        </p:blipFill>
        <p:spPr bwMode="auto">
          <a:xfrm>
            <a:off x="7739797" y="1719456"/>
            <a:ext cx="4450617" cy="3143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9598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4EB35-2551-BDD7-8BF4-F92CED0B9E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152F8E-2041-70A5-D10C-9E3D2089DE4A}"/>
              </a:ext>
            </a:extLst>
          </p:cNvPr>
          <p:cNvSpPr>
            <a:spLocks noGrp="1"/>
          </p:cNvSpPr>
          <p:nvPr>
            <p:ph type="title"/>
          </p:nvPr>
        </p:nvSpPr>
        <p:spPr/>
        <p:txBody>
          <a:bodyPr>
            <a:normAutofit/>
          </a:bodyPr>
          <a:lstStyle/>
          <a:p>
            <a:r>
              <a:rPr lang="en-GB" dirty="0"/>
              <a:t>Scheduling Options in CMSIS-RTOS2</a:t>
            </a:r>
            <a:endParaRPr lang="en-US" dirty="0"/>
          </a:p>
        </p:txBody>
      </p:sp>
      <p:sp>
        <p:nvSpPr>
          <p:cNvPr id="2" name="Content Placeholder 1">
            <a:extLst>
              <a:ext uri="{FF2B5EF4-FFF2-40B4-BE49-F238E27FC236}">
                <a16:creationId xmlns:a16="http://schemas.microsoft.com/office/drawing/2014/main" id="{5015D3A6-94C9-7AF9-36D7-E172DA089E42}"/>
              </a:ext>
            </a:extLst>
          </p:cNvPr>
          <p:cNvSpPr>
            <a:spLocks noGrp="1"/>
          </p:cNvSpPr>
          <p:nvPr>
            <p:ph idx="1"/>
          </p:nvPr>
        </p:nvSpPr>
        <p:spPr>
          <a:xfrm>
            <a:off x="414826" y="824539"/>
            <a:ext cx="11192608" cy="5417999"/>
          </a:xfrm>
        </p:spPr>
        <p:txBody>
          <a:bodyPr/>
          <a:lstStyle/>
          <a:p>
            <a:endParaRPr lang="en-US" dirty="0"/>
          </a:p>
          <a:p>
            <a:r>
              <a:rPr lang="en-US" dirty="0"/>
              <a:t>Pre-emptive scheduling</a:t>
            </a:r>
          </a:p>
          <a:p>
            <a:pPr lvl="1"/>
            <a:r>
              <a:rPr lang="en-GB" dirty="0"/>
              <a:t>Each Thread has a </a:t>
            </a:r>
            <a:r>
              <a:rPr lang="en-GB" b="1" dirty="0"/>
              <a:t>different priority </a:t>
            </a:r>
            <a:r>
              <a:rPr lang="en-GB" dirty="0"/>
              <a:t>and will run until it is pre-empted or has reached a blocking OS </a:t>
            </a:r>
            <a:r>
              <a:rPr lang="en-US" dirty="0"/>
              <a:t>call.</a:t>
            </a:r>
          </a:p>
          <a:p>
            <a:r>
              <a:rPr lang="en-US" dirty="0"/>
              <a:t>Round-Robin scheduling</a:t>
            </a:r>
          </a:p>
          <a:p>
            <a:pPr lvl="1"/>
            <a:r>
              <a:rPr lang="en-GB" dirty="0"/>
              <a:t>Each Thread has the </a:t>
            </a:r>
            <a:r>
              <a:rPr lang="en-GB" b="1" dirty="0"/>
              <a:t>same priority </a:t>
            </a:r>
            <a:r>
              <a:rPr lang="en-GB" dirty="0"/>
              <a:t>and will run for a fixed period, or time slice, or until it has reached a </a:t>
            </a:r>
            <a:r>
              <a:rPr lang="en-US" dirty="0"/>
              <a:t>blocking OS call.</a:t>
            </a:r>
          </a:p>
          <a:p>
            <a:pPr lvl="1"/>
            <a:r>
              <a:rPr lang="en-GB" dirty="0"/>
              <a:t>Quantum is determined by the </a:t>
            </a:r>
            <a:r>
              <a:rPr lang="en-GB" b="1" dirty="0" err="1"/>
              <a:t>rtx_config.h</a:t>
            </a:r>
            <a:r>
              <a:rPr lang="en-GB" b="1" dirty="0"/>
              <a:t> </a:t>
            </a:r>
            <a:r>
              <a:rPr lang="en-GB" dirty="0"/>
              <a:t>file: #define OS_ROBIN_TIMEOUT</a:t>
            </a:r>
            <a:r>
              <a:rPr lang="en-US" dirty="0"/>
              <a:t>× Timer tick value. For example, by default, the time quantum is 10000µs ×5 = 50000µs=50ms.</a:t>
            </a:r>
          </a:p>
          <a:p>
            <a:pPr lvl="1"/>
            <a:r>
              <a:rPr lang="en-GB" dirty="0"/>
              <a:t>If quantum expired, state will be changed to READY.</a:t>
            </a:r>
            <a:endParaRPr lang="en-US" dirty="0"/>
          </a:p>
          <a:p>
            <a:r>
              <a:rPr lang="en-US" dirty="0"/>
              <a:t>Co-operative multi-Threading</a:t>
            </a:r>
          </a:p>
          <a:p>
            <a:pPr lvl="1"/>
            <a:r>
              <a:rPr lang="en-GB" dirty="0"/>
              <a:t>Each Thread has the </a:t>
            </a:r>
            <a:r>
              <a:rPr lang="en-GB" b="1" dirty="0"/>
              <a:t>same priority </a:t>
            </a:r>
            <a:r>
              <a:rPr lang="en-GB" dirty="0"/>
              <a:t>and the Round-Robin is disabled. Each Thread will run until it reached a blocking OS call or uses the </a:t>
            </a:r>
            <a:r>
              <a:rPr lang="en-GB" i="1" dirty="0" err="1"/>
              <a:t>osDelay</a:t>
            </a:r>
            <a:r>
              <a:rPr lang="en-GB" i="1" dirty="0"/>
              <a:t>(); </a:t>
            </a:r>
            <a:r>
              <a:rPr lang="en-GB" dirty="0"/>
              <a:t>call.</a:t>
            </a:r>
          </a:p>
          <a:p>
            <a:pPr lvl="1"/>
            <a:endParaRPr lang="en-GB" dirty="0"/>
          </a:p>
          <a:p>
            <a:r>
              <a:rPr lang="en-US" dirty="0"/>
              <a:t>By default, CMSIS-RTOS2 with RTX5 uses prioritized preemptive scheduling with round-robin time-slicing among threads of equal priority.</a:t>
            </a:r>
          </a:p>
        </p:txBody>
      </p:sp>
    </p:spTree>
    <p:extLst>
      <p:ext uri="{BB962C8B-B14F-4D97-AF65-F5344CB8AC3E}">
        <p14:creationId xmlns:p14="http://schemas.microsoft.com/office/powerpoint/2010/main" val="92201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42805-E392-783C-AE06-583EE221E3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6BDB8EE-B589-F8A1-45E3-FC9FACB4691E}"/>
              </a:ext>
            </a:extLst>
          </p:cNvPr>
          <p:cNvSpPr>
            <a:spLocks noGrp="1"/>
          </p:cNvSpPr>
          <p:nvPr>
            <p:ph type="title"/>
          </p:nvPr>
        </p:nvSpPr>
        <p:spPr/>
        <p:txBody>
          <a:bodyPr>
            <a:normAutofit/>
          </a:bodyPr>
          <a:lstStyle/>
          <a:p>
            <a:r>
              <a:rPr lang="en-GB" dirty="0"/>
              <a:t>Simple Time Management APIs</a:t>
            </a:r>
            <a:endParaRPr lang="en-US" dirty="0"/>
          </a:p>
        </p:txBody>
      </p:sp>
      <p:sp>
        <p:nvSpPr>
          <p:cNvPr id="2" name="Content Placeholder 1">
            <a:extLst>
              <a:ext uri="{FF2B5EF4-FFF2-40B4-BE49-F238E27FC236}">
                <a16:creationId xmlns:a16="http://schemas.microsoft.com/office/drawing/2014/main" id="{81D5A604-400F-FA9E-96CF-20C8830A38A0}"/>
              </a:ext>
            </a:extLst>
          </p:cNvPr>
          <p:cNvSpPr>
            <a:spLocks noGrp="1"/>
          </p:cNvSpPr>
          <p:nvPr>
            <p:ph idx="1"/>
          </p:nvPr>
        </p:nvSpPr>
        <p:spPr>
          <a:xfrm>
            <a:off x="467580" y="877292"/>
            <a:ext cx="11153722" cy="5567470"/>
          </a:xfrm>
        </p:spPr>
        <p:txBody>
          <a:bodyPr/>
          <a:lstStyle/>
          <a:p>
            <a:endParaRPr lang="en-GB" dirty="0"/>
          </a:p>
          <a:p>
            <a:r>
              <a:rPr lang="en-GB" dirty="0"/>
              <a:t>Besides the scheduling options, CMSIS-RTOS2 can also manage time through the following APIs:</a:t>
            </a:r>
          </a:p>
          <a:p>
            <a:r>
              <a:rPr lang="en-GB" dirty="0"/>
              <a:t>Get current time</a:t>
            </a:r>
          </a:p>
          <a:p>
            <a:pPr lvl="1"/>
            <a:r>
              <a:rPr lang="en-US" i="1" dirty="0"/>
              <a:t>uint32_t now = </a:t>
            </a:r>
            <a:r>
              <a:rPr lang="en-US" i="1" dirty="0" err="1"/>
              <a:t>osKernelGetTickCount</a:t>
            </a:r>
            <a:r>
              <a:rPr lang="en-US" i="1" dirty="0"/>
              <a:t>();</a:t>
            </a:r>
          </a:p>
          <a:p>
            <a:pPr lvl="1"/>
            <a:r>
              <a:rPr lang="en-US" dirty="0"/>
              <a:t>Returns current OS time measured in ticks</a:t>
            </a:r>
            <a:endParaRPr lang="en-GB" dirty="0"/>
          </a:p>
          <a:p>
            <a:r>
              <a:rPr lang="en-GB" dirty="0"/>
              <a:t>Simple delay</a:t>
            </a:r>
          </a:p>
          <a:p>
            <a:pPr lvl="1"/>
            <a:r>
              <a:rPr lang="en-GB" i="1" dirty="0"/>
              <a:t>void </a:t>
            </a:r>
            <a:r>
              <a:rPr lang="en-GB" i="1" dirty="0" err="1"/>
              <a:t>os_dly_wait</a:t>
            </a:r>
            <a:r>
              <a:rPr lang="en-GB" i="1" dirty="0"/>
              <a:t> (unsigned short </a:t>
            </a:r>
            <a:r>
              <a:rPr lang="en-GB" i="1" dirty="0" err="1"/>
              <a:t>delay_time</a:t>
            </a:r>
            <a:r>
              <a:rPr lang="en-GB" i="1" dirty="0"/>
              <a:t>)</a:t>
            </a:r>
          </a:p>
          <a:p>
            <a:pPr lvl="1"/>
            <a:r>
              <a:rPr lang="en-GB" dirty="0"/>
              <a:t>Turn the state of calling Thread into </a:t>
            </a:r>
            <a:r>
              <a:rPr lang="en-US" dirty="0"/>
              <a:t>WAIT_DLY</a:t>
            </a:r>
          </a:p>
          <a:p>
            <a:pPr lvl="1"/>
            <a:r>
              <a:rPr lang="en-GB" dirty="0"/>
              <a:t>Actual delay time = </a:t>
            </a:r>
            <a:r>
              <a:rPr lang="en-GB" i="1" dirty="0" err="1"/>
              <a:t>delay_time</a:t>
            </a:r>
            <a:r>
              <a:rPr lang="en-GB" dirty="0"/>
              <a:t> </a:t>
            </a:r>
            <a:r>
              <a:rPr lang="en-US" dirty="0"/>
              <a:t>× timer tick value</a:t>
            </a:r>
          </a:p>
          <a:p>
            <a:pPr lvl="1"/>
            <a:r>
              <a:rPr lang="en-GB" dirty="0"/>
              <a:t>After the delay time, turn the state of the Thread back to READY</a:t>
            </a:r>
          </a:p>
          <a:p>
            <a:pPr lvl="1"/>
            <a:r>
              <a:rPr lang="en-GB" dirty="0"/>
              <a:t>Make sure you have the correct timer clock value</a:t>
            </a:r>
          </a:p>
          <a:p>
            <a:r>
              <a:rPr lang="en-GB" dirty="0"/>
              <a:t>Periodic Thread execution</a:t>
            </a:r>
          </a:p>
          <a:p>
            <a:pPr lvl="1"/>
            <a:r>
              <a:rPr lang="en-GB" dirty="0"/>
              <a:t>Set the interval within the Thread by calling</a:t>
            </a:r>
            <a:r>
              <a:rPr lang="en-GB" i="1" dirty="0"/>
              <a:t> void </a:t>
            </a:r>
            <a:r>
              <a:rPr lang="en-GB" i="1" dirty="0" err="1"/>
              <a:t>os_itv_set</a:t>
            </a:r>
            <a:r>
              <a:rPr lang="en-GB" i="1" dirty="0"/>
              <a:t> (unsigned short </a:t>
            </a:r>
            <a:r>
              <a:rPr lang="en-GB" i="1" dirty="0" err="1"/>
              <a:t>interval_time</a:t>
            </a:r>
            <a:r>
              <a:rPr lang="en-GB" i="1" dirty="0"/>
              <a:t>) </a:t>
            </a:r>
            <a:r>
              <a:rPr lang="en-GB" dirty="0"/>
              <a:t>first</a:t>
            </a:r>
          </a:p>
          <a:p>
            <a:pPr lvl="1"/>
            <a:r>
              <a:rPr lang="en-GB" dirty="0"/>
              <a:t>Actual delay time = </a:t>
            </a:r>
            <a:r>
              <a:rPr lang="en-GB" i="1" dirty="0" err="1"/>
              <a:t>interval_time</a:t>
            </a:r>
            <a:r>
              <a:rPr lang="en-GB" dirty="0"/>
              <a:t> </a:t>
            </a:r>
            <a:r>
              <a:rPr lang="en-US" dirty="0"/>
              <a:t>× timer tick value</a:t>
            </a:r>
            <a:endParaRPr lang="en-GB" dirty="0"/>
          </a:p>
          <a:p>
            <a:pPr lvl="1"/>
            <a:r>
              <a:rPr lang="en-GB" dirty="0"/>
              <a:t>Then change the to </a:t>
            </a:r>
            <a:r>
              <a:rPr lang="en-US" dirty="0"/>
              <a:t>WAIT_ITV by calling </a:t>
            </a:r>
            <a:r>
              <a:rPr lang="en-US" i="1" dirty="0"/>
              <a:t>void </a:t>
            </a:r>
            <a:r>
              <a:rPr lang="en-US" i="1" dirty="0" err="1"/>
              <a:t>os_itv_wait</a:t>
            </a:r>
            <a:r>
              <a:rPr lang="en-US" i="1" dirty="0"/>
              <a:t> (void) </a:t>
            </a:r>
            <a:r>
              <a:rPr lang="en-US" dirty="0"/>
              <a:t>inside the Thread</a:t>
            </a:r>
            <a:endParaRPr lang="en-GB" i="1" dirty="0"/>
          </a:p>
          <a:p>
            <a:pPr lvl="1"/>
            <a:endParaRPr lang="en-US" dirty="0"/>
          </a:p>
        </p:txBody>
      </p:sp>
    </p:spTree>
    <p:extLst>
      <p:ext uri="{BB962C8B-B14F-4D97-AF65-F5344CB8AC3E}">
        <p14:creationId xmlns:p14="http://schemas.microsoft.com/office/powerpoint/2010/main" val="444938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F6787-C87E-A918-010E-C431544559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9578B59-128A-5418-4B99-8A885858100F}"/>
              </a:ext>
            </a:extLst>
          </p:cNvPr>
          <p:cNvSpPr>
            <a:spLocks noGrp="1"/>
          </p:cNvSpPr>
          <p:nvPr>
            <p:ph type="title"/>
          </p:nvPr>
        </p:nvSpPr>
        <p:spPr/>
        <p:txBody>
          <a:bodyPr>
            <a:normAutofit/>
          </a:bodyPr>
          <a:lstStyle/>
          <a:p>
            <a:r>
              <a:rPr lang="en-GB" dirty="0"/>
              <a:t>Simple Time Management APIs</a:t>
            </a:r>
            <a:endParaRPr lang="en-US" dirty="0"/>
          </a:p>
        </p:txBody>
      </p:sp>
      <p:sp>
        <p:nvSpPr>
          <p:cNvPr id="2" name="Content Placeholder 1">
            <a:extLst>
              <a:ext uri="{FF2B5EF4-FFF2-40B4-BE49-F238E27FC236}">
                <a16:creationId xmlns:a16="http://schemas.microsoft.com/office/drawing/2014/main" id="{688F7E46-EB2D-7699-922B-569868336C51}"/>
              </a:ext>
            </a:extLst>
          </p:cNvPr>
          <p:cNvSpPr>
            <a:spLocks noGrp="1"/>
          </p:cNvSpPr>
          <p:nvPr>
            <p:ph idx="1"/>
          </p:nvPr>
        </p:nvSpPr>
        <p:spPr>
          <a:xfrm>
            <a:off x="465550" y="1079516"/>
            <a:ext cx="11155753" cy="4680000"/>
          </a:xfrm>
        </p:spPr>
        <p:txBody>
          <a:bodyPr/>
          <a:lstStyle/>
          <a:p>
            <a:endParaRPr lang="en-GB" dirty="0"/>
          </a:p>
          <a:p>
            <a:r>
              <a:rPr lang="en-GB" dirty="0"/>
              <a:t>Cooperate function</a:t>
            </a:r>
          </a:p>
          <a:p>
            <a:pPr lvl="1"/>
            <a:r>
              <a:rPr lang="en-US" i="1" dirty="0" err="1"/>
              <a:t>osThreadYield</a:t>
            </a:r>
            <a:r>
              <a:rPr lang="en-US" i="1" dirty="0"/>
              <a:t>();</a:t>
            </a:r>
          </a:p>
          <a:p>
            <a:pPr lvl="1"/>
            <a:r>
              <a:rPr lang="en-GB" dirty="0"/>
              <a:t>Thread calling this function will voluntarily give up its current possession of CPU and allow next ready Thread with same priority to run.</a:t>
            </a:r>
          </a:p>
          <a:p>
            <a:pPr lvl="1"/>
            <a:r>
              <a:rPr lang="en-GB" dirty="0"/>
              <a:t>No Thread switch if the next ready Thread has a lower priority than the calling Thread.</a:t>
            </a:r>
          </a:p>
          <a:p>
            <a:pPr lvl="1"/>
            <a:endParaRPr lang="en-GB" dirty="0"/>
          </a:p>
          <a:p>
            <a:r>
              <a:rPr lang="en-GB" dirty="0"/>
              <a:t>Timer functions</a:t>
            </a:r>
          </a:p>
          <a:p>
            <a:pPr lvl="1"/>
            <a:r>
              <a:rPr lang="en-US" dirty="0"/>
              <a:t>CMSIS-RTOS2 supports software timers for delayed or periodic execution</a:t>
            </a:r>
            <a:endParaRPr lang="en-GB" dirty="0"/>
          </a:p>
          <a:p>
            <a:pPr lvl="1"/>
            <a:r>
              <a:rPr lang="en-GB" i="1" dirty="0"/>
              <a:t>Create a timer with:</a:t>
            </a:r>
          </a:p>
          <a:p>
            <a:pPr lvl="1"/>
            <a:r>
              <a:rPr lang="en-US" dirty="0" err="1"/>
              <a:t>osTimerId_t</a:t>
            </a:r>
            <a:r>
              <a:rPr lang="en-US" dirty="0"/>
              <a:t> </a:t>
            </a:r>
            <a:r>
              <a:rPr lang="en-US" dirty="0" err="1"/>
              <a:t>timer_id</a:t>
            </a:r>
            <a:r>
              <a:rPr lang="en-US" dirty="0"/>
              <a:t>;</a:t>
            </a:r>
          </a:p>
          <a:p>
            <a:pPr lvl="1"/>
            <a:r>
              <a:rPr lang="en-US" dirty="0" err="1"/>
              <a:t>timer_id</a:t>
            </a:r>
            <a:r>
              <a:rPr lang="en-US" dirty="0"/>
              <a:t> = </a:t>
            </a:r>
            <a:r>
              <a:rPr lang="en-US" dirty="0" err="1"/>
              <a:t>osTimerNew</a:t>
            </a:r>
            <a:r>
              <a:rPr lang="en-US" dirty="0"/>
              <a:t>(</a:t>
            </a:r>
            <a:r>
              <a:rPr lang="en-US" dirty="0" err="1"/>
              <a:t>callback_fn</a:t>
            </a:r>
            <a:r>
              <a:rPr lang="en-US" dirty="0"/>
              <a:t>, </a:t>
            </a:r>
            <a:r>
              <a:rPr lang="en-US" dirty="0" err="1"/>
              <a:t>osTimerOnce</a:t>
            </a:r>
            <a:r>
              <a:rPr lang="en-US" dirty="0"/>
              <a:t>, argument, NULL);</a:t>
            </a:r>
          </a:p>
          <a:p>
            <a:pPr lvl="1"/>
            <a:r>
              <a:rPr lang="en-GB" dirty="0"/>
              <a:t>Start the timer:</a:t>
            </a:r>
          </a:p>
          <a:p>
            <a:pPr lvl="1"/>
            <a:r>
              <a:rPr lang="en-US" dirty="0" err="1"/>
              <a:t>osTimerStart</a:t>
            </a:r>
            <a:r>
              <a:rPr lang="en-US" dirty="0"/>
              <a:t>(</a:t>
            </a:r>
            <a:r>
              <a:rPr lang="en-US" dirty="0" err="1"/>
              <a:t>timer_id</a:t>
            </a:r>
            <a:r>
              <a:rPr lang="en-US" dirty="0"/>
              <a:t>, </a:t>
            </a:r>
            <a:r>
              <a:rPr lang="en-US" dirty="0" err="1"/>
              <a:t>delay_ticks</a:t>
            </a:r>
            <a:r>
              <a:rPr lang="en-US" dirty="0"/>
              <a:t>);</a:t>
            </a:r>
          </a:p>
          <a:p>
            <a:pPr lvl="1"/>
            <a:endParaRPr lang="en-US" dirty="0"/>
          </a:p>
          <a:p>
            <a:pPr lvl="1"/>
            <a:endParaRPr lang="en-GB" i="1" dirty="0"/>
          </a:p>
          <a:p>
            <a:pPr lvl="1"/>
            <a:endParaRPr lang="en-GB" dirty="0"/>
          </a:p>
          <a:p>
            <a:endParaRPr lang="en-GB" dirty="0"/>
          </a:p>
          <a:p>
            <a:pPr lvl="1"/>
            <a:endParaRPr lang="en-GB" dirty="0"/>
          </a:p>
          <a:p>
            <a:endParaRPr lang="en-US" dirty="0"/>
          </a:p>
        </p:txBody>
      </p:sp>
    </p:spTree>
    <p:extLst>
      <p:ext uri="{BB962C8B-B14F-4D97-AF65-F5344CB8AC3E}">
        <p14:creationId xmlns:p14="http://schemas.microsoft.com/office/powerpoint/2010/main" val="1798268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2DAA3-B16A-3032-3630-21E45779A37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C08D80-5C7D-FC7B-BA27-8C36E451B7F2}"/>
              </a:ext>
            </a:extLst>
          </p:cNvPr>
          <p:cNvSpPr>
            <a:spLocks noGrp="1"/>
          </p:cNvSpPr>
          <p:nvPr>
            <p:ph type="title"/>
          </p:nvPr>
        </p:nvSpPr>
        <p:spPr/>
        <p:txBody>
          <a:bodyPr>
            <a:normAutofit/>
          </a:bodyPr>
          <a:lstStyle/>
          <a:p>
            <a:r>
              <a:rPr lang="en-GB" dirty="0"/>
              <a:t>Other Control Functions in CMSIS-RTOS2</a:t>
            </a:r>
            <a:endParaRPr lang="en-US" dirty="0"/>
          </a:p>
        </p:txBody>
      </p:sp>
      <p:sp>
        <p:nvSpPr>
          <p:cNvPr id="4" name="Content Placeholder 2">
            <a:extLst>
              <a:ext uri="{FF2B5EF4-FFF2-40B4-BE49-F238E27FC236}">
                <a16:creationId xmlns:a16="http://schemas.microsoft.com/office/drawing/2014/main" id="{24D2E7D2-ABBB-2F04-3514-C17BF0A2DD11}"/>
              </a:ext>
            </a:extLst>
          </p:cNvPr>
          <p:cNvSpPr txBox="1">
            <a:spLocks/>
          </p:cNvSpPr>
          <p:nvPr/>
        </p:nvSpPr>
        <p:spPr>
          <a:xfrm>
            <a:off x="419590" y="810604"/>
            <a:ext cx="10792191" cy="5572611"/>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a:buFont typeface="Arial" panose="020B0604020202020204" pitchFamily="34" charset="0"/>
              <a:buChar char="•"/>
            </a:pPr>
            <a:r>
              <a:rPr lang="en-US" dirty="0">
                <a:latin typeface="+mn-lt"/>
              </a:rPr>
              <a:t>Scheduler lock – stops Thread switching, though ISRs can still execute</a:t>
            </a:r>
          </a:p>
          <a:p>
            <a:pPr lvl="1">
              <a:buFont typeface="Arial" panose="020B0604020202020204" pitchFamily="34" charset="0"/>
              <a:buChar char="•"/>
            </a:pPr>
            <a:r>
              <a:rPr lang="en-GB" dirty="0">
                <a:latin typeface="+mn-lt"/>
              </a:rPr>
              <a:t>If you want your code to run as a contiguous block, (critical section for example), it is a good idea to temporally stop the scheduler.</a:t>
            </a:r>
            <a:endParaRPr lang="en-US" dirty="0">
              <a:latin typeface="+mn-lt"/>
            </a:endParaRPr>
          </a:p>
          <a:p>
            <a:pPr lvl="1">
              <a:buFont typeface="Arial" panose="020B0604020202020204" pitchFamily="34" charset="0"/>
              <a:buChar char="•"/>
            </a:pPr>
            <a:r>
              <a:rPr lang="en-US" i="1" dirty="0" err="1">
                <a:latin typeface="+mn-lt"/>
              </a:rPr>
              <a:t>osKernelLock</a:t>
            </a:r>
            <a:r>
              <a:rPr lang="en-US" i="1" dirty="0">
                <a:latin typeface="+mn-lt"/>
              </a:rPr>
              <a:t>();</a:t>
            </a:r>
          </a:p>
          <a:p>
            <a:pPr lvl="5">
              <a:buFont typeface="Arial" panose="020B0604020202020204" pitchFamily="34" charset="0"/>
              <a:buChar char="•"/>
            </a:pPr>
            <a:r>
              <a:rPr lang="en-US" dirty="0"/>
              <a:t>Disables kernel timer interrupts, stopping Thread switching</a:t>
            </a:r>
          </a:p>
          <a:p>
            <a:pPr lvl="1">
              <a:buFont typeface="Arial" panose="020B0604020202020204" pitchFamily="34" charset="0"/>
              <a:buChar char="•"/>
            </a:pPr>
            <a:r>
              <a:rPr lang="en-US" i="1" dirty="0" err="1">
                <a:latin typeface="+mn-lt"/>
              </a:rPr>
              <a:t>osKernelUnlock</a:t>
            </a:r>
            <a:r>
              <a:rPr lang="en-US" i="1" dirty="0">
                <a:latin typeface="+mn-lt"/>
              </a:rPr>
              <a:t>();</a:t>
            </a:r>
          </a:p>
          <a:p>
            <a:pPr lvl="5">
              <a:buFont typeface="Arial" panose="020B0604020202020204" pitchFamily="34" charset="0"/>
              <a:buChar char="•"/>
            </a:pPr>
            <a:r>
              <a:rPr lang="en-US" dirty="0"/>
              <a:t>Enables kernel timer interrupts, allowing Thread switching</a:t>
            </a:r>
          </a:p>
          <a:p>
            <a:pPr>
              <a:buFont typeface="Arial" panose="020B0604020202020204" pitchFamily="34" charset="0"/>
              <a:buChar char="•"/>
            </a:pPr>
            <a:r>
              <a:rPr lang="en-US" dirty="0">
                <a:latin typeface="+mn-lt"/>
              </a:rPr>
              <a:t>Power management </a:t>
            </a:r>
          </a:p>
          <a:p>
            <a:pPr lvl="1">
              <a:buFont typeface="Arial" panose="020B0604020202020204" pitchFamily="34" charset="0"/>
              <a:buChar char="•"/>
            </a:pPr>
            <a:r>
              <a:rPr lang="en-US" dirty="0">
                <a:latin typeface="+mn-lt"/>
              </a:rPr>
              <a:t>Use </a:t>
            </a:r>
            <a:r>
              <a:rPr lang="en-US" dirty="0" err="1">
                <a:latin typeface="+mn-lt"/>
              </a:rPr>
              <a:t>osKernelSuspend</a:t>
            </a:r>
            <a:r>
              <a:rPr lang="en-US" dirty="0">
                <a:latin typeface="+mn-lt"/>
              </a:rPr>
              <a:t>() and </a:t>
            </a:r>
            <a:r>
              <a:rPr lang="en-US" dirty="0" err="1">
                <a:latin typeface="+mn-lt"/>
              </a:rPr>
              <a:t>osKernelResume</a:t>
            </a:r>
            <a:r>
              <a:rPr lang="en-US" dirty="0">
                <a:latin typeface="+mn-lt"/>
              </a:rPr>
              <a:t>() in Idle Thread for low-power operation:</a:t>
            </a:r>
          </a:p>
          <a:p>
            <a:pPr lvl="1">
              <a:buFont typeface="Arial" panose="020B0604020202020204" pitchFamily="34" charset="0"/>
              <a:buChar char="•"/>
            </a:pPr>
            <a:r>
              <a:rPr lang="en-US" i="1" dirty="0">
                <a:latin typeface="+mn-lt"/>
              </a:rPr>
              <a:t>uint32_t ticks = </a:t>
            </a:r>
            <a:r>
              <a:rPr lang="en-US" i="1" dirty="0" err="1">
                <a:latin typeface="+mn-lt"/>
              </a:rPr>
              <a:t>osKernelSuspend</a:t>
            </a:r>
            <a:r>
              <a:rPr lang="en-US" i="1" dirty="0">
                <a:latin typeface="+mn-lt"/>
              </a:rPr>
              <a:t>();</a:t>
            </a:r>
          </a:p>
          <a:p>
            <a:pPr lvl="5">
              <a:buFont typeface="Arial" panose="020B0604020202020204" pitchFamily="34" charset="0"/>
              <a:buChar char="•"/>
            </a:pPr>
            <a:r>
              <a:rPr lang="en-US" dirty="0"/>
              <a:t>Calculates for how many ticks the system can sleep </a:t>
            </a:r>
          </a:p>
          <a:p>
            <a:pPr lvl="5">
              <a:buFont typeface="Arial" panose="020B0604020202020204" pitchFamily="34" charset="0"/>
              <a:buChar char="•"/>
            </a:pPr>
            <a:r>
              <a:rPr lang="en-US" dirty="0"/>
              <a:t>Locks Thread scheduler</a:t>
            </a:r>
          </a:p>
          <a:p>
            <a:pPr lvl="5">
              <a:buFont typeface="Arial" panose="020B0604020202020204" pitchFamily="34" charset="0"/>
              <a:buChar char="•"/>
            </a:pPr>
            <a:r>
              <a:rPr lang="en-US" dirty="0"/>
              <a:t>Use this in </a:t>
            </a:r>
            <a:r>
              <a:rPr lang="en-US" dirty="0" err="1"/>
              <a:t>idle_Thread</a:t>
            </a:r>
            <a:r>
              <a:rPr lang="en-US" dirty="0"/>
              <a:t> to determine when to set wake-up timer before sleeping (</a:t>
            </a:r>
            <a:r>
              <a:rPr lang="en-US" dirty="0" err="1"/>
              <a:t>wfi</a:t>
            </a:r>
            <a:r>
              <a:rPr lang="en-US" dirty="0"/>
              <a:t> instruction)</a:t>
            </a:r>
          </a:p>
          <a:p>
            <a:pPr lvl="1">
              <a:buFont typeface="Arial" panose="020B0604020202020204" pitchFamily="34" charset="0"/>
              <a:buChar char="•"/>
            </a:pPr>
            <a:r>
              <a:rPr lang="en-US" i="1" dirty="0" err="1">
                <a:latin typeface="+mn-lt"/>
              </a:rPr>
              <a:t>osKernelResume</a:t>
            </a:r>
            <a:r>
              <a:rPr lang="en-US" i="1" dirty="0">
                <a:latin typeface="+mn-lt"/>
              </a:rPr>
              <a:t>(ticks);</a:t>
            </a:r>
          </a:p>
          <a:p>
            <a:pPr lvl="5">
              <a:buFont typeface="Arial" panose="020B0604020202020204" pitchFamily="34" charset="0"/>
              <a:buChar char="•"/>
            </a:pPr>
            <a:r>
              <a:rPr lang="en-US" dirty="0"/>
              <a:t>Updates system timer with sleep duration (number of ticks) </a:t>
            </a:r>
          </a:p>
          <a:p>
            <a:pPr lvl="5">
              <a:buFont typeface="Arial" panose="020B0604020202020204" pitchFamily="34" charset="0"/>
              <a:buChar char="•"/>
            </a:pPr>
            <a:r>
              <a:rPr lang="en-US" dirty="0"/>
              <a:t>Unlocks Thread scheduler, allowing normal scheduling</a:t>
            </a:r>
          </a:p>
          <a:p>
            <a:pPr lvl="5">
              <a:buFont typeface="Arial" panose="020B0604020202020204" pitchFamily="34" charset="0"/>
              <a:buChar char="•"/>
            </a:pPr>
            <a:r>
              <a:rPr lang="en-US" dirty="0"/>
              <a:t>Use this in </a:t>
            </a:r>
            <a:r>
              <a:rPr lang="en-US" dirty="0" err="1"/>
              <a:t>idle_Thread</a:t>
            </a:r>
            <a:r>
              <a:rPr lang="en-US" dirty="0"/>
              <a:t> to resume</a:t>
            </a:r>
          </a:p>
        </p:txBody>
      </p:sp>
    </p:spTree>
    <p:extLst>
      <p:ext uri="{BB962C8B-B14F-4D97-AF65-F5344CB8AC3E}">
        <p14:creationId xmlns:p14="http://schemas.microsoft.com/office/powerpoint/2010/main" val="230188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Next</a:t>
            </a:r>
            <a:endParaRPr lang="en-US" dirty="0"/>
          </a:p>
        </p:txBody>
      </p:sp>
      <p:sp>
        <p:nvSpPr>
          <p:cNvPr id="2" name="Content Placeholder 1"/>
          <p:cNvSpPr>
            <a:spLocks noGrp="1"/>
          </p:cNvSpPr>
          <p:nvPr>
            <p:ph idx="1"/>
          </p:nvPr>
        </p:nvSpPr>
        <p:spPr/>
        <p:txBody>
          <a:bodyPr/>
          <a:lstStyle/>
          <a:p>
            <a:endParaRPr lang="en-GB" dirty="0"/>
          </a:p>
          <a:p>
            <a:r>
              <a:rPr lang="en-GB" dirty="0"/>
              <a:t>Lab</a:t>
            </a:r>
          </a:p>
          <a:p>
            <a:r>
              <a:rPr lang="en-GB" dirty="0"/>
              <a:t>Sharing data in CMSIS-RTOS2</a:t>
            </a:r>
            <a:endParaRPr lang="en-US" dirty="0"/>
          </a:p>
        </p:txBody>
      </p:sp>
    </p:spTree>
    <p:extLst>
      <p:ext uri="{BB962C8B-B14F-4D97-AF65-F5344CB8AC3E}">
        <p14:creationId xmlns:p14="http://schemas.microsoft.com/office/powerpoint/2010/main" val="575114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customXsn xmlns="http://schemas.microsoft.com/office/2006/metadata/customXsn">
  <xsnLocation/>
  <cached>True</cached>
  <openByDefault>True</openByDefault>
  <xsnScope/>
</customXs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4.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2.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3.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4.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1E7F2E56-8924-419D-99E9-79DB71144EB2}">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Arm_Public_2026</Template>
  <TotalTime>7</TotalTime>
  <Words>4163</Words>
  <Application>Microsoft Office PowerPoint</Application>
  <PresentationFormat>Widescreen</PresentationFormat>
  <Paragraphs>459</Paragraphs>
  <Slides>27</Slides>
  <Notes>25</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36" baseType="lpstr">
      <vt:lpstr>Arial</vt:lpstr>
      <vt:lpstr>Calibri</vt:lpstr>
      <vt:lpstr>Courier New</vt:lpstr>
      <vt:lpstr>Symbol</vt:lpstr>
      <vt:lpstr>Times New Roman</vt:lpstr>
      <vt:lpstr>Wingdings</vt:lpstr>
      <vt:lpstr>Arm_Public_2026_Lightmode</vt:lpstr>
      <vt:lpstr>Arm_Public_2026_Darkmode</vt:lpstr>
      <vt:lpstr>Equation</vt:lpstr>
      <vt:lpstr>CMSIS-RTOS2 Thread and Time Management</vt:lpstr>
      <vt:lpstr>Content of this Module</vt:lpstr>
      <vt:lpstr>Threads in CMSIS-RTOS2</vt:lpstr>
      <vt:lpstr>Thread States</vt:lpstr>
      <vt:lpstr>Thread Creation and Deletion</vt:lpstr>
      <vt:lpstr>Thread Creation and Deletion</vt:lpstr>
      <vt:lpstr>Advanced Real-time Scheduling</vt:lpstr>
      <vt:lpstr>Periodic Thread Model</vt:lpstr>
      <vt:lpstr>Periodic Scheduling</vt:lpstr>
      <vt:lpstr>Earliest Deadline First</vt:lpstr>
      <vt:lpstr>Rate Monotonic</vt:lpstr>
      <vt:lpstr>System Performance During Transient Overload</vt:lpstr>
      <vt:lpstr>Our Assumptions</vt:lpstr>
      <vt:lpstr>Prioritized Scheduling</vt:lpstr>
      <vt:lpstr>Preemptive Critical Section</vt:lpstr>
      <vt:lpstr>Non-Preemptive Critical Section</vt:lpstr>
      <vt:lpstr>Priority Inheritance</vt:lpstr>
      <vt:lpstr>Priority Inheritance</vt:lpstr>
      <vt:lpstr>Deadlock Caused by Priority Inheritance</vt:lpstr>
      <vt:lpstr>Priority Ceiling</vt:lpstr>
      <vt:lpstr>Thread Priority Scheme in CMSIS-RTOS2</vt:lpstr>
      <vt:lpstr>Scheduling Options in CMSIS-RTOS2</vt:lpstr>
      <vt:lpstr>Simple Time Management APIs</vt:lpstr>
      <vt:lpstr>Simple Time Management APIs</vt:lpstr>
      <vt:lpstr>Other Control Functions in CMSIS-RTOS2</vt:lpstr>
      <vt:lpstr>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2026-08-06T09:53:52Z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